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62b8210e5464f" /><Relationship Type="http://schemas.openxmlformats.org/officeDocument/2006/relationships/extended-properties" Target="/docProps/app.xml" Id="R690e47bc2f734a49" /><Relationship Type="http://schemas.openxmlformats.org/officeDocument/2006/relationships/officeDocument" Target="/ppt/presentation.xml" Id="R0688d00cb18c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9f21e236954329"/>
  </p:sldMasterIdLst>
  <p:notesMasterIdLst>
    <p:notesMasterId xmlns:r="http://schemas.openxmlformats.org/officeDocument/2006/relationships" r:id="R8564bd9dcf944e05"/>
  </p:notesMasterIdLst>
  <p:sldIdLst>
    <p:sldId xmlns:r="http://schemas.openxmlformats.org/officeDocument/2006/relationships" id="256" r:id="R1560c3c6afb24e01"/>
    <p:sldId xmlns:r="http://schemas.openxmlformats.org/officeDocument/2006/relationships" id="257" r:id="R6e571e63b579433f"/>
    <p:sldId xmlns:r="http://schemas.openxmlformats.org/officeDocument/2006/relationships" id="258" r:id="R0bc9c8eb7b75493c"/>
    <p:sldId xmlns:r="http://schemas.openxmlformats.org/officeDocument/2006/relationships" id="259" r:id="R5599035281374922"/>
    <p:sldId xmlns:r="http://schemas.openxmlformats.org/officeDocument/2006/relationships" id="260" r:id="Rde903479168c473d"/>
    <p:sldId xmlns:r="http://schemas.openxmlformats.org/officeDocument/2006/relationships" id="261" r:id="R769c1308ca094b23"/>
    <p:sldId xmlns:r="http://schemas.openxmlformats.org/officeDocument/2006/relationships" id="262" r:id="R2cbb0274a75d47a3"/>
    <p:sldId xmlns:r="http://schemas.openxmlformats.org/officeDocument/2006/relationships" id="263" r:id="R6b46f2bc12314f2f"/>
    <p:sldId xmlns:r="http://schemas.openxmlformats.org/officeDocument/2006/relationships" id="264" r:id="R1826edbc8ff24592"/>
    <p:sldId xmlns:r="http://schemas.openxmlformats.org/officeDocument/2006/relationships" id="265" r:id="R234028da318a406b"/>
    <p:sldId xmlns:r="http://schemas.openxmlformats.org/officeDocument/2006/relationships" id="266" r:id="Re0c3d068dbe74bc3"/>
    <p:sldId xmlns:r="http://schemas.openxmlformats.org/officeDocument/2006/relationships" id="267" r:id="R23b0a549eacd43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1250fea4e6412e" /><Relationship Type="http://schemas.openxmlformats.org/officeDocument/2006/relationships/slideMaster" Target="/ppt/slideMasters/slideMaster1.xml" Id="Rf29f21e236954329" /><Relationship Type="http://schemas.openxmlformats.org/officeDocument/2006/relationships/notesMaster" Target="/ppt/notesMasters/notesMaster1.xml" Id="R8564bd9dcf944e05" /><Relationship Type="http://schemas.openxmlformats.org/officeDocument/2006/relationships/presProps" Target="/ppt/presProps.xml" Id="Rcb74de8ac1924d51" /><Relationship Type="http://schemas.openxmlformats.org/officeDocument/2006/relationships/tableStyles" Target="/ppt/tableStyles.xml" Id="R988a56db7cac4de5" /><Relationship Type="http://schemas.openxmlformats.org/officeDocument/2006/relationships/slide" Target="/ppt/slides/slide1.xml" Id="R1560c3c6afb24e01" /><Relationship Type="http://schemas.openxmlformats.org/officeDocument/2006/relationships/slide" Target="/ppt/slides/slide2.xml" Id="R6e571e63b579433f" /><Relationship Type="http://schemas.openxmlformats.org/officeDocument/2006/relationships/slide" Target="/ppt/slides/slide3.xml" Id="R0bc9c8eb7b75493c" /><Relationship Type="http://schemas.openxmlformats.org/officeDocument/2006/relationships/slide" Target="/ppt/slides/slide4.xml" Id="R5599035281374922" /><Relationship Type="http://schemas.openxmlformats.org/officeDocument/2006/relationships/slide" Target="/ppt/slides/slide5.xml" Id="Rde903479168c473d" /><Relationship Type="http://schemas.openxmlformats.org/officeDocument/2006/relationships/slide" Target="/ppt/slides/slide6.xml" Id="R769c1308ca094b23" /><Relationship Type="http://schemas.openxmlformats.org/officeDocument/2006/relationships/slide" Target="/ppt/slides/slide7.xml" Id="R2cbb0274a75d47a3" /><Relationship Type="http://schemas.openxmlformats.org/officeDocument/2006/relationships/slide" Target="/ppt/slides/slide8.xml" Id="R6b46f2bc12314f2f" /><Relationship Type="http://schemas.openxmlformats.org/officeDocument/2006/relationships/slide" Target="/ppt/slides/slide9.xml" Id="R1826edbc8ff24592" /><Relationship Type="http://schemas.openxmlformats.org/officeDocument/2006/relationships/slide" Target="/ppt/slides/slide10.xml" Id="R234028da318a406b" /><Relationship Type="http://schemas.openxmlformats.org/officeDocument/2006/relationships/slide" Target="/ppt/slides/slide11.xml" Id="Re0c3d068dbe74bc3" /><Relationship Type="http://schemas.openxmlformats.org/officeDocument/2006/relationships/slide" Target="/ppt/slides/slide12.xml" Id="R23b0a549eacd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d9eeaf739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29cee7097f4099" /><Relationship Type="http://schemas.openxmlformats.org/officeDocument/2006/relationships/notesMaster" Target="/ppt/notesMasters/notesMaster1.xml" Id="Rc377b95cdafb41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bf5ad249494baf" /><Relationship Type="http://schemas.openxmlformats.org/officeDocument/2006/relationships/notesMaster" Target="/ppt/notesMasters/notesMaster1.xml" Id="R68746f9237f144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9188c99f284755" /><Relationship Type="http://schemas.openxmlformats.org/officeDocument/2006/relationships/notesMaster" Target="/ppt/notesMasters/notesMaster1.xml" Id="R7a9a2aa5916044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ce8e42ca144797" /><Relationship Type="http://schemas.openxmlformats.org/officeDocument/2006/relationships/notesMaster" Target="/ppt/notesMasters/notesMaster1.xml" Id="R721ca33553d049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57285f6e01497c" /><Relationship Type="http://schemas.openxmlformats.org/officeDocument/2006/relationships/notesMaster" Target="/ppt/notesMasters/notesMaster1.xml" Id="R8b77335f79da41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d688fb562e436e" /><Relationship Type="http://schemas.openxmlformats.org/officeDocument/2006/relationships/notesMaster" Target="/ppt/notesMasters/notesMaster1.xml" Id="R7c3029eff36b44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bdbca10ce1410f" /><Relationship Type="http://schemas.openxmlformats.org/officeDocument/2006/relationships/notesMaster" Target="/ppt/notesMasters/notesMaster1.xml" Id="Rb1d415599eaf48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4cfc32d9fb4349" /><Relationship Type="http://schemas.openxmlformats.org/officeDocument/2006/relationships/notesMaster" Target="/ppt/notesMasters/notesMaster1.xml" Id="Re5d81cac8d0b42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031b20e5014d77" /><Relationship Type="http://schemas.openxmlformats.org/officeDocument/2006/relationships/notesMaster" Target="/ppt/notesMasters/notesMaster1.xml" Id="R394f6d740a3841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388a406c54a70" /><Relationship Type="http://schemas.openxmlformats.org/officeDocument/2006/relationships/notesMaster" Target="/ppt/notesMasters/notesMaster1.xml" Id="R608e9c24fce842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60c987203e4fe0" /><Relationship Type="http://schemas.openxmlformats.org/officeDocument/2006/relationships/notesMaster" Target="/ppt/notesMasters/notesMaster1.xml" Id="R92203f836f684f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7b47a35e27452b" /><Relationship Type="http://schemas.openxmlformats.org/officeDocument/2006/relationships/notesMaster" Target="/ppt/notesMasters/notesMaster1.xml" Id="Rdd3e7f0d8671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Ürün adının geçici olduğunu ve tüm demo verisinin sentetik olduğunu açıkça söyle. Isıtma kontrolü veya kanıtlanmış tasarruf iddiası yok.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problem henüz müşteri araştırmasıyla doğrulanmadı. Sahte müşteri sözü veya pazar büyüklüğü verme.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20–100 aralığı pazar verisi değil segment varsayımı. İlk pilot yalnızca 5–10 binayı kapsayacak. Roller gerçek ekip üyeleri değildir.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Ardışık akışı anlat. Yeni sensör veya otomatik ısıtma kontrolü zorunlu değil. Gerçek hava kaynağının pilotta doğrulanması gerekiyor.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çalışan yerel uygulamadan reports/screenshots/07-portfolio-pitch.png. Sayılar reports/demo-statistics.json ile aynı motorun çıktısı. Sentetik sonuçlar müşteri başarısı değildir.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çalışan uygulamadan 08-building-pitch.png. Yöntem docs/methodology.md. Sayaç değişimi, kullanım ve sıcak su karıştırıcıdır. İstatistiksel güven yüzdesi veya arıza olasılığı sunulmaz.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Resmi kaynaklar 15 Ekim 2026 okundu: kiona.com/products/energinet; egsoftware.com/global/energy-management-sustainability/eg-enerkey; danfoss.com Leanheat Building; gridx.ai/product. Ayrıntı docs/research/alternatives.md. Üstünlük veya bilinmeyen özellik yokluğu iddia etme.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Altı haftada yıllık tasarruf kanıtı vaat edilmez. Ölçümler: veri kullanılabilirliği, inceleme süresi, eyleme değer bulgu, yanlış alarm nedenleri, görev tamamlanması. Hedefler birlikte kararlaştırılacak.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Fiyat örnekleri docs/business/pricing.md içinde yalnızca görüşme hipotezi. Gerçekleşmiş gelir, müşteri veya ROI yok. Temizleme ve uzman emeği maliyeti kritik.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hazır olmak pilot veya üretim hazır demek değil. Docker Compose ve PostgreSQL yerelde çalıştırıldı; sağlık, migration/seed ve temel tarayıcı akışı geçti. Gerçek kimlik sağlayıcı staging testi bekliyor.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İsim, eğitim, şirket, ekip veya geçmiş başarı uydurma. Düzenlenebilir docs/meeting/founder-profile.json dosyasını kurucu görüşmeden önce doğrulanmış bilgilerle doldurmalı.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 Ekim 2026 tarihi verilen brief kaynaklı; saat ve erişim özel olarak doğrulanacak. Resmi portal başvuruları kapalı gösteriyordu: liaa.business.gov.lv/en/support-opportunities/business-incubation-aid, erişim15 Ekim2026. Yabancı kurucu uygunluğu ve sonraki çağrı sorulacak; hibe hakkı iddia edilmez.</a:t>
            </a:r>
          </a:p>
          <a:p xmlns:a="http://schemas.openxmlformats.org/drawingml/2006/main">
            <a:r>
              <a:t>Source: provided product brief and repository artifacts. No real pilot outcomes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d02d3bb440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69132f6ae40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bd19d06424e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58e11b6db4e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1c44be1e741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4ab1911db42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955F94-576D-4B61-909C-C2F97AE6C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C68449-C437-47E5-89F1-B76C047BEF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1F39A6-E397-4DDD-92B0-0F742868A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EF6252-9BFC-4BB0-8301-916CAC887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64F61E-3C97-4926-ACBE-256E830FB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75DF97-1A07-42B4-BF59-D5ECB107B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36CE56-8D08-436A-B53A-45E7E7E81A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817210-30C0-47F6-AC73-F576AB131A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9C9567-692F-46D0-83EF-E373AD771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8A4AED-56D1-4C8D-A23D-F3B23C3E6E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24b2dc2184f9b" /><Relationship Type="http://schemas.openxmlformats.org/officeDocument/2006/relationships/slideLayout" Target="/ppt/slideLayouts/slideLayout1.xml" Id="R8077f0252ad94bbb" /><Relationship Type="http://schemas.openxmlformats.org/officeDocument/2006/relationships/slideLayout" Target="/ppt/slideLayouts/slideLayout2.xml" Id="R02360f749fad4230" /><Relationship Type="http://schemas.openxmlformats.org/officeDocument/2006/relationships/slideLayout" Target="/ppt/slideLayouts/slideLayout3.xml" Id="R9d504cbac4004f74" /><Relationship Type="http://schemas.openxmlformats.org/officeDocument/2006/relationships/slideLayout" Target="/ppt/slideLayouts/slideLayout4.xml" Id="R52ebbe794d144833" /><Relationship Type="http://schemas.openxmlformats.org/officeDocument/2006/relationships/slideLayout" Target="/ppt/slideLayouts/slideLayout5.xml" Id="R051adf1662234882" /><Relationship Type="http://schemas.openxmlformats.org/officeDocument/2006/relationships/slideLayout" Target="/ppt/slideLayouts/slideLayout6.xml" Id="R8334cce338bf4a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7f0252ad94bbb"/>
    <p:sldLayoutId xmlns:r="http://schemas.openxmlformats.org/officeDocument/2006/relationships" id="2147483650" r:id="R02360f749fad4230"/>
    <p:sldLayoutId xmlns:r="http://schemas.openxmlformats.org/officeDocument/2006/relationships" id="2147483651" r:id="R9d504cbac4004f74"/>
    <p:sldLayoutId xmlns:r="http://schemas.openxmlformats.org/officeDocument/2006/relationships" id="2147483652" r:id="R52ebbe794d144833"/>
    <p:sldLayoutId xmlns:r="http://schemas.openxmlformats.org/officeDocument/2006/relationships" id="2147483653" r:id="R051adf1662234882"/>
    <p:sldLayoutId xmlns:r="http://schemas.openxmlformats.org/officeDocument/2006/relationships" id="2147483654" r:id="R8334cce338bf4a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3f661a9aa445f" /><Relationship Type="http://schemas.openxmlformats.org/officeDocument/2006/relationships/notesSlide" Target="/ppt/notesSlides/notesSlide1.xml" Id="R4acaf175e0574e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bd561e29b44dd" /><Relationship Type="http://schemas.openxmlformats.org/officeDocument/2006/relationships/notesSlide" Target="/ppt/notesSlides/notesSlide2.xml" Id="R1f0bb59a4cb848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6792be122440c" /><Relationship Type="http://schemas.openxmlformats.org/officeDocument/2006/relationships/notesSlide" Target="/ppt/notesSlides/notesSlide3.xml" Id="Re3cc170a174b4a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5f7ce9da04c99" /><Relationship Type="http://schemas.openxmlformats.org/officeDocument/2006/relationships/notesSlide" Target="/ppt/notesSlides/notesSlide4.xml" Id="R083e9aa33af649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1a49f5bc348a1" /><Relationship Type="http://schemas.openxmlformats.org/officeDocument/2006/relationships/image" Target="/ppt/media/image.png" Id="R7da060abb81344e1" /><Relationship Type="http://schemas.openxmlformats.org/officeDocument/2006/relationships/notesSlide" Target="/ppt/notesSlides/notesSlide5.xml" Id="R1dbaab54ce4e40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059b123414808" /><Relationship Type="http://schemas.openxmlformats.org/officeDocument/2006/relationships/image" Target="/ppt/media/image2.png" Id="R455f2a631c2b4d81" /><Relationship Type="http://schemas.openxmlformats.org/officeDocument/2006/relationships/notesSlide" Target="/ppt/notesSlides/notesSlide6.xml" Id="Re55d62c33c4541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5c7f04cfc4c1c" /><Relationship Type="http://schemas.openxmlformats.org/officeDocument/2006/relationships/notesSlide" Target="/ppt/notesSlides/notesSlide7.xml" Id="R396bd77fb1bd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e074c3dd3d46eb" /><Relationship Type="http://schemas.openxmlformats.org/officeDocument/2006/relationships/notesSlide" Target="/ppt/notesSlides/notesSlide8.xml" Id="R8e9f47e2e021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23a1c65e64cc7" /><Relationship Type="http://schemas.openxmlformats.org/officeDocument/2006/relationships/notesSlide" Target="/ppt/notesSlides/notesSlide9.xml" Id="Rb6e6fc534ba442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9e52ec3404a3b" /><Relationship Type="http://schemas.openxmlformats.org/officeDocument/2006/relationships/notesSlide" Target="/ppt/notesSlides/notesSlide10.xml" Id="Rd1a59f64e3c545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ee61288be4165" /><Relationship Type="http://schemas.openxmlformats.org/officeDocument/2006/relationships/notesSlide" Target="/ppt/notesSlides/notesSlide11.xml" Id="R767befd442224d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0921ee37d4333" /><Relationship Type="http://schemas.openxmlformats.org/officeDocument/2006/relationships/notesSlide" Target="/ppt/notesSlides/notesSlide12.xml" Id="Rd634ba4b7eb44b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TING PORTFOLIO ANALYTICS">
            <a:extLst xmlns:a="http://schemas.openxmlformats.org/drawingml/2006/main">
              <a:ext uri="{FF2B5EF4-FFF2-40B4-BE49-F238E27FC236}">
                <a16:creationId xmlns:a16="http://schemas.microsoft.com/office/drawing/2014/main" id="{5844835E-277E-48B7-AC99-55705BD5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CD5CA"/>
                </a:solidFill>
                <a:latin typeface="Arial"/>
                <a:ea typeface="Arial"/>
                <a:cs typeface="Arial"/>
              </a:rPr>
              <a:t>HEATING PORTFOLIO ANALYTICS</a:t>
            </a:r>
          </a:p>
        </p:txBody>
      </p:sp>
      <p:sp>
        <p:nvSpPr>
          <p:cNvPr id="2" name="Portotherm">
            <a:extLst xmlns:a="http://schemas.openxmlformats.org/drawingml/2006/main">
              <a:ext uri="{FF2B5EF4-FFF2-40B4-BE49-F238E27FC236}">
                <a16:creationId xmlns:a16="http://schemas.microsoft.com/office/drawing/2014/main" id="{C8D585AB-CF37-4D17-8B32-7F1DD07A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934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Portotherm</a:t>
            </a:r>
          </a:p>
        </p:txBody>
      </p:sp>
      <p:sp>
        <p:nvSpPr>
          <p:cNvPr id="3" name="Prioritize buildings for investigation using ">
            <a:extLst xmlns:a="http://schemas.openxmlformats.org/drawingml/2006/main">
              <a:ext uri="{FF2B5EF4-FFF2-40B4-BE49-F238E27FC236}">
                <a16:creationId xmlns:a16="http://schemas.microsoft.com/office/drawing/2014/main" id="{80DFA0B3-5724-4794-98EA-DD86D1FC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914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Prioritize buildings for investigation using existing monthly heat data.</a:t>
            </a:r>
          </a:p>
        </p:txBody>
      </p:sp>
      <p:sp>
        <p:nvSpPr>
          <p:cNvPr id="4" name="Provisional brand. Local synthetic demonstrat">
            <a:extLst xmlns:a="http://schemas.openxmlformats.org/drawingml/2006/main">
              <a:ext uri="{FF2B5EF4-FFF2-40B4-BE49-F238E27FC236}">
                <a16:creationId xmlns:a16="http://schemas.microsoft.com/office/drawing/2014/main" id="{6AC75E64-A253-4240-A0E0-70CBE2F3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Provisional brand. Local synthetic demonstration.</a:t>
            </a:r>
          </a:p>
        </p:txBody>
      </p:sp>
      <p:sp>
        <p:nvSpPr>
          <p:cNvPr id="5" name="Provisional brand. Discussion proposal.">
            <a:extLst xmlns:a="http://schemas.openxmlformats.org/drawingml/2006/main">
              <a:ext uri="{FF2B5EF4-FFF2-40B4-BE49-F238E27FC236}">
                <a16:creationId xmlns:a16="http://schemas.microsoft.com/office/drawing/2014/main" id="{9E4E42CF-3152-4381-96A5-4C50FA2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Provisional brand. Discussion proposal.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F755074-2FAF-47B2-ACD5-B0070FE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8007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ROBLEM HYPOTHESIS">
            <a:extLst xmlns:a="http://schemas.openxmlformats.org/drawingml/2006/main">
              <a:ext uri="{FF2B5EF4-FFF2-40B4-BE49-F238E27FC236}">
                <a16:creationId xmlns:a16="http://schemas.microsoft.com/office/drawing/2014/main" id="{056E064B-C5C6-440C-80CB-E383BC02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PROBLEM HYPOTHESIS</a:t>
            </a:r>
          </a:p>
        </p:txBody>
      </p:sp>
      <p:sp>
        <p:nvSpPr>
          <p:cNvPr id="2" name="The investigation decision">
            <a:extLst xmlns:a="http://schemas.openxmlformats.org/drawingml/2006/main">
              <a:ext uri="{FF2B5EF4-FFF2-40B4-BE49-F238E27FC236}">
                <a16:creationId xmlns:a16="http://schemas.microsoft.com/office/drawing/2014/main" id="{07523577-96C9-4A18-85B6-664AF6C7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The investigation decision</a:t>
            </a:r>
          </a:p>
        </p:txBody>
      </p:sp>
      <p:sp>
        <p:nvSpPr>
          <p:cNvPr id="3" name="Which building should we review first?">
            <a:extLst xmlns:a="http://schemas.openxmlformats.org/drawingml/2006/main">
              <a:ext uri="{FF2B5EF4-FFF2-40B4-BE49-F238E27FC236}">
                <a16:creationId xmlns:a16="http://schemas.microsoft.com/office/drawing/2014/main" id="{3D732315-FC34-4B28-8A81-7F21B339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09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Which building should we review first?</a:t>
            </a:r>
          </a:p>
        </p:txBody>
      </p:sp>
      <p:sp>
        <p:nvSpPr>
          <p:cNvPr id="4" name="Monthly records can sit across files, with un">
            <a:extLst xmlns:a="http://schemas.openxmlformats.org/drawingml/2006/main">
              <a:ext uri="{FF2B5EF4-FFF2-40B4-BE49-F238E27FC236}">
                <a16:creationId xmlns:a16="http://schemas.microsoft.com/office/drawing/2014/main" id="{8F6906AF-3E9F-48D1-869F-D290E635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52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Monthly records can sit across files, with unclear units, missing periods and limited follow-up.</a:t>
            </a:r>
          </a:p>
        </p:txBody>
      </p:sp>
      <p:sp>
        <p:nvSpPr>
          <p:cNvPr id="5" name="We will test this workflow problem with Latvi">
            <a:extLst xmlns:a="http://schemas.openxmlformats.org/drawingml/2006/main">
              <a:ext uri="{FF2B5EF4-FFF2-40B4-BE49-F238E27FC236}">
                <a16:creationId xmlns:a16="http://schemas.microsoft.com/office/drawing/2014/main" id="{2CC8387D-875A-4D9C-96FE-D641172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 will test this workflow problem with Latvian apartment managers.</a:t>
            </a:r>
          </a:p>
        </p:txBody>
      </p:sp>
      <p:sp>
        <p:nvSpPr>
          <p:cNvPr id="6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5FF3E63B-375A-4FE4-96F8-F388B43C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A8775DC4-EFAF-4399-B0D7-0DEB0E3B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2175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USTOMER DISCOVERY">
            <a:extLst xmlns:a="http://schemas.openxmlformats.org/drawingml/2006/main">
              <a:ext uri="{FF2B5EF4-FFF2-40B4-BE49-F238E27FC236}">
                <a16:creationId xmlns:a16="http://schemas.microsoft.com/office/drawing/2014/main" id="{B431C3CE-A663-49BA-93F9-50B8F1CC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CUSTOMER DISCOVERY</a:t>
            </a:r>
          </a:p>
        </p:txBody>
      </p:sp>
      <p:sp>
        <p:nvSpPr>
          <p:cNvPr id="2" name="The first customer hypothesis">
            <a:extLst xmlns:a="http://schemas.openxmlformats.org/drawingml/2006/main">
              <a:ext uri="{FF2B5EF4-FFF2-40B4-BE49-F238E27FC236}">
                <a16:creationId xmlns:a16="http://schemas.microsoft.com/office/drawing/2014/main" id="{E4A79963-1B47-431F-BE37-81680F41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The first customer hypothesis</a:t>
            </a:r>
          </a:p>
        </p:txBody>
      </p:sp>
      <p:sp>
        <p:nvSpPr>
          <p:cNvPr id="3" name="20–100 buildings in a professionally managed ">
            <a:extLst xmlns:a="http://schemas.openxmlformats.org/drawingml/2006/main">
              <a:ext uri="{FF2B5EF4-FFF2-40B4-BE49-F238E27FC236}">
                <a16:creationId xmlns:a16="http://schemas.microsoft.com/office/drawing/2014/main" id="{686C326A-68C8-449F-A51B-81192CE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19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20–100 buildings in a professionally managed apartment portfolio.</a:t>
            </a:r>
          </a:p>
        </p:txBody>
      </p:sp>
      <p:sp>
        <p:nvSpPr>
          <p:cNvPr id="4" name="Buyer: management company decision maker">
            <a:extLst xmlns:a="http://schemas.openxmlformats.org/drawingml/2006/main">
              <a:ext uri="{FF2B5EF4-FFF2-40B4-BE49-F238E27FC236}">
                <a16:creationId xmlns:a16="http://schemas.microsoft.com/office/drawing/2014/main" id="{69601219-4C29-4FC4-A9EB-5616B094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Buyer: management company decision maker</a:t>
            </a:r>
          </a:p>
        </p:txBody>
      </p:sp>
      <p:sp>
        <p:nvSpPr>
          <p:cNvPr id="5" name="Daily user: portfolio manager or analyst">
            <a:extLst xmlns:a="http://schemas.openxmlformats.org/drawingml/2006/main">
              <a:ext uri="{FF2B5EF4-FFF2-40B4-BE49-F238E27FC236}">
                <a16:creationId xmlns:a16="http://schemas.microsoft.com/office/drawing/2014/main" id="{CE9E67BB-1654-48DC-96A8-820CCB5C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Daily user: portfolio manager or analyst</a:t>
            </a:r>
          </a:p>
        </p:txBody>
      </p:sp>
      <p:sp>
        <p:nvSpPr>
          <p:cNvPr id="6" name="Technical reviewer: local energy specialist">
            <a:extLst xmlns:a="http://schemas.openxmlformats.org/drawingml/2006/main">
              <a:ext uri="{FF2B5EF4-FFF2-40B4-BE49-F238E27FC236}">
                <a16:creationId xmlns:a16="http://schemas.microsoft.com/office/drawing/2014/main" id="{60B60A4C-C10F-4F8A-8A7E-6B30555D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Technical reviewer: local energy specialist</a:t>
            </a:r>
          </a:p>
        </p:txBody>
      </p:sp>
      <p:sp>
        <p:nvSpPr>
          <p:cNvPr id="7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9A834305-CA21-4A7B-9AFB-30BE3D9D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7B0B8AD2-E2D3-4F8E-B7A3-7B73C5A8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126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OW IT WORKS">
            <a:extLst xmlns:a="http://schemas.openxmlformats.org/drawingml/2006/main">
              <a:ext uri="{FF2B5EF4-FFF2-40B4-BE49-F238E27FC236}">
                <a16:creationId xmlns:a16="http://schemas.microsoft.com/office/drawing/2014/main" id="{BC45E07B-6B90-4ABF-A78E-F8ADCDF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A documented review workflow">
            <a:extLst xmlns:a="http://schemas.openxmlformats.org/drawingml/2006/main">
              <a:ext uri="{FF2B5EF4-FFF2-40B4-BE49-F238E27FC236}">
                <a16:creationId xmlns:a16="http://schemas.microsoft.com/office/drawing/2014/main" id="{EC79BDF2-21A6-4297-B4E3-AAA21C31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documented review workflow</a:t>
            </a:r>
          </a:p>
        </p:txBody>
      </p:sp>
      <p:sp>
        <p:nvSpPr>
          <p:cNvPr id="3" name="01  Import monthly CSV or XLSX records">
            <a:extLst xmlns:a="http://schemas.openxmlformats.org/drawingml/2006/main">
              <a:ext uri="{FF2B5EF4-FFF2-40B4-BE49-F238E27FC236}">
                <a16:creationId xmlns:a16="http://schemas.microsoft.com/office/drawing/2014/main" id="{CFBAFA83-1706-4506-A6E0-05A7948F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01  Import monthly CSV or XLSX records</a:t>
            </a:r>
          </a:p>
        </p:txBody>
      </p:sp>
      <p:sp>
        <p:nvSpPr>
          <p:cNvPr id="4" name="02  Check quality and compare with own histor">
            <a:extLst xmlns:a="http://schemas.openxmlformats.org/drawingml/2006/main">
              <a:ext uri="{FF2B5EF4-FFF2-40B4-BE49-F238E27FC236}">
                <a16:creationId xmlns:a16="http://schemas.microsoft.com/office/drawing/2014/main" id="{698D439D-E5AF-4003-89C4-1BEB4D20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02  Check quality and compare with own history</a:t>
            </a:r>
          </a:p>
        </p:txBody>
      </p:sp>
      <p:sp>
        <p:nvSpPr>
          <p:cNvPr id="5" name="03  Review the reason and assign a task">
            <a:extLst xmlns:a="http://schemas.openxmlformats.org/drawingml/2006/main">
              <a:ext uri="{FF2B5EF4-FFF2-40B4-BE49-F238E27FC236}">
                <a16:creationId xmlns:a16="http://schemas.microsoft.com/office/drawing/2014/main" id="{CAA3754E-C40A-4B1D-AD0A-15FE870C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03  Review the reason and assign a task</a:t>
            </a:r>
          </a:p>
        </p:txBody>
      </p:sp>
      <p:sp>
        <p:nvSpPr>
          <p:cNvPr id="6" name="04  Record interventions and export evidence">
            <a:extLst xmlns:a="http://schemas.openxmlformats.org/drawingml/2006/main">
              <a:ext uri="{FF2B5EF4-FFF2-40B4-BE49-F238E27FC236}">
                <a16:creationId xmlns:a16="http://schemas.microsoft.com/office/drawing/2014/main" id="{6F80DB35-8B9F-4F16-AE90-37BCE2B1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04  Record interventions and export evidence</a:t>
            </a:r>
          </a:p>
        </p:txBody>
      </p:sp>
      <p:sp>
        <p:nvSpPr>
          <p:cNvPr id="7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15B1234E-BE5E-4757-9DDC-2CDEF736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8" name="04">
            <a:extLst xmlns:a="http://schemas.openxmlformats.org/drawingml/2006/main">
              <a:ext uri="{FF2B5EF4-FFF2-40B4-BE49-F238E27FC236}">
                <a16:creationId xmlns:a16="http://schemas.microsoft.com/office/drawing/2014/main" id="{E043ECD6-3C40-4535-B506-4B1B27C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459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CAL PRODUCT DEMONSTRATION">
            <a:extLst xmlns:a="http://schemas.openxmlformats.org/drawingml/2006/main">
              <a:ext uri="{FF2B5EF4-FFF2-40B4-BE49-F238E27FC236}">
                <a16:creationId xmlns:a16="http://schemas.microsoft.com/office/drawing/2014/main" id="{9D52277D-1794-4223-8FCF-650A40E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LOCAL PRODUCT DEMONSTRATION</a:t>
            </a:r>
          </a:p>
        </p:txBody>
      </p:sp>
      <p:sp>
        <p:nvSpPr>
          <p:cNvPr id="2" name="A working synthetic portfolio">
            <a:extLst xmlns:a="http://schemas.openxmlformats.org/drawingml/2006/main">
              <a:ext uri="{FF2B5EF4-FFF2-40B4-BE49-F238E27FC236}">
                <a16:creationId xmlns:a16="http://schemas.microsoft.com/office/drawing/2014/main" id="{E670581A-33FC-401F-B497-592F1FF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working synthetic portfolio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8644A-3508-4FCC-9A04-703049ED4B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060abb81344e1"/>
          <a:stretch xmlns:a="http://schemas.openxmlformats.org/drawingml/2006/main"/>
        </p:blipFill>
        <p:spPr>
          <a:xfrm xmlns:a="http://schemas.openxmlformats.org/drawingml/2006/main">
            <a:off x="628650" y="1809750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EFCC7D17-D25E-43AB-A27E-5CC66AD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ynthetic buildings">
            <a:extLst xmlns:a="http://schemas.openxmlformats.org/drawingml/2006/main">
              <a:ext uri="{FF2B5EF4-FFF2-40B4-BE49-F238E27FC236}">
                <a16:creationId xmlns:a16="http://schemas.microsoft.com/office/drawing/2014/main" id="{2C05127F-D167-40CD-AD31-03998731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908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buildings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BC357904-7A63-4D10-8415-DEEFCFC8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usable references">
            <a:extLst xmlns:a="http://schemas.openxmlformats.org/drawingml/2006/main">
              <a:ext uri="{FF2B5EF4-FFF2-40B4-BE49-F238E27FC236}">
                <a16:creationId xmlns:a16="http://schemas.microsoft.com/office/drawing/2014/main" id="{35FB0E51-4566-47EF-A659-A4E0631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290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usable references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C6BF89E9-F923-4953-B0FC-8BAB155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investigation priority">
            <a:extLst xmlns:a="http://schemas.openxmlformats.org/drawingml/2006/main">
              <a:ext uri="{FF2B5EF4-FFF2-40B4-BE49-F238E27FC236}">
                <a16:creationId xmlns:a16="http://schemas.microsoft.com/office/drawing/2014/main" id="{51A69967-047D-4DCC-85CE-88955BE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673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investigation priority</a:t>
            </a:r>
          </a:p>
        </p:txBody>
      </p:sp>
      <p:sp>
        <p:nvSpPr>
          <p:cNvPr id="10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8925BBFF-8DD9-40DB-83A5-381F7F7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BE0FAA37-DBC7-434B-8B6F-D28497FA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2111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XPLAINABLE MONTHLY REFERENCE">
            <a:extLst xmlns:a="http://schemas.openxmlformats.org/drawingml/2006/main">
              <a:ext uri="{FF2B5EF4-FFF2-40B4-BE49-F238E27FC236}">
                <a16:creationId xmlns:a16="http://schemas.microsoft.com/office/drawing/2014/main" id="{D72C29E3-859A-4A66-96AE-8B2FE6F1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EXPLAINABLE MONTHLY REFERENCE</a:t>
            </a:r>
          </a:p>
        </p:txBody>
      </p:sp>
      <p:sp>
        <p:nvSpPr>
          <p:cNvPr id="2" name="The reason stays visible">
            <a:extLst xmlns:a="http://schemas.openxmlformats.org/drawingml/2006/main">
              <a:ext uri="{FF2B5EF4-FFF2-40B4-BE49-F238E27FC236}">
                <a16:creationId xmlns:a16="http://schemas.microsoft.com/office/drawing/2014/main" id="{812205A2-1442-402A-92EC-7F767635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The reason stays visible</a:t>
            </a:r>
          </a:p>
        </p:txBody>
      </p:sp>
      <p:sp>
        <p:nvSpPr>
          <p:cNvPr id="3" name="Own history + days + heating degree days">
            <a:extLst xmlns:a="http://schemas.openxmlformats.org/drawingml/2006/main">
              <a:ext uri="{FF2B5EF4-FFF2-40B4-BE49-F238E27FC236}">
                <a16:creationId xmlns:a16="http://schemas.microsoft.com/office/drawing/2014/main" id="{CF9CA52E-C54F-4707-8AB2-211D68D5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Own history + days + heating degree days</a:t>
            </a:r>
          </a:p>
        </p:txBody>
      </p:sp>
      <p:sp>
        <p:nvSpPr>
          <p:cNvPr id="4" name="Training ends before evaluation begins.">
            <a:extLst xmlns:a="http://schemas.openxmlformats.org/drawingml/2006/main">
              <a:ext uri="{FF2B5EF4-FFF2-40B4-BE49-F238E27FC236}">
                <a16:creationId xmlns:a16="http://schemas.microsoft.com/office/drawing/2014/main" id="{9CA5321C-8721-4AAB-B4F7-4E6CD9F9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Training ends before evaluation begins.</a:t>
            </a:r>
          </a:p>
        </p:txBody>
      </p:sp>
      <p:sp>
        <p:nvSpPr>
          <p:cNvPr id="5" name="Threshold, persistence, quality and alternati">
            <a:extLst xmlns:a="http://schemas.openxmlformats.org/drawingml/2006/main">
              <a:ext uri="{FF2B5EF4-FFF2-40B4-BE49-F238E27FC236}">
                <a16:creationId xmlns:a16="http://schemas.microsoft.com/office/drawing/2014/main" id="{62877AD5-BB9A-4A2A-B506-3C9DF1B8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Threshold, persistence, quality and alternative explanations stay visible.</a:t>
            </a:r>
          </a:p>
        </p:txBody>
      </p:sp>
      <p:sp>
        <p:nvSpPr>
          <p:cNvPr id="6" name="A human decides what to investigate.">
            <a:extLst xmlns:a="http://schemas.openxmlformats.org/drawingml/2006/main">
              <a:ext uri="{FF2B5EF4-FFF2-40B4-BE49-F238E27FC236}">
                <a16:creationId xmlns:a16="http://schemas.microsoft.com/office/drawing/2014/main" id="{96276494-F517-4FD5-A094-C52A17C0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A human decides what to investigate.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BEAC0-C21D-4C06-9734-9A7BA8AB13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f2a631c2b4d81"/>
          <a:stretch xmlns:a="http://schemas.openxmlformats.org/drawingml/2006/main"/>
        </p:blipFill>
        <p:spPr>
          <a:xfrm xmlns:a="http://schemas.openxmlformats.org/drawingml/2006/main">
            <a:off x="4857750" y="200025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7E4AB608-C8C6-4720-8A4D-A19E5F0C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9" name="06">
            <a:extLst xmlns:a="http://schemas.openxmlformats.org/drawingml/2006/main">
              <a:ext uri="{FF2B5EF4-FFF2-40B4-BE49-F238E27FC236}">
                <a16:creationId xmlns:a16="http://schemas.microsoft.com/office/drawing/2014/main" id="{3F7DF7FD-80F8-4A42-A2D2-6800FA3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8011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FFERENTIATION TO TEST">
            <a:extLst xmlns:a="http://schemas.openxmlformats.org/drawingml/2006/main">
              <a:ext uri="{FF2B5EF4-FFF2-40B4-BE49-F238E27FC236}">
                <a16:creationId xmlns:a16="http://schemas.microsoft.com/office/drawing/2014/main" id="{61E98497-F474-44B9-966A-838B7F24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DIFFERENTIATION TO TEST</a:t>
            </a:r>
          </a:p>
        </p:txBody>
      </p:sp>
      <p:sp>
        <p:nvSpPr>
          <p:cNvPr id="2" name="Alternatives already exist">
            <a:extLst xmlns:a="http://schemas.openxmlformats.org/drawingml/2006/main">
              <a:ext uri="{FF2B5EF4-FFF2-40B4-BE49-F238E27FC236}">
                <a16:creationId xmlns:a16="http://schemas.microsoft.com/office/drawing/2014/main" id="{2EF6F4CA-08A8-45F5-B2DD-116AEC50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Alternatives already exist</a:t>
            </a:r>
          </a:p>
        </p:txBody>
      </p:sp>
      <p:sp>
        <p:nvSpPr>
          <p:cNvPr id="3" name="Spreadsheets and specialist review">
            <a:extLst xmlns:a="http://schemas.openxmlformats.org/drawingml/2006/main">
              <a:ext uri="{FF2B5EF4-FFF2-40B4-BE49-F238E27FC236}">
                <a16:creationId xmlns:a16="http://schemas.microsoft.com/office/drawing/2014/main" id="{1472289A-3E4D-4D55-B1E0-0D04225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Spreadsheets and specialist review</a:t>
            </a:r>
          </a:p>
        </p:txBody>
      </p:sp>
      <p:sp>
        <p:nvSpPr>
          <p:cNvPr id="4" name="Energy management: Kiona Energinet, EG EnerKe">
            <a:extLst xmlns:a="http://schemas.openxmlformats.org/drawingml/2006/main">
              <a:ext uri="{FF2B5EF4-FFF2-40B4-BE49-F238E27FC236}">
                <a16:creationId xmlns:a16="http://schemas.microsoft.com/office/drawing/2014/main" id="{637A163D-FEA3-42B6-AEEC-CDBEBE47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Energy management: Kiona Energinet, EG EnerKey</a:t>
            </a:r>
          </a:p>
        </p:txBody>
      </p:sp>
      <p:sp>
        <p:nvSpPr>
          <p:cNvPr id="5" name="Operational optimization: Danfoss Leanheat, g">
            <a:extLst xmlns:a="http://schemas.openxmlformats.org/drawingml/2006/main">
              <a:ext uri="{FF2B5EF4-FFF2-40B4-BE49-F238E27FC236}">
                <a16:creationId xmlns:a16="http://schemas.microsoft.com/office/drawing/2014/main" id="{D11B034E-88F7-47B6-B271-EEEA167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Operational optimization: Danfoss Leanheat, gridX</a:t>
            </a:r>
          </a:p>
        </p:txBody>
      </p:sp>
      <p:sp>
        <p:nvSpPr>
          <p:cNvPr id="6" name="Our hypothesis: a narrow monthly import-to-re">
            <a:extLst xmlns:a="http://schemas.openxmlformats.org/drawingml/2006/main">
              <a:ext uri="{FF2B5EF4-FFF2-40B4-BE49-F238E27FC236}">
                <a16:creationId xmlns:a16="http://schemas.microsoft.com/office/drawing/2014/main" id="{D948D0B7-A01D-48B2-9D2D-6DC09EE2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Our hypothesis: a narrow monthly import-to-review workflow can be useful without a control project.</a:t>
            </a:r>
          </a:p>
        </p:txBody>
      </p:sp>
      <p:sp>
        <p:nvSpPr>
          <p:cNvPr id="7" name="Official vendor pages, accessed 15 Oct 2026. ">
            <a:extLst xmlns:a="http://schemas.openxmlformats.org/drawingml/2006/main">
              <a:ext uri="{FF2B5EF4-FFF2-40B4-BE49-F238E27FC236}">
                <a16:creationId xmlns:a16="http://schemas.microsoft.com/office/drawing/2014/main" id="{9B2D8C84-BC11-4790-AE89-8C031EEB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Official vendor pages, accessed 15 Oct 2026. Full links: docs/research/alternatives.md</a:t>
            </a:r>
          </a:p>
        </p:txBody>
      </p:sp>
      <p:sp>
        <p:nvSpPr>
          <p:cNvPr id="8" name="07">
            <a:extLst xmlns:a="http://schemas.openxmlformats.org/drawingml/2006/main">
              <a:ext uri="{FF2B5EF4-FFF2-40B4-BE49-F238E27FC236}">
                <a16:creationId xmlns:a16="http://schemas.microsoft.com/office/drawing/2014/main" id="{729295EC-059A-438F-8413-4994744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9351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OPOSED SCOPE: 5–10 BUILDINGS">
            <a:extLst xmlns:a="http://schemas.openxmlformats.org/drawingml/2006/main">
              <a:ext uri="{FF2B5EF4-FFF2-40B4-BE49-F238E27FC236}">
                <a16:creationId xmlns:a16="http://schemas.microsoft.com/office/drawing/2014/main" id="{B20A8629-7030-44B8-B90B-34F09BB8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PROPOSED SCOPE: 5–10 BUILDINGS</a:t>
            </a:r>
          </a:p>
        </p:txBody>
      </p:sp>
      <p:sp>
        <p:nvSpPr>
          <p:cNvPr id="2" name="A six-week retrospective pilot">
            <a:extLst xmlns:a="http://schemas.openxmlformats.org/drawingml/2006/main">
              <a:ext uri="{FF2B5EF4-FFF2-40B4-BE49-F238E27FC236}">
                <a16:creationId xmlns:a16="http://schemas.microsoft.com/office/drawing/2014/main" id="{96E80F6B-0784-4D80-873E-45599521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six-week retrospective pilot</a:t>
            </a:r>
          </a:p>
        </p:txBody>
      </p:sp>
      <p:sp>
        <p:nvSpPr>
          <p:cNvPr id="3" name="Week 1  Scope, permissions and data inventory">
            <a:extLst xmlns:a="http://schemas.openxmlformats.org/drawingml/2006/main">
              <a:ext uri="{FF2B5EF4-FFF2-40B4-BE49-F238E27FC236}">
                <a16:creationId xmlns:a16="http://schemas.microsoft.com/office/drawing/2014/main" id="{9653EDA2-EB8C-4D0A-93DC-AF0D155D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Week 1  Scope, permissions and data inventory</a:t>
            </a:r>
          </a:p>
        </p:txBody>
      </p:sp>
      <p:sp>
        <p:nvSpPr>
          <p:cNvPr id="4" name="Week 2  Import and quality review">
            <a:extLst xmlns:a="http://schemas.openxmlformats.org/drawingml/2006/main">
              <a:ext uri="{FF2B5EF4-FFF2-40B4-BE49-F238E27FC236}">
                <a16:creationId xmlns:a16="http://schemas.microsoft.com/office/drawing/2014/main" id="{566FC141-0CFE-46EC-A46B-95DA7844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Week 2  Import and quality review</a:t>
            </a:r>
          </a:p>
        </p:txBody>
      </p:sp>
      <p:sp>
        <p:nvSpPr>
          <p:cNvPr id="5" name="Week 3  Historical reference and initial find">
            <a:extLst xmlns:a="http://schemas.openxmlformats.org/drawingml/2006/main">
              <a:ext uri="{FF2B5EF4-FFF2-40B4-BE49-F238E27FC236}">
                <a16:creationId xmlns:a16="http://schemas.microsoft.com/office/drawing/2014/main" id="{9F4AE735-4F2F-464A-A8B4-B7E4BC4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Week 3  Historical reference and initial findings</a:t>
            </a:r>
          </a:p>
        </p:txBody>
      </p:sp>
      <p:sp>
        <p:nvSpPr>
          <p:cNvPr id="6" name="Week 4  Manager and expert feedback">
            <a:extLst xmlns:a="http://schemas.openxmlformats.org/drawingml/2006/main">
              <a:ext uri="{FF2B5EF4-FFF2-40B4-BE49-F238E27FC236}">
                <a16:creationId xmlns:a16="http://schemas.microsoft.com/office/drawing/2014/main" id="{B060BD06-80CA-4AA5-8A29-4466311A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Week 4  Manager and expert feedback</a:t>
            </a:r>
          </a:p>
        </p:txBody>
      </p:sp>
      <p:sp>
        <p:nvSpPr>
          <p:cNvPr id="7" name="Week 5  Review tasks and intervention records">
            <a:extLst xmlns:a="http://schemas.openxmlformats.org/drawingml/2006/main">
              <a:ext uri="{FF2B5EF4-FFF2-40B4-BE49-F238E27FC236}">
                <a16:creationId xmlns:a16="http://schemas.microsoft.com/office/drawing/2014/main" id="{CEEF1982-BFB3-457C-AD54-B5CE78D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Week 5  Review tasks and intervention records</a:t>
            </a:r>
          </a:p>
        </p:txBody>
      </p:sp>
      <p:sp>
        <p:nvSpPr>
          <p:cNvPr id="8" name="Week 6  Learnings and continuation decision">
            <a:extLst xmlns:a="http://schemas.openxmlformats.org/drawingml/2006/main">
              <a:ext uri="{FF2B5EF4-FFF2-40B4-BE49-F238E27FC236}">
                <a16:creationId xmlns:a16="http://schemas.microsoft.com/office/drawing/2014/main" id="{5AE5A405-359C-4E31-9C6C-F99DAD95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Week 6  Learnings and continuation decision</a:t>
            </a:r>
          </a:p>
        </p:txBody>
      </p:sp>
      <p:sp>
        <p:nvSpPr>
          <p:cNvPr id="9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BA71270D-447F-4966-8323-9D17E856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05819E2E-7EDD-40F0-A2CD-04C2CBEB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4799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MMERCIAL HYPOTHESES">
            <a:extLst xmlns:a="http://schemas.openxmlformats.org/drawingml/2006/main">
              <a:ext uri="{FF2B5EF4-FFF2-40B4-BE49-F238E27FC236}">
                <a16:creationId xmlns:a16="http://schemas.microsoft.com/office/drawing/2014/main" id="{FDDE12F0-2453-4CC1-996B-0E0BFFDD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COMMERCIAL HYPOTHESES</a:t>
            </a:r>
          </a:p>
        </p:txBody>
      </p:sp>
      <p:sp>
        <p:nvSpPr>
          <p:cNvPr id="2" name="A business model to validate">
            <a:extLst xmlns:a="http://schemas.openxmlformats.org/drawingml/2006/main">
              <a:ext uri="{FF2B5EF4-FFF2-40B4-BE49-F238E27FC236}">
                <a16:creationId xmlns:a16="http://schemas.microsoft.com/office/drawing/2014/main" id="{5D5B095B-EBE1-4602-8D77-2BD3C704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A business model to validate</a:t>
            </a:r>
          </a:p>
        </p:txBody>
      </p:sp>
      <p:sp>
        <p:nvSpPr>
          <p:cNvPr id="3" name="Per-building subscription">
            <a:extLst xmlns:a="http://schemas.openxmlformats.org/drawingml/2006/main">
              <a:ext uri="{FF2B5EF4-FFF2-40B4-BE49-F238E27FC236}">
                <a16:creationId xmlns:a16="http://schemas.microsoft.com/office/drawing/2014/main" id="{062D0B04-F0F1-49B1-A343-78CF8F96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Per-building subscription</a:t>
            </a:r>
          </a:p>
        </p:txBody>
      </p:sp>
      <p:sp>
        <p:nvSpPr>
          <p:cNvPr id="4" name="Portfolio package">
            <a:extLst xmlns:a="http://schemas.openxmlformats.org/drawingml/2006/main">
              <a:ext uri="{FF2B5EF4-FFF2-40B4-BE49-F238E27FC236}">
                <a16:creationId xmlns:a16="http://schemas.microsoft.com/office/drawing/2014/main" id="{C5DA3DED-BE14-468A-A85E-F1669F9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Portfolio package</a:t>
            </a:r>
          </a:p>
        </p:txBody>
      </p:sp>
      <p:sp>
        <p:nvSpPr>
          <p:cNvPr id="5" name="Setup or pilot fee + subscription">
            <a:extLst xmlns:a="http://schemas.openxmlformats.org/drawingml/2006/main">
              <a:ext uri="{FF2B5EF4-FFF2-40B4-BE49-F238E27FC236}">
                <a16:creationId xmlns:a16="http://schemas.microsoft.com/office/drawing/2014/main" id="{62E1FB18-CC5E-4252-B6DF-05A0018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Setup or pilot fee + subscription</a:t>
            </a:r>
          </a:p>
        </p:txBody>
      </p:sp>
      <p:sp>
        <p:nvSpPr>
          <p:cNvPr id="6" name="Discovery starts with manager interviews and ">
            <a:extLst xmlns:a="http://schemas.openxmlformats.org/drawingml/2006/main">
              <a:ext uri="{FF2B5EF4-FFF2-40B4-BE49-F238E27FC236}">
                <a16:creationId xmlns:a16="http://schemas.microsoft.com/office/drawing/2014/main" id="{242FD2A8-A404-4DE4-A39E-DD8065E0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Discovery starts with manager interviews and a small authorized pilot.</a:t>
            </a:r>
          </a:p>
        </p:txBody>
      </p:sp>
      <p:sp>
        <p:nvSpPr>
          <p:cNvPr id="7" name="Price and support costs remain unvalidated.">
            <a:extLst xmlns:a="http://schemas.openxmlformats.org/drawingml/2006/main">
              <a:ext uri="{FF2B5EF4-FFF2-40B4-BE49-F238E27FC236}">
                <a16:creationId xmlns:a16="http://schemas.microsoft.com/office/drawing/2014/main" id="{6E4DA67D-E837-4213-AB45-6B132EA4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Price and support costs remain unvalidated.</a:t>
            </a:r>
          </a:p>
        </p:txBody>
      </p:sp>
      <p:sp>
        <p:nvSpPr>
          <p:cNvPr id="8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3E01C0AE-5F78-4C89-8729-AF25D75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268D1528-9507-462B-8A2B-A05DA942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639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ADINESS">
            <a:extLst xmlns:a="http://schemas.openxmlformats.org/drawingml/2006/main">
              <a:ext uri="{FF2B5EF4-FFF2-40B4-BE49-F238E27FC236}">
                <a16:creationId xmlns:a16="http://schemas.microsoft.com/office/drawing/2014/main" id="{C6182227-ABE8-4B0D-BC04-3012933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2" name="Demonstrated and still pending">
            <a:extLst xmlns:a="http://schemas.openxmlformats.org/drawingml/2006/main">
              <a:ext uri="{FF2B5EF4-FFF2-40B4-BE49-F238E27FC236}">
                <a16:creationId xmlns:a16="http://schemas.microsoft.com/office/drawing/2014/main" id="{E4B3EB9C-57BB-45B7-A934-386F7444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Demonstrated and still pending</a:t>
            </a:r>
          </a:p>
        </p:txBody>
      </p:sp>
      <p:sp>
        <p:nvSpPr>
          <p:cNvPr id="3" name="Demonstrated locally">
            <a:extLst xmlns:a="http://schemas.openxmlformats.org/drawingml/2006/main">
              <a:ext uri="{FF2B5EF4-FFF2-40B4-BE49-F238E27FC236}">
                <a16:creationId xmlns:a16="http://schemas.microsoft.com/office/drawing/2014/main" id="{60915E15-6321-4EB7-B39F-4A969F46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Demonstrated locally</a:t>
            </a:r>
          </a:p>
        </p:txBody>
      </p:sp>
      <p:sp>
        <p:nvSpPr>
          <p:cNvPr id="4" name="Synthetic import, quality checks, weather ref">
            <a:extLst xmlns:a="http://schemas.openxmlformats.org/drawingml/2006/main">
              <a:ext uri="{FF2B5EF4-FFF2-40B4-BE49-F238E27FC236}">
                <a16:creationId xmlns:a16="http://schemas.microsoft.com/office/drawing/2014/main" id="{2EADD204-CBB9-430F-849C-8F972E93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Synthetic import, quality checks, weather reference, review tasks, interventions and evidence reports.</a:t>
            </a:r>
          </a:p>
        </p:txBody>
      </p:sp>
      <p:sp>
        <p:nvSpPr>
          <p:cNvPr id="5" name="Pending before a real pilot">
            <a:extLst xmlns:a="http://schemas.openxmlformats.org/drawingml/2006/main">
              <a:ext uri="{FF2B5EF4-FFF2-40B4-BE49-F238E27FC236}">
                <a16:creationId xmlns:a16="http://schemas.microsoft.com/office/drawing/2014/main" id="{F4ACDBAE-D379-425A-A59E-4337A9E7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Pending before a real pilot</a:t>
            </a:r>
          </a:p>
        </p:txBody>
      </p:sp>
      <p:sp>
        <p:nvSpPr>
          <p:cNvPr id="6" name="Verified weather input, deployed identity flo">
            <a:extLst xmlns:a="http://schemas.openxmlformats.org/drawingml/2006/main">
              <a:ext uri="{FF2B5EF4-FFF2-40B4-BE49-F238E27FC236}">
                <a16:creationId xmlns:a16="http://schemas.microsoft.com/office/drawing/2014/main" id="{452C6B83-8330-4528-829F-F7BD294D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466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Verified weather input, deployed identity flow, agreements, hosting and independent expert review.</a:t>
            </a:r>
          </a:p>
        </p:txBody>
      </p:sp>
      <p:sp>
        <p:nvSpPr>
          <p:cNvPr id="7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F057191F-092E-4CC0-8331-0D29CEC5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32D30181-3A0E-412B-BEF0-3D9FDDFF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0408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PACITY TO CONFIRM">
            <a:extLst xmlns:a="http://schemas.openxmlformats.org/drawingml/2006/main">
              <a:ext uri="{FF2B5EF4-FFF2-40B4-BE49-F238E27FC236}">
                <a16:creationId xmlns:a16="http://schemas.microsoft.com/office/drawing/2014/main" id="{B7C53042-BD6C-41FB-9565-A8B6468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D77"/>
                </a:solidFill>
                <a:latin typeface="Arial"/>
                <a:ea typeface="Arial"/>
                <a:cs typeface="Arial"/>
              </a:rPr>
              <a:t>CAPACITY TO CONFIRM</a:t>
            </a:r>
          </a:p>
        </p:txBody>
      </p:sp>
      <p:sp>
        <p:nvSpPr>
          <p:cNvPr id="2" name="Founder details and open roles">
            <a:extLst xmlns:a="http://schemas.openxmlformats.org/drawingml/2006/main">
              <a:ext uri="{FF2B5EF4-FFF2-40B4-BE49-F238E27FC236}">
                <a16:creationId xmlns:a16="http://schemas.microsoft.com/office/drawing/2014/main" id="{8EB60632-541E-49B8-BF4E-E41BA18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B3D"/>
                </a:solidFill>
                <a:latin typeface="Arial"/>
                <a:ea typeface="Arial"/>
                <a:cs typeface="Arial"/>
              </a:rPr>
              <a:t>Founder details and open roles</a:t>
            </a:r>
          </a:p>
        </p:txBody>
      </p:sp>
      <p:sp>
        <p:nvSpPr>
          <p:cNvPr id="3" name="Founder biography and confirmed team informat">
            <a:extLst xmlns:a="http://schemas.openxmlformats.org/drawingml/2006/main">
              <a:ext uri="{FF2B5EF4-FFF2-40B4-BE49-F238E27FC236}">
                <a16:creationId xmlns:a16="http://schemas.microsoft.com/office/drawing/2014/main" id="{D5475EC6-AB97-4A62-B53A-DC2EE12E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B3D"/>
                </a:solidFill>
                <a:latin typeface="Arial"/>
                <a:ea typeface="Arial"/>
                <a:cs typeface="Arial"/>
              </a:rPr>
              <a:t>Founder biography and confirmed team information have not been supplied.</a:t>
            </a:r>
          </a:p>
        </p:txBody>
      </p:sp>
      <p:sp>
        <p:nvSpPr>
          <p:cNvPr id="4" name="Needed for a credible pilot:">
            <a:extLst xmlns:a="http://schemas.openxmlformats.org/drawingml/2006/main">
              <a:ext uri="{FF2B5EF4-FFF2-40B4-BE49-F238E27FC236}">
                <a16:creationId xmlns:a16="http://schemas.microsoft.com/office/drawing/2014/main" id="{84D3010E-7A56-4AB2-B5DF-1F923AC5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Needed for a credible pilot:</a:t>
            </a:r>
          </a:p>
        </p:txBody>
      </p:sp>
      <p:sp>
        <p:nvSpPr>
          <p:cNvPr id="5" name="Local energy specialist">
            <a:extLst xmlns:a="http://schemas.openxmlformats.org/drawingml/2006/main">
              <a:ext uri="{FF2B5EF4-FFF2-40B4-BE49-F238E27FC236}">
                <a16:creationId xmlns:a16="http://schemas.microsoft.com/office/drawing/2014/main" id="{7139D1EF-FD51-467D-94E5-B2FC8A1C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Local energy specialist</a:t>
            </a:r>
          </a:p>
        </p:txBody>
      </p:sp>
      <p:sp>
        <p:nvSpPr>
          <p:cNvPr id="6" name="Building manager with authorized data access">
            <a:extLst xmlns:a="http://schemas.openxmlformats.org/drawingml/2006/main">
              <a:ext uri="{FF2B5EF4-FFF2-40B4-BE49-F238E27FC236}">
                <a16:creationId xmlns:a16="http://schemas.microsoft.com/office/drawing/2014/main" id="{12BB2001-4818-4DFB-8263-34372920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Building manager with authorized data access</a:t>
            </a:r>
          </a:p>
        </p:txBody>
      </p:sp>
      <p:sp>
        <p:nvSpPr>
          <p:cNvPr id="7" name="Privacy and legal review capacity">
            <a:extLst xmlns:a="http://schemas.openxmlformats.org/drawingml/2006/main">
              <a:ext uri="{FF2B5EF4-FFF2-40B4-BE49-F238E27FC236}">
                <a16:creationId xmlns:a16="http://schemas.microsoft.com/office/drawing/2014/main" id="{047D03C4-CF01-4130-B377-7806576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06D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6D77"/>
                </a:solidFill>
                <a:latin typeface="Arial"/>
                <a:ea typeface="Arial"/>
                <a:cs typeface="Arial"/>
              </a:rPr>
              <a:t>Privacy and legal review capacity</a:t>
            </a:r>
          </a:p>
        </p:txBody>
      </p:sp>
      <p:sp>
        <p:nvSpPr>
          <p:cNvPr id="8" name="Synthetic demo data — not measured customer r">
            <a:extLst xmlns:a="http://schemas.openxmlformats.org/drawingml/2006/main">
              <a:ext uri="{FF2B5EF4-FFF2-40B4-BE49-F238E27FC236}">
                <a16:creationId xmlns:a16="http://schemas.microsoft.com/office/drawing/2014/main" id="{FC5BE0F9-018C-45CD-A88A-EEDF03E2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Synthetic demo data — not measured customer results</a:t>
            </a:r>
          </a:p>
        </p:txBody>
      </p:sp>
      <p:sp>
        <p:nvSpPr>
          <p:cNvPr id="9" name="11">
            <a:extLst xmlns:a="http://schemas.openxmlformats.org/drawingml/2006/main">
              <a:ext uri="{FF2B5EF4-FFF2-40B4-BE49-F238E27FC236}">
                <a16:creationId xmlns:a16="http://schemas.microsoft.com/office/drawing/2014/main" id="{6F4A7681-1E68-4C90-B0EA-BD7115FE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7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95021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NSULTATION REQUEST">
            <a:extLst xmlns:a="http://schemas.openxmlformats.org/drawingml/2006/main">
              <a:ext uri="{FF2B5EF4-FFF2-40B4-BE49-F238E27FC236}">
                <a16:creationId xmlns:a16="http://schemas.microsoft.com/office/drawing/2014/main" id="{26417B7D-DB05-454F-A0AE-E3E65145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"/>
            <a:ext cx="1093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CD5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CD5CA"/>
                </a:solidFill>
                <a:latin typeface="Arial"/>
                <a:ea typeface="Arial"/>
                <a:cs typeface="Arial"/>
              </a:rPr>
              <a:t>CONSULTATION REQUEST</a:t>
            </a:r>
          </a:p>
        </p:txBody>
      </p:sp>
      <p:sp>
        <p:nvSpPr>
          <p:cNvPr id="2" name="The next step with LIAA">
            <a:extLst xmlns:a="http://schemas.openxmlformats.org/drawingml/2006/main">
              <a:ext uri="{FF2B5EF4-FFF2-40B4-BE49-F238E27FC236}">
                <a16:creationId xmlns:a16="http://schemas.microsoft.com/office/drawing/2014/main" id="{1F1A5502-05E8-4919-ABF8-5AC11F25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04875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next step with LIAA</a:t>
            </a:r>
          </a:p>
        </p:txBody>
      </p:sp>
      <p:sp>
        <p:nvSpPr>
          <p:cNvPr id="3" name="Introductions to relevant apartment managers">
            <a:extLst xmlns:a="http://schemas.openxmlformats.org/drawingml/2006/main">
              <a:ext uri="{FF2B5EF4-FFF2-40B4-BE49-F238E27FC236}">
                <a16:creationId xmlns:a16="http://schemas.microsoft.com/office/drawing/2014/main" id="{197D3CB6-848B-4C0F-8A0C-BC34D9EE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Introductions to relevant apartment managers</a:t>
            </a:r>
          </a:p>
        </p:txBody>
      </p:sp>
      <p:sp>
        <p:nvSpPr>
          <p:cNvPr id="4" name="A local reviewer for technical validation">
            <a:extLst xmlns:a="http://schemas.openxmlformats.org/drawingml/2006/main">
              <a:ext uri="{FF2B5EF4-FFF2-40B4-BE49-F238E27FC236}">
                <a16:creationId xmlns:a16="http://schemas.microsoft.com/office/drawing/2014/main" id="{8F35E942-26A7-44BB-8FA7-AB03444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reviewer for technical validation</a:t>
            </a:r>
          </a:p>
        </p:txBody>
      </p:sp>
      <p:sp>
        <p:nvSpPr>
          <p:cNvPr id="5" name="Guidance on the suitable support route and ne">
            <a:extLst xmlns:a="http://schemas.openxmlformats.org/drawingml/2006/main">
              <a:ext uri="{FF2B5EF4-FFF2-40B4-BE49-F238E27FC236}">
                <a16:creationId xmlns:a16="http://schemas.microsoft.com/office/drawing/2014/main" id="{E89F7740-D1FE-42B0-A994-FD6E91E3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Guidance on the suitable support route and next action</a:t>
            </a:r>
          </a:p>
        </p:txBody>
      </p:sp>
      <p:sp>
        <p:nvSpPr>
          <p:cNvPr id="6" name="The consultation is not program acceptance or">
            <a:extLst xmlns:a="http://schemas.openxmlformats.org/drawingml/2006/main">
              <a:ext uri="{FF2B5EF4-FFF2-40B4-BE49-F238E27FC236}">
                <a16:creationId xmlns:a16="http://schemas.microsoft.com/office/drawing/2014/main" id="{1107792F-0B82-405F-A924-17575334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The consultation is not program acceptance or funding approval.</a:t>
            </a:r>
          </a:p>
        </p:txBody>
      </p:sp>
      <p:sp>
        <p:nvSpPr>
          <p:cNvPr id="7" name="Provisional brand. Discussion proposal.">
            <a:extLst xmlns:a="http://schemas.openxmlformats.org/drawingml/2006/main">
              <a:ext uri="{FF2B5EF4-FFF2-40B4-BE49-F238E27FC236}">
                <a16:creationId xmlns:a16="http://schemas.microsoft.com/office/drawing/2014/main" id="{013725B4-88E5-4D01-99D1-A0B39B14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Provisional brand. Discussion proposal.</a:t>
            </a:r>
          </a:p>
        </p:txBody>
      </p:sp>
      <p:sp>
        <p:nvSpPr>
          <p:cNvPr id="8" name="12">
            <a:extLst xmlns:a="http://schemas.openxmlformats.org/drawingml/2006/main">
              <a:ext uri="{FF2B5EF4-FFF2-40B4-BE49-F238E27FC236}">
                <a16:creationId xmlns:a16="http://schemas.microsoft.com/office/drawing/2014/main" id="{188A4903-351B-4F77-94E7-C283C110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8CE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ED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20133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2026-10-15T11:46:04.7520000Z</dcterms:created>
  <dcterms:modified xsi:type="dcterms:W3CDTF">2026-10-15T11:46:04.7520000Z</dcterms:modified>
</coreProperties>
</file>
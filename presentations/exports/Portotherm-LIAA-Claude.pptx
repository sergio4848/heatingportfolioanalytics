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3b9bcb1beb448ca" /><Relationship Type="http://schemas.openxmlformats.org/officeDocument/2006/relationships/extended-properties" Target="/docProps/app.xml" Id="Ra72f3d2a5d5045fb" /><Relationship Type="http://schemas.openxmlformats.org/officeDocument/2006/relationships/officeDocument" Target="/ppt/presentation.xml" Id="R18955dfaa09845bc" /></Relationships>
</file>

<file path=ppt/presentation.xml><?xml version="1.0" encoding="utf-8"?>
<p:presentation xmlns:p="http://schemas.openxmlformats.org/presentationml/2006/main">
  <p:sldMasterIdLst>
    <p:sldMasterId xmlns:r="http://schemas.openxmlformats.org/officeDocument/2006/relationships" id="2147483648" r:id="R242a0f95ac6247de"/>
  </p:sldMasterIdLst>
  <p:notesMasterIdLst>
    <p:notesMasterId xmlns:r="http://schemas.openxmlformats.org/officeDocument/2006/relationships" r:id="R78997011a90240aa"/>
  </p:notesMasterIdLst>
  <p:sldIdLst>
    <p:sldId xmlns:r="http://schemas.openxmlformats.org/officeDocument/2006/relationships" id="256" r:id="Ref935fe294c947bd"/>
    <p:sldId xmlns:r="http://schemas.openxmlformats.org/officeDocument/2006/relationships" id="257" r:id="R4dcffd4aabf541f5"/>
    <p:sldId xmlns:r="http://schemas.openxmlformats.org/officeDocument/2006/relationships" id="258" r:id="R731ad6e36a7e42f1"/>
    <p:sldId xmlns:r="http://schemas.openxmlformats.org/officeDocument/2006/relationships" id="259" r:id="Redf423ea6a604307"/>
    <p:sldId xmlns:r="http://schemas.openxmlformats.org/officeDocument/2006/relationships" id="260" r:id="R1f0dedbb3d64408b"/>
    <p:sldId xmlns:r="http://schemas.openxmlformats.org/officeDocument/2006/relationships" id="261" r:id="R0bbffea250d34570"/>
    <p:sldId xmlns:r="http://schemas.openxmlformats.org/officeDocument/2006/relationships" id="262" r:id="R1efe6e36dfdd4751"/>
    <p:sldId xmlns:r="http://schemas.openxmlformats.org/officeDocument/2006/relationships" id="263" r:id="Rba2b2ae636284492"/>
    <p:sldId xmlns:r="http://schemas.openxmlformats.org/officeDocument/2006/relationships" id="264" r:id="R8190347e443641ba"/>
    <p:sldId xmlns:r="http://schemas.openxmlformats.org/officeDocument/2006/relationships" id="265" r:id="Rcc772df409794f97"/>
    <p:sldId xmlns:r="http://schemas.openxmlformats.org/officeDocument/2006/relationships" id="266" r:id="R85d509eaca0a46a7"/>
    <p:sldId xmlns:r="http://schemas.openxmlformats.org/officeDocument/2006/relationships" id="267" r:id="R5fd4434012ce414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d5ce2f8bfe44b69" /><Relationship Type="http://schemas.openxmlformats.org/officeDocument/2006/relationships/slideMaster" Target="/ppt/slideMasters/slideMaster1.xml" Id="R242a0f95ac6247de" /><Relationship Type="http://schemas.openxmlformats.org/officeDocument/2006/relationships/notesMaster" Target="/ppt/notesMasters/notesMaster1.xml" Id="R78997011a90240aa" /><Relationship Type="http://schemas.openxmlformats.org/officeDocument/2006/relationships/presProps" Target="/ppt/presProps.xml" Id="Rf2d30d87d65e40e5" /><Relationship Type="http://schemas.openxmlformats.org/officeDocument/2006/relationships/tableStyles" Target="/ppt/tableStyles.xml" Id="Rdfe832d5a9184e81" /><Relationship Type="http://schemas.openxmlformats.org/officeDocument/2006/relationships/slide" Target="/ppt/slides/slide1.xml" Id="Ref935fe294c947bd" /><Relationship Type="http://schemas.openxmlformats.org/officeDocument/2006/relationships/slide" Target="/ppt/slides/slide2.xml" Id="R4dcffd4aabf541f5" /><Relationship Type="http://schemas.openxmlformats.org/officeDocument/2006/relationships/slide" Target="/ppt/slides/slide3.xml" Id="R731ad6e36a7e42f1" /><Relationship Type="http://schemas.openxmlformats.org/officeDocument/2006/relationships/slide" Target="/ppt/slides/slide4.xml" Id="Redf423ea6a604307" /><Relationship Type="http://schemas.openxmlformats.org/officeDocument/2006/relationships/slide" Target="/ppt/slides/slide5.xml" Id="R1f0dedbb3d64408b" /><Relationship Type="http://schemas.openxmlformats.org/officeDocument/2006/relationships/slide" Target="/ppt/slides/slide6.xml" Id="R0bbffea250d34570" /><Relationship Type="http://schemas.openxmlformats.org/officeDocument/2006/relationships/slide" Target="/ppt/slides/slide7.xml" Id="R1efe6e36dfdd4751" /><Relationship Type="http://schemas.openxmlformats.org/officeDocument/2006/relationships/slide" Target="/ppt/slides/slide8.xml" Id="Rba2b2ae636284492" /><Relationship Type="http://schemas.openxmlformats.org/officeDocument/2006/relationships/slide" Target="/ppt/slides/slide9.xml" Id="R8190347e443641ba" /><Relationship Type="http://schemas.openxmlformats.org/officeDocument/2006/relationships/slide" Target="/ppt/slides/slide10.xml" Id="Rcc772df409794f97" /><Relationship Type="http://schemas.openxmlformats.org/officeDocument/2006/relationships/slide" Target="/ppt/slides/slide11.xml" Id="R85d509eaca0a46a7" /><Relationship Type="http://schemas.openxmlformats.org/officeDocument/2006/relationships/slide" Target="/ppt/slides/slide12.xml" Id="R5fd4434012ce414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1836f1f8a7a436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9a58fbf27f14211" /><Relationship Type="http://schemas.openxmlformats.org/officeDocument/2006/relationships/notesMaster" Target="/ppt/notesMasters/notesMaster1.xml" Id="R7a835dc6cefd4edc" /></Relationships>
</file>

<file path=ppt/notesSlides/_rels/notesSlide2.xml.rels>&#65279;<?xml version="1.0" encoding="utf-8"?><Relationships xmlns="http://schemas.openxmlformats.org/package/2006/relationships"><Relationship Type="http://schemas.openxmlformats.org/officeDocument/2006/relationships/slide" Target="/ppt/slides/slide2.xml" Id="R0229489c448d4989" /><Relationship Type="http://schemas.openxmlformats.org/officeDocument/2006/relationships/notesMaster" Target="/ppt/notesMasters/notesMaster1.xml" Id="R83b977f8416344c1" /></Relationships>
</file>

<file path=ppt/notesSlides/_rels/notesSlide3.xml.rels>&#65279;<?xml version="1.0" encoding="utf-8"?><Relationships xmlns="http://schemas.openxmlformats.org/package/2006/relationships"><Relationship Type="http://schemas.openxmlformats.org/officeDocument/2006/relationships/slide" Target="/ppt/slides/slide3.xml" Id="R00508d8093844c3b" /><Relationship Type="http://schemas.openxmlformats.org/officeDocument/2006/relationships/notesMaster" Target="/ppt/notesMasters/notesMaster1.xml" Id="Ref4f00cd9f284cdc" /></Relationships>
</file>

<file path=ppt/notesSlides/_rels/notesSlide4.xml.rels>&#65279;<?xml version="1.0" encoding="utf-8"?><Relationships xmlns="http://schemas.openxmlformats.org/package/2006/relationships"><Relationship Type="http://schemas.openxmlformats.org/officeDocument/2006/relationships/slide" Target="/ppt/slides/slide4.xml" Id="R77bd044d3d884bee" /><Relationship Type="http://schemas.openxmlformats.org/officeDocument/2006/relationships/notesMaster" Target="/ppt/notesMasters/notesMaster1.xml" Id="R9b51b0891dfb4169" /></Relationships>
</file>

<file path=ppt/notesSlides/_rels/notesSlide5.xml.rels>&#65279;<?xml version="1.0" encoding="utf-8"?><Relationships xmlns="http://schemas.openxmlformats.org/package/2006/relationships"><Relationship Type="http://schemas.openxmlformats.org/officeDocument/2006/relationships/slide" Target="/ppt/slides/slide5.xml" Id="R9bb2947eef2a49aa" /><Relationship Type="http://schemas.openxmlformats.org/officeDocument/2006/relationships/notesMaster" Target="/ppt/notesMasters/notesMaster1.xml" Id="Rd543bc157a674f54" /></Relationships>
</file>

<file path=ppt/notesSlides/_rels/notesSlide6.xml.rels>&#65279;<?xml version="1.0" encoding="utf-8"?><Relationships xmlns="http://schemas.openxmlformats.org/package/2006/relationships"><Relationship Type="http://schemas.openxmlformats.org/officeDocument/2006/relationships/slide" Target="/ppt/slides/slide6.xml" Id="R02bd5d97bdba487c" /><Relationship Type="http://schemas.openxmlformats.org/officeDocument/2006/relationships/notesMaster" Target="/ppt/notesMasters/notesMaster1.xml" Id="Rf7687793cd674c1f" /></Relationships>
</file>

<file path=ppt/notesSlides/_rels/notesSlide7.xml.rels>&#65279;<?xml version="1.0" encoding="utf-8"?><Relationships xmlns="http://schemas.openxmlformats.org/package/2006/relationships"><Relationship Type="http://schemas.openxmlformats.org/officeDocument/2006/relationships/slide" Target="/ppt/slides/slide7.xml" Id="R1614cf8cd9ca4ae0" /><Relationship Type="http://schemas.openxmlformats.org/officeDocument/2006/relationships/notesMaster" Target="/ppt/notesMasters/notesMaster1.xml" Id="R69be8f5842984aea" /></Relationships>
</file>

<file path=ppt/notesSlides/_rels/notesSlide8.xml.rels>&#65279;<?xml version="1.0" encoding="utf-8"?><Relationships xmlns="http://schemas.openxmlformats.org/package/2006/relationships"><Relationship Type="http://schemas.openxmlformats.org/officeDocument/2006/relationships/slide" Target="/ppt/slides/slide8.xml" Id="R1b63cfb45694447a" /><Relationship Type="http://schemas.openxmlformats.org/officeDocument/2006/relationships/notesMaster" Target="/ppt/notesMasters/notesMaster1.xml" Id="R69f39300c45a45e9" /></Relationships>
</file>

<file path=ppt/notesSlides/_rels/notesSlide9.xml.rels>&#65279;<?xml version="1.0" encoding="utf-8"?><Relationships xmlns="http://schemas.openxmlformats.org/package/2006/relationships"><Relationship Type="http://schemas.openxmlformats.org/officeDocument/2006/relationships/slide" Target="/ppt/slides/slide9.xml" Id="Rc5e1698ac1c94a4d" /><Relationship Type="http://schemas.openxmlformats.org/officeDocument/2006/relationships/notesMaster" Target="/ppt/notesMasters/notesMaster1.xml" Id="Rb399d0d3926f46b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b0ad0d124524f39" /><Relationship Type="http://schemas.openxmlformats.org/officeDocument/2006/relationships/notesMaster" Target="/ppt/notesMasters/notesMaster1.xml" Id="R98c2a93269a94d2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2f3f91b121f4638" /><Relationship Type="http://schemas.openxmlformats.org/officeDocument/2006/relationships/notesMaster" Target="/ppt/notesMasters/notesMaster1.xml" Id="R73825d6b30144ad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448cf3623904fa4" /><Relationship Type="http://schemas.openxmlformats.org/officeDocument/2006/relationships/notesMaster" Target="/ppt/notesMasters/notesMaster1.xml" Id="Rd9929e2c26de4a2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Ürün adının geçici olduğunu ve tüm demo verisinin sentetik olduğunu açıkça söyle. Isıtma kontrolü veya kanıtlanmış tasarruf iddiası yok.</a:t>
            </a:r>
          </a:p>
          <a:p xmlns:a="http://schemas.openxmlformats.org/drawingml/2006/main">
            <a:r>
              <a:t>Source: provided product brief and repository artifacts. No real pilot outcomes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 problem henüz müşteri araştırmasıyla doğrulanmadı. Sahte müşteri sözü veya pazar büyüklüğü verme.</a:t>
            </a:r>
          </a:p>
          <a:p xmlns:a="http://schemas.openxmlformats.org/drawingml/2006/main">
            <a:r>
              <a:t>Source: provided product brief and repository artifacts. No real pilot outcomes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20–100 aralığı pazar verisi değil segment varsayımı. İlk pilot yalnızca 5–10 binayı kapsayacak. Roller gerçek ekip üyeleri değildir.</a:t>
            </a:r>
          </a:p>
          <a:p xmlns:a="http://schemas.openxmlformats.org/drawingml/2006/main">
            <a:r>
              <a:t>Source: provided product brief and repository artifacts. No real pilot outcomes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Ardışık akışı anlat. Yeni sensör veya otomatik ısıtma kontrolü zorunlu değil. Gerçek hava kaynağının pilotta doğrulanması gerekiyor.</a:t>
            </a:r>
          </a:p>
          <a:p xmlns:a="http://schemas.openxmlformats.org/drawingml/2006/main">
            <a:r>
              <a:t>Source: provided product brief and repository artifacts. No real pilot outcomes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çalışan yerel uygulamadan reports/screenshots/07-portfolio-pitch.png. Sayılar reports/demo-statistics.json ile aynı motorun çıktısı. Sentetik sonuçlar müşteri başarısı değildir.</a:t>
            </a:r>
          </a:p>
          <a:p xmlns:a="http://schemas.openxmlformats.org/drawingml/2006/main">
            <a:r>
              <a:t>Source: provided product brief and repository artifacts. No real pilot outcomes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çalışan uygulamadan 08-building-pitch.png. Yöntem docs/methodology.md. Sayaç değişimi, kullanım ve sıcak su karıştırıcıdır. İstatistiksel güven yüzdesi veya arıza olasılığı sunulmaz.</a:t>
            </a:r>
          </a:p>
          <a:p xmlns:a="http://schemas.openxmlformats.org/drawingml/2006/main">
            <a:r>
              <a:t>Source: provided product brief and repository artifacts. No real pilot outcomes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Claude anahtari backend ortaminda tutulur. Kolon onerisi normal parser kontrolunden ve kullanici onayindan gecer. Aciklama metrik ve kaynak kimliklerine baglidir. Gorev taslagi duzenlenir, analiz surumu tekrar kontrol edilerek acik onayla kaydedilir. Ekran gercek sentetik uygulamanin anahtarsiz durumudur. Canli API testi bu teslimde yapilmadi.</a:t>
            </a:r>
          </a:p>
          <a:p xmlns:a="http://schemas.openxmlformats.org/drawingml/2006/main">
            <a:r>
              <a:t>Source: provided product brief and repository artifacts. No real pilot outcomes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Altı haftada yıllık tasarruf kanıtı vaat edilmez. Ölçümler: veri kullanılabilirliği, inceleme süresi, eyleme değer bulgu, yanlış alarm nedenleri, görev tamamlanması. Hedefler birlikte kararlaştırılacak.</a:t>
            </a:r>
          </a:p>
          <a:p xmlns:a="http://schemas.openxmlformats.org/drawingml/2006/main">
            <a:r>
              <a:t>Source: provided product brief and repository artifacts. No real pilot outcomes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Fiyat örnekleri docs/business/pricing.md içinde yalnızca görüşme hipotezi. Gerçekleşmiş gelir, müşteri veya ROI yok. Temizleme ve uzman emeği maliyeti kritik.</a:t>
            </a:r>
          </a:p>
          <a:p xmlns:a="http://schemas.openxmlformats.org/drawingml/2006/main">
            <a:r>
              <a:t>Source: provided product brief and repository artifacts. No real pilot outcomes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hazır olmak pilot veya üretim hazır demek değil. Docker Compose ve PostgreSQL yerelde çalıştırıldı; sağlık, migration/seed ve temel tarayıcı akışı geçti. Gerçek kimlik sağlayıcı staging testi bekliyor.</a:t>
            </a:r>
          </a:p>
          <a:p xmlns:a="http://schemas.openxmlformats.org/drawingml/2006/main">
            <a:r>
              <a:t>Source: provided product brief and repository artifacts. No real pilot outcomes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İsim, eğitim, şirket, ekip veya geçmiş başarı uydurma. Düzenlenebilir docs/meeting/founder-profile.json dosyasını kurucu görüşmeden önce doğrulanmış bilgilerle doldurmalı.</a:t>
            </a:r>
          </a:p>
          <a:p xmlns:a="http://schemas.openxmlformats.org/drawingml/2006/main">
            <a:r>
              <a:t>Source: provided product brief and repository artifacts. No real pilot outcomes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22 Ekim 2026 tarihi verilen brief kaynaklı; saat ve erişim özel olarak doğrulanacak. Resmi portal başvuruları kapalı gösteriyordu: liaa.business.gov.lv/en/support-opportunities/business-incubation-aid, erişim15 Ekim2026. Yabancı kurucu uygunluğu ve sonraki çağrı sorulacak; hibe hakkı iddia edilmez.</a:t>
            </a:r>
          </a:p>
          <a:p xmlns:a="http://schemas.openxmlformats.org/drawingml/2006/main">
            <a:r>
              <a:t>Source: provided product brief and repository artifacts. No real pilot outcomes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d2ed42922794fa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f8285aa4d79423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110e2669cf44e4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71993cc385245a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257e18e1a1d42e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87f521b695b4be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3F2E9AA-07B9-49DE-BC84-12B8B0ED84C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98EC73B-0765-477D-859F-39049BF0A32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058AA9A-A1BE-4A22-83E5-C139C07D949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EC889BA-A007-4180-AA97-CD12C65CB28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1F6CA61-B927-4D1B-A407-BD2E90208C1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1BECACC-98D4-4E11-8C88-9AE400A21B0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31AF06B-0F48-4997-9CA2-94AE964E1D4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4F65832-516F-416E-8815-D48FA1381D3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9A484EF-AD84-4F19-B0F4-46A407D311D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D9C965A-86BC-4D83-A9DF-504ED074149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914ac54fa7e4159" /><Relationship Type="http://schemas.openxmlformats.org/officeDocument/2006/relationships/slideLayout" Target="/ppt/slideLayouts/slideLayout1.xml" Id="Ra10ad8b4dccf4537" /><Relationship Type="http://schemas.openxmlformats.org/officeDocument/2006/relationships/slideLayout" Target="/ppt/slideLayouts/slideLayout2.xml" Id="R8214bba3d39d415f" /><Relationship Type="http://schemas.openxmlformats.org/officeDocument/2006/relationships/slideLayout" Target="/ppt/slideLayouts/slideLayout3.xml" Id="Re159986170fb4711" /><Relationship Type="http://schemas.openxmlformats.org/officeDocument/2006/relationships/slideLayout" Target="/ppt/slideLayouts/slideLayout4.xml" Id="Rf76ed2a22e054709" /><Relationship Type="http://schemas.openxmlformats.org/officeDocument/2006/relationships/slideLayout" Target="/ppt/slideLayouts/slideLayout5.xml" Id="R1efacd7f6dd74870" /><Relationship Type="http://schemas.openxmlformats.org/officeDocument/2006/relationships/slideLayout" Target="/ppt/slideLayouts/slideLayout6.xml" Id="R21c2f10832974ad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10ad8b4dccf4537"/>
    <p:sldLayoutId xmlns:r="http://schemas.openxmlformats.org/officeDocument/2006/relationships" id="2147483650" r:id="R8214bba3d39d415f"/>
    <p:sldLayoutId xmlns:r="http://schemas.openxmlformats.org/officeDocument/2006/relationships" id="2147483651" r:id="Re159986170fb4711"/>
    <p:sldLayoutId xmlns:r="http://schemas.openxmlformats.org/officeDocument/2006/relationships" id="2147483652" r:id="Rf76ed2a22e054709"/>
    <p:sldLayoutId xmlns:r="http://schemas.openxmlformats.org/officeDocument/2006/relationships" id="2147483653" r:id="R1efacd7f6dd74870"/>
    <p:sldLayoutId xmlns:r="http://schemas.openxmlformats.org/officeDocument/2006/relationships" id="2147483654" r:id="R21c2f10832974ad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fb705a78b944e06" /><Relationship Type="http://schemas.openxmlformats.org/officeDocument/2006/relationships/notesSlide" Target="/ppt/notesSlides/notesSlide1.xml" Id="Rdfd93aa65556413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858b8bd7cc544ca" /><Relationship Type="http://schemas.openxmlformats.org/officeDocument/2006/relationships/notesSlide" Target="/ppt/notesSlides/notesSlide2.xml" Id="R0c2d363328624d1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bc87596bd614f09" /><Relationship Type="http://schemas.openxmlformats.org/officeDocument/2006/relationships/notesSlide" Target="/ppt/notesSlides/notesSlide3.xml" Id="R598461ceab0749d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444aaaf1d6a406e" /><Relationship Type="http://schemas.openxmlformats.org/officeDocument/2006/relationships/notesSlide" Target="/ppt/notesSlides/notesSlide4.xml" Id="Rf64ec70df7ac431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3b5b96a6f124ad3" /><Relationship Type="http://schemas.openxmlformats.org/officeDocument/2006/relationships/image" Target="/ppt/media/image.png" Id="Ref1080fce7b14b5d" /><Relationship Type="http://schemas.openxmlformats.org/officeDocument/2006/relationships/notesSlide" Target="/ppt/notesSlides/notesSlide5.xml" Id="R34249c681f3e42f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1e76748998e432c" /><Relationship Type="http://schemas.openxmlformats.org/officeDocument/2006/relationships/image" Target="/ppt/media/image2.png" Id="R7d630921632f4794" /><Relationship Type="http://schemas.openxmlformats.org/officeDocument/2006/relationships/notesSlide" Target="/ppt/notesSlides/notesSlide6.xml" Id="Rae6cd90a05e7404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0a7fb4249f94713" /><Relationship Type="http://schemas.openxmlformats.org/officeDocument/2006/relationships/image" Target="/ppt/media/image3.png" Id="R2f0f37711e294dd9" /><Relationship Type="http://schemas.openxmlformats.org/officeDocument/2006/relationships/notesSlide" Target="/ppt/notesSlides/notesSlide7.xml" Id="R3288044d3a12435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8af895ca8bf430c" /><Relationship Type="http://schemas.openxmlformats.org/officeDocument/2006/relationships/notesSlide" Target="/ppt/notesSlides/notesSlide8.xml" Id="R0d3291f5a7e74ad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7e3f0b4129143c5" /><Relationship Type="http://schemas.openxmlformats.org/officeDocument/2006/relationships/notesSlide" Target="/ppt/notesSlides/notesSlide9.xml" Id="Rc459ad1ae73745a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e36323936da4cae" /><Relationship Type="http://schemas.openxmlformats.org/officeDocument/2006/relationships/notesSlide" Target="/ppt/notesSlides/notesSlide10.xml" Id="R3a0b22f44fc64f8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10e6c166af1493f" /><Relationship Type="http://schemas.openxmlformats.org/officeDocument/2006/relationships/notesSlide" Target="/ppt/notesSlides/notesSlide11.xml" Id="R71d1bbf2f526487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f703bf35d494d3d" /><Relationship Type="http://schemas.openxmlformats.org/officeDocument/2006/relationships/notesSlide" Target="/ppt/notesSlides/notesSlide12.xml" Id="R26e8667f1c3d406b" /></Relationships>
</file>

<file path=ppt/slides/slide1.xml><?xml version="1.0" encoding="utf-8"?>
<p:sld xmlns:p="http://schemas.openxmlformats.org/presentationml/2006/main">
  <p:cSld>
    <p:bg>
      <p:bgPr>
        <a:solidFill xmlns:a="http://schemas.openxmlformats.org/drawingml/2006/main">
          <a:srgbClr val="142B3D"/>
        </a:solidFill>
      </p:bgPr>
    </p:bg>
    <p:spTree>
      <p:nvGrpSpPr>
        <p:cNvPr id="1" name=""/>
        <p:cNvGrpSpPr/>
        <p:nvPr/>
      </p:nvGrpSpPr>
      <p:grpSpPr>
        <a:xfrm xmlns:a="http://schemas.openxmlformats.org/drawingml/2006/main"/>
      </p:grpSpPr>
      <p:sp>
        <p:nvSpPr>
          <p:cNvPr id="7" name="HEATING PORTFOLIO ANALYTICS">
            <a:extLst xmlns:a="http://schemas.openxmlformats.org/drawingml/2006/main">
              <a:ext uri="{FF2B5EF4-FFF2-40B4-BE49-F238E27FC236}">
                <a16:creationId xmlns:a16="http://schemas.microsoft.com/office/drawing/2014/main" id="{D2E7A43D-402A-422B-9737-F286090D7B55}"/>
              </a:ext>
            </a:extLst>
          </p:cNvPr>
          <p:cNvSpPr>
            <a:spLocks xmlns:a="http://schemas.openxmlformats.org/drawingml/2006/main" noGrp="1"/>
          </p:cNvSpPr>
          <p:nvPr/>
        </p:nvSpPr>
        <p:spPr>
          <a:xfrm xmlns:a="http://schemas.openxmlformats.org/drawingml/2006/main">
            <a:off x="628650" y="447675"/>
            <a:ext cx="10934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8CD5CA"/>
                </a:solidFill>
                <a:latin typeface="Arial"/>
                <a:ea typeface="Arial"/>
                <a:cs typeface="Arial"/>
              </a:defRPr>
            </a:defPPr>
          </a:lstStyle>
          <a:p xmlns:a="http://schemas.openxmlformats.org/drawingml/2006/main">
            <a:pPr>
              <a:defRPr sz="1050" b="1">
                <a:solidFill>
                  <a:srgbClr val="8CD5CA"/>
                </a:solidFill>
                <a:latin typeface="Arial"/>
                <a:ea typeface="Arial"/>
                <a:cs typeface="Arial"/>
              </a:defRPr>
            </a:pPr>
            <a:r>
              <a:rPr sz="1050" b="1">
                <a:solidFill>
                  <a:srgbClr val="8CD5CA"/>
                </a:solidFill>
                <a:latin typeface="Arial"/>
                <a:ea typeface="Arial"/>
                <a:cs typeface="Arial"/>
              </a:rPr>
              <a:t>HEATING PORTFOLIO ANALYTICS</a:t>
            </a:r>
          </a:p>
        </p:txBody>
      </p:sp>
      <p:sp>
        <p:nvSpPr>
          <p:cNvPr id="2" name="Portotherm">
            <a:extLst xmlns:a="http://schemas.openxmlformats.org/drawingml/2006/main">
              <a:ext uri="{FF2B5EF4-FFF2-40B4-BE49-F238E27FC236}">
                <a16:creationId xmlns:a16="http://schemas.microsoft.com/office/drawing/2014/main" id="{75BA3861-34ED-4288-83D6-47A78D339721}"/>
              </a:ext>
            </a:extLst>
          </p:cNvPr>
          <p:cNvSpPr>
            <a:spLocks xmlns:a="http://schemas.openxmlformats.org/drawingml/2006/main" noGrp="1"/>
          </p:cNvSpPr>
          <p:nvPr/>
        </p:nvSpPr>
        <p:spPr>
          <a:xfrm xmlns:a="http://schemas.openxmlformats.org/drawingml/2006/main">
            <a:off x="628650" y="1428750"/>
            <a:ext cx="109347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600" b="1">
                <a:solidFill>
                  <a:srgbClr val="FFFFFF"/>
                </a:solidFill>
                <a:latin typeface="Arial"/>
                <a:ea typeface="Arial"/>
                <a:cs typeface="Arial"/>
              </a:defRPr>
            </a:defPPr>
          </a:lstStyle>
          <a:p xmlns:a="http://schemas.openxmlformats.org/drawingml/2006/main">
            <a:pPr>
              <a:defRPr sz="6600" b="1">
                <a:solidFill>
                  <a:srgbClr val="FFFFFF"/>
                </a:solidFill>
                <a:latin typeface="Arial"/>
                <a:ea typeface="Arial"/>
                <a:cs typeface="Arial"/>
              </a:defRPr>
            </a:pPr>
            <a:r>
              <a:rPr sz="6600" b="1">
                <a:solidFill>
                  <a:srgbClr val="FFFFFF"/>
                </a:solidFill>
                <a:latin typeface="Arial"/>
                <a:ea typeface="Arial"/>
                <a:cs typeface="Arial"/>
              </a:rPr>
              <a:t>Portotherm</a:t>
            </a:r>
          </a:p>
        </p:txBody>
      </p:sp>
      <p:sp>
        <p:nvSpPr>
          <p:cNvPr id="3" name="Prioritize buildings for investigation using ">
            <a:extLst xmlns:a="http://schemas.openxmlformats.org/drawingml/2006/main">
              <a:ext uri="{FF2B5EF4-FFF2-40B4-BE49-F238E27FC236}">
                <a16:creationId xmlns:a16="http://schemas.microsoft.com/office/drawing/2014/main" id="{D2AEE8DC-A9A8-49DA-BA75-0877EF9C55E4}"/>
              </a:ext>
            </a:extLst>
          </p:cNvPr>
          <p:cNvSpPr>
            <a:spLocks xmlns:a="http://schemas.openxmlformats.org/drawingml/2006/main" noGrp="1"/>
          </p:cNvSpPr>
          <p:nvPr/>
        </p:nvSpPr>
        <p:spPr>
          <a:xfrm xmlns:a="http://schemas.openxmlformats.org/drawingml/2006/main">
            <a:off x="666750" y="2952750"/>
            <a:ext cx="9144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0">
                <a:solidFill>
                  <a:srgbClr val="FFFFFF"/>
                </a:solidFill>
                <a:latin typeface="Arial"/>
                <a:ea typeface="Arial"/>
                <a:cs typeface="Arial"/>
              </a:defRPr>
            </a:defPPr>
          </a:lstStyle>
          <a:p xmlns:a="http://schemas.openxmlformats.org/drawingml/2006/main">
            <a:pPr>
              <a:defRPr sz="3300" b="0">
                <a:solidFill>
                  <a:srgbClr val="FFFFFF"/>
                </a:solidFill>
                <a:latin typeface="Arial"/>
                <a:ea typeface="Arial"/>
                <a:cs typeface="Arial"/>
              </a:defRPr>
            </a:pPr>
            <a:r>
              <a:rPr sz="3300" b="0">
                <a:solidFill>
                  <a:srgbClr val="FFFFFF"/>
                </a:solidFill>
                <a:latin typeface="Arial"/>
                <a:ea typeface="Arial"/>
                <a:cs typeface="Arial"/>
              </a:rPr>
              <a:t>Prioritize buildings for investigation using existing monthly heat data.</a:t>
            </a:r>
          </a:p>
        </p:txBody>
      </p:sp>
      <p:sp>
        <p:nvSpPr>
          <p:cNvPr id="4" name="Provisional brand. Local synthetic demonstrat">
            <a:extLst xmlns:a="http://schemas.openxmlformats.org/drawingml/2006/main">
              <a:ext uri="{FF2B5EF4-FFF2-40B4-BE49-F238E27FC236}">
                <a16:creationId xmlns:a16="http://schemas.microsoft.com/office/drawing/2014/main" id="{3AC9B741-950A-46D7-B2DE-C91052DE0269}"/>
              </a:ext>
            </a:extLst>
          </p:cNvPr>
          <p:cNvSpPr>
            <a:spLocks xmlns:a="http://schemas.openxmlformats.org/drawingml/2006/main" noGrp="1"/>
          </p:cNvSpPr>
          <p:nvPr/>
        </p:nvSpPr>
        <p:spPr>
          <a:xfrm xmlns:a="http://schemas.openxmlformats.org/drawingml/2006/main">
            <a:off x="685800" y="5381625"/>
            <a:ext cx="952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B8CED7"/>
                </a:solidFill>
                <a:latin typeface="Arial"/>
                <a:ea typeface="Arial"/>
                <a:cs typeface="Arial"/>
              </a:defRPr>
            </a:defPPr>
          </a:lstStyle>
          <a:p xmlns:a="http://schemas.openxmlformats.org/drawingml/2006/main">
            <a:pPr>
              <a:defRPr sz="1500" b="0">
                <a:solidFill>
                  <a:srgbClr val="B8CED7"/>
                </a:solidFill>
                <a:latin typeface="Arial"/>
                <a:ea typeface="Arial"/>
                <a:cs typeface="Arial"/>
              </a:defRPr>
            </a:pPr>
            <a:r>
              <a:rPr sz="1500" b="0">
                <a:solidFill>
                  <a:srgbClr val="B8CED7"/>
                </a:solidFill>
                <a:latin typeface="Arial"/>
                <a:ea typeface="Arial"/>
                <a:cs typeface="Arial"/>
              </a:rPr>
              <a:t>Provisional brand. Local synthetic demonstration.</a:t>
            </a:r>
          </a:p>
        </p:txBody>
      </p:sp>
      <p:sp>
        <p:nvSpPr>
          <p:cNvPr id="5" name="Provisional brand. Discussion proposal.">
            <a:extLst xmlns:a="http://schemas.openxmlformats.org/drawingml/2006/main">
              <a:ext uri="{FF2B5EF4-FFF2-40B4-BE49-F238E27FC236}">
                <a16:creationId xmlns:a16="http://schemas.microsoft.com/office/drawing/2014/main" id="{DE28B0E5-ADBE-4BA7-BB6B-94212B413711}"/>
              </a:ext>
            </a:extLst>
          </p:cNvPr>
          <p:cNvSpPr>
            <a:spLocks xmlns:a="http://schemas.openxmlformats.org/drawingml/2006/main" noGrp="1"/>
          </p:cNvSpPr>
          <p:nvPr/>
        </p:nvSpPr>
        <p:spPr>
          <a:xfrm xmlns:a="http://schemas.openxmlformats.org/drawingml/2006/main">
            <a:off x="628650" y="643890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B8CED7"/>
                </a:solidFill>
                <a:latin typeface="Arial"/>
                <a:ea typeface="Arial"/>
                <a:cs typeface="Arial"/>
              </a:defRPr>
            </a:defPPr>
          </a:lstStyle>
          <a:p xmlns:a="http://schemas.openxmlformats.org/drawingml/2006/main">
            <a:pPr>
              <a:defRPr sz="900" b="0">
                <a:solidFill>
                  <a:srgbClr val="B8CED7"/>
                </a:solidFill>
                <a:latin typeface="Arial"/>
                <a:ea typeface="Arial"/>
                <a:cs typeface="Arial"/>
              </a:defRPr>
            </a:pPr>
            <a:r>
              <a:rPr sz="900" b="0">
                <a:solidFill>
                  <a:srgbClr val="B8CED7"/>
                </a:solidFill>
                <a:latin typeface="Arial"/>
                <a:ea typeface="Arial"/>
                <a:cs typeface="Arial"/>
              </a:rPr>
              <a:t>Provisional brand. Discussion proposal.</a:t>
            </a:r>
          </a:p>
        </p:txBody>
      </p:sp>
      <p:sp>
        <p:nvSpPr>
          <p:cNvPr id="6" name="01">
            <a:extLst xmlns:a="http://schemas.openxmlformats.org/drawingml/2006/main">
              <a:ext uri="{FF2B5EF4-FFF2-40B4-BE49-F238E27FC236}">
                <a16:creationId xmlns:a16="http://schemas.microsoft.com/office/drawing/2014/main" id="{B2C67ADD-B2D9-4E42-B1DA-C6CDD463561C}"/>
              </a:ext>
            </a:extLst>
          </p:cNvPr>
          <p:cNvSpPr>
            <a:spLocks xmlns:a="http://schemas.openxmlformats.org/drawingml/2006/main" noGrp="1"/>
          </p:cNvSpPr>
          <p:nvPr/>
        </p:nvSpPr>
        <p:spPr>
          <a:xfrm xmlns:a="http://schemas.openxmlformats.org/drawingml/2006/main">
            <a:off x="11144250" y="641985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B8CED7"/>
                </a:solidFill>
                <a:latin typeface="Arial"/>
                <a:ea typeface="Arial"/>
                <a:cs typeface="Arial"/>
              </a:defRPr>
            </a:defPPr>
          </a:lstStyle>
          <a:p xmlns:a="http://schemas.openxmlformats.org/drawingml/2006/main">
            <a:pPr>
              <a:defRPr sz="1125" b="0">
                <a:solidFill>
                  <a:srgbClr val="B8CED7"/>
                </a:solidFill>
                <a:latin typeface="Arial"/>
                <a:ea typeface="Arial"/>
                <a:cs typeface="Arial"/>
              </a:defRPr>
            </a:pPr>
            <a:r>
              <a:rPr sz="1125" b="0">
                <a:solidFill>
                  <a:srgbClr val="B8CED7"/>
                </a:solidFill>
                <a:latin typeface="Arial"/>
                <a:ea typeface="Arial"/>
                <a:cs typeface="Arial"/>
              </a:rPr>
              <a:t>01</a:t>
            </a:r>
          </a:p>
        </p:txBody>
      </p:sp>
    </p:spTree>
    <p:extLst>
      <p:ext uri="{BB962C8B-B14F-4D97-AF65-F5344CB8AC3E}">
        <p14:creationId xmlns:p14="http://schemas.microsoft.com/office/powerpoint/2010/main" val="709596347"/>
      </p:ext>
    </p:extLst>
  </p:cSld>
</p:sld>
</file>

<file path=ppt/slides/slide2.xml><?xml version="1.0" encoding="utf-8"?>
<p:sld xmlns:p="http://schemas.openxmlformats.org/presentationml/2006/main">
  <p:cSld>
    <p:bg>
      <p:bgPr>
        <a:solidFill xmlns:a="http://schemas.openxmlformats.org/drawingml/2006/main">
          <a:srgbClr val="F4F7F8"/>
        </a:solidFill>
      </p:bgPr>
    </p:bg>
    <p:spTree>
      <p:nvGrpSpPr>
        <p:cNvPr id="1" name=""/>
        <p:cNvGrpSpPr/>
        <p:nvPr/>
      </p:nvGrpSpPr>
      <p:grpSpPr>
        <a:xfrm xmlns:a="http://schemas.openxmlformats.org/drawingml/2006/main"/>
      </p:grpSpPr>
      <p:sp>
        <p:nvSpPr>
          <p:cNvPr id="8" name="PROBLEM HYPOTHESIS">
            <a:extLst xmlns:a="http://schemas.openxmlformats.org/drawingml/2006/main">
              <a:ext uri="{FF2B5EF4-FFF2-40B4-BE49-F238E27FC236}">
                <a16:creationId xmlns:a16="http://schemas.microsoft.com/office/drawing/2014/main" id="{7F580D5F-F486-499B-A571-9A30564C88E0}"/>
              </a:ext>
            </a:extLst>
          </p:cNvPr>
          <p:cNvSpPr>
            <a:spLocks xmlns:a="http://schemas.openxmlformats.org/drawingml/2006/main" noGrp="1"/>
          </p:cNvSpPr>
          <p:nvPr/>
        </p:nvSpPr>
        <p:spPr>
          <a:xfrm xmlns:a="http://schemas.openxmlformats.org/drawingml/2006/main">
            <a:off x="628650" y="447675"/>
            <a:ext cx="10934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006D77"/>
                </a:solidFill>
                <a:latin typeface="Arial"/>
                <a:ea typeface="Arial"/>
                <a:cs typeface="Arial"/>
              </a:defRPr>
            </a:defPPr>
          </a:lstStyle>
          <a:p xmlns:a="http://schemas.openxmlformats.org/drawingml/2006/main">
            <a:pPr>
              <a:defRPr sz="1050" b="1">
                <a:solidFill>
                  <a:srgbClr val="006D77"/>
                </a:solidFill>
                <a:latin typeface="Arial"/>
                <a:ea typeface="Arial"/>
                <a:cs typeface="Arial"/>
              </a:defRPr>
            </a:pPr>
            <a:r>
              <a:rPr sz="1050" b="1">
                <a:solidFill>
                  <a:srgbClr val="006D77"/>
                </a:solidFill>
                <a:latin typeface="Arial"/>
                <a:ea typeface="Arial"/>
                <a:cs typeface="Arial"/>
              </a:rPr>
              <a:t>PROBLEM HYPOTHESIS</a:t>
            </a:r>
          </a:p>
        </p:txBody>
      </p:sp>
      <p:sp>
        <p:nvSpPr>
          <p:cNvPr id="2" name="The investigation decision">
            <a:extLst xmlns:a="http://schemas.openxmlformats.org/drawingml/2006/main">
              <a:ext uri="{FF2B5EF4-FFF2-40B4-BE49-F238E27FC236}">
                <a16:creationId xmlns:a16="http://schemas.microsoft.com/office/drawing/2014/main" id="{134182EF-2788-416F-9BAC-9483B243034A}"/>
              </a:ext>
            </a:extLst>
          </p:cNvPr>
          <p:cNvSpPr>
            <a:spLocks xmlns:a="http://schemas.openxmlformats.org/drawingml/2006/main" noGrp="1"/>
          </p:cNvSpPr>
          <p:nvPr/>
        </p:nvSpPr>
        <p:spPr>
          <a:xfrm xmlns:a="http://schemas.openxmlformats.org/drawingml/2006/main">
            <a:off x="628650" y="904875"/>
            <a:ext cx="109347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B3D"/>
                </a:solidFill>
                <a:latin typeface="Arial"/>
                <a:ea typeface="Arial"/>
                <a:cs typeface="Arial"/>
              </a:defRPr>
            </a:defPPr>
          </a:lstStyle>
          <a:p xmlns:a="http://schemas.openxmlformats.org/drawingml/2006/main">
            <a:pPr>
              <a:defRPr sz="3450" b="1">
                <a:solidFill>
                  <a:srgbClr val="142B3D"/>
                </a:solidFill>
                <a:latin typeface="Arial"/>
                <a:ea typeface="Arial"/>
                <a:cs typeface="Arial"/>
              </a:defRPr>
            </a:pPr>
            <a:r>
              <a:rPr sz="3450" b="1">
                <a:solidFill>
                  <a:srgbClr val="142B3D"/>
                </a:solidFill>
                <a:latin typeface="Arial"/>
                <a:ea typeface="Arial"/>
                <a:cs typeface="Arial"/>
              </a:rPr>
              <a:t>The investigation decision</a:t>
            </a:r>
          </a:p>
        </p:txBody>
      </p:sp>
      <p:sp>
        <p:nvSpPr>
          <p:cNvPr id="3" name="Which building should we review first?">
            <a:extLst xmlns:a="http://schemas.openxmlformats.org/drawingml/2006/main">
              <a:ext uri="{FF2B5EF4-FFF2-40B4-BE49-F238E27FC236}">
                <a16:creationId xmlns:a16="http://schemas.microsoft.com/office/drawing/2014/main" id="{1B1F736E-76D3-4F0D-9691-94441A2289EC}"/>
              </a:ext>
            </a:extLst>
          </p:cNvPr>
          <p:cNvSpPr>
            <a:spLocks xmlns:a="http://schemas.openxmlformats.org/drawingml/2006/main" noGrp="1"/>
          </p:cNvSpPr>
          <p:nvPr/>
        </p:nvSpPr>
        <p:spPr>
          <a:xfrm xmlns:a="http://schemas.openxmlformats.org/drawingml/2006/main">
            <a:off x="666750" y="214312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750" b="1">
                <a:solidFill>
                  <a:srgbClr val="006D77"/>
                </a:solidFill>
                <a:latin typeface="Arial"/>
                <a:ea typeface="Arial"/>
                <a:cs typeface="Arial"/>
              </a:defRPr>
            </a:defPPr>
          </a:lstStyle>
          <a:p xmlns:a="http://schemas.openxmlformats.org/drawingml/2006/main">
            <a:pPr>
              <a:defRPr sz="3750" b="1">
                <a:solidFill>
                  <a:srgbClr val="006D77"/>
                </a:solidFill>
                <a:latin typeface="Arial"/>
                <a:ea typeface="Arial"/>
                <a:cs typeface="Arial"/>
              </a:defRPr>
            </a:pPr>
            <a:r>
              <a:rPr sz="3750" b="1">
                <a:solidFill>
                  <a:srgbClr val="006D77"/>
                </a:solidFill>
                <a:latin typeface="Arial"/>
                <a:ea typeface="Arial"/>
                <a:cs typeface="Arial"/>
              </a:rPr>
              <a:t>Which building should we review first?</a:t>
            </a:r>
          </a:p>
        </p:txBody>
      </p:sp>
      <p:sp>
        <p:nvSpPr>
          <p:cNvPr id="4" name="Monthly records can sit across files, with un">
            <a:extLst xmlns:a="http://schemas.openxmlformats.org/drawingml/2006/main">
              <a:ext uri="{FF2B5EF4-FFF2-40B4-BE49-F238E27FC236}">
                <a16:creationId xmlns:a16="http://schemas.microsoft.com/office/drawing/2014/main" id="{3E312CF9-7818-4A4B-8BD9-C4F2D4BFD083}"/>
              </a:ext>
            </a:extLst>
          </p:cNvPr>
          <p:cNvSpPr>
            <a:spLocks xmlns:a="http://schemas.openxmlformats.org/drawingml/2006/main" noGrp="1"/>
          </p:cNvSpPr>
          <p:nvPr/>
        </p:nvSpPr>
        <p:spPr>
          <a:xfrm xmlns:a="http://schemas.openxmlformats.org/drawingml/2006/main">
            <a:off x="685800" y="3619500"/>
            <a:ext cx="9525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42B3D"/>
                </a:solidFill>
                <a:latin typeface="Arial"/>
                <a:ea typeface="Arial"/>
                <a:cs typeface="Arial"/>
              </a:defRPr>
            </a:defPPr>
          </a:lstStyle>
          <a:p xmlns:a="http://schemas.openxmlformats.org/drawingml/2006/main">
            <a:pPr>
              <a:defRPr sz="2250" b="0">
                <a:solidFill>
                  <a:srgbClr val="142B3D"/>
                </a:solidFill>
                <a:latin typeface="Arial"/>
                <a:ea typeface="Arial"/>
                <a:cs typeface="Arial"/>
              </a:defRPr>
            </a:pPr>
            <a:r>
              <a:rPr sz="2250" b="0">
                <a:solidFill>
                  <a:srgbClr val="142B3D"/>
                </a:solidFill>
                <a:latin typeface="Arial"/>
                <a:ea typeface="Arial"/>
                <a:cs typeface="Arial"/>
              </a:rPr>
              <a:t>Monthly records can sit across files, with unclear units, missing periods and limited follow-up.</a:t>
            </a:r>
          </a:p>
        </p:txBody>
      </p:sp>
      <p:sp>
        <p:nvSpPr>
          <p:cNvPr id="5" name="We will test this workflow problem with Latvi">
            <a:extLst xmlns:a="http://schemas.openxmlformats.org/drawingml/2006/main">
              <a:ext uri="{FF2B5EF4-FFF2-40B4-BE49-F238E27FC236}">
                <a16:creationId xmlns:a16="http://schemas.microsoft.com/office/drawing/2014/main" id="{CBBBA334-F5FD-4A89-8037-E4A206136C7F}"/>
              </a:ext>
            </a:extLst>
          </p:cNvPr>
          <p:cNvSpPr>
            <a:spLocks xmlns:a="http://schemas.openxmlformats.org/drawingml/2006/main" noGrp="1"/>
          </p:cNvSpPr>
          <p:nvPr/>
        </p:nvSpPr>
        <p:spPr>
          <a:xfrm xmlns:a="http://schemas.openxmlformats.org/drawingml/2006/main">
            <a:off x="685800" y="523875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776"/>
                </a:solidFill>
                <a:latin typeface="Arial"/>
                <a:ea typeface="Arial"/>
                <a:cs typeface="Arial"/>
              </a:defRPr>
            </a:defPPr>
          </a:lstStyle>
          <a:p xmlns:a="http://schemas.openxmlformats.org/drawingml/2006/main">
            <a:pPr>
              <a:defRPr sz="1725" b="0">
                <a:solidFill>
                  <a:srgbClr val="526776"/>
                </a:solidFill>
                <a:latin typeface="Arial"/>
                <a:ea typeface="Arial"/>
                <a:cs typeface="Arial"/>
              </a:defRPr>
            </a:pPr>
            <a:r>
              <a:rPr sz="1725" b="0">
                <a:solidFill>
                  <a:srgbClr val="526776"/>
                </a:solidFill>
                <a:latin typeface="Arial"/>
                <a:ea typeface="Arial"/>
                <a:cs typeface="Arial"/>
              </a:rPr>
              <a:t>We will test this workflow problem with Latvian apartment managers.</a:t>
            </a:r>
          </a:p>
        </p:txBody>
      </p:sp>
      <p:sp>
        <p:nvSpPr>
          <p:cNvPr id="6" name="Synthetic demo data — not measured customer r">
            <a:extLst xmlns:a="http://schemas.openxmlformats.org/drawingml/2006/main">
              <a:ext uri="{FF2B5EF4-FFF2-40B4-BE49-F238E27FC236}">
                <a16:creationId xmlns:a16="http://schemas.microsoft.com/office/drawing/2014/main" id="{C9EBC546-5219-4EEE-99EA-66ECC563F0EE}"/>
              </a:ext>
            </a:extLst>
          </p:cNvPr>
          <p:cNvSpPr>
            <a:spLocks xmlns:a="http://schemas.openxmlformats.org/drawingml/2006/main" noGrp="1"/>
          </p:cNvSpPr>
          <p:nvPr/>
        </p:nvSpPr>
        <p:spPr>
          <a:xfrm xmlns:a="http://schemas.openxmlformats.org/drawingml/2006/main">
            <a:off x="628650" y="643890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526776"/>
                </a:solidFill>
                <a:latin typeface="Arial"/>
                <a:ea typeface="Arial"/>
                <a:cs typeface="Arial"/>
              </a:defRPr>
            </a:defPPr>
          </a:lstStyle>
          <a:p xmlns:a="http://schemas.openxmlformats.org/drawingml/2006/main">
            <a:pPr>
              <a:defRPr sz="900" b="0">
                <a:solidFill>
                  <a:srgbClr val="526776"/>
                </a:solidFill>
                <a:latin typeface="Arial"/>
                <a:ea typeface="Arial"/>
                <a:cs typeface="Arial"/>
              </a:defRPr>
            </a:pPr>
            <a:r>
              <a:rPr sz="900" b="0">
                <a:solidFill>
                  <a:srgbClr val="526776"/>
                </a:solidFill>
                <a:latin typeface="Arial"/>
                <a:ea typeface="Arial"/>
                <a:cs typeface="Arial"/>
              </a:rPr>
              <a:t>Synthetic demo data — not measured customer results</a:t>
            </a:r>
          </a:p>
        </p:txBody>
      </p:sp>
      <p:sp>
        <p:nvSpPr>
          <p:cNvPr id="7" name="02">
            <a:extLst xmlns:a="http://schemas.openxmlformats.org/drawingml/2006/main">
              <a:ext uri="{FF2B5EF4-FFF2-40B4-BE49-F238E27FC236}">
                <a16:creationId xmlns:a16="http://schemas.microsoft.com/office/drawing/2014/main" id="{9A38AE44-B774-45CF-9F45-00D209634235}"/>
              </a:ext>
            </a:extLst>
          </p:cNvPr>
          <p:cNvSpPr>
            <a:spLocks xmlns:a="http://schemas.openxmlformats.org/drawingml/2006/main" noGrp="1"/>
          </p:cNvSpPr>
          <p:nvPr/>
        </p:nvSpPr>
        <p:spPr>
          <a:xfrm xmlns:a="http://schemas.openxmlformats.org/drawingml/2006/main">
            <a:off x="11144250" y="641985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776"/>
                </a:solidFill>
                <a:latin typeface="Arial"/>
                <a:ea typeface="Arial"/>
                <a:cs typeface="Arial"/>
              </a:defRPr>
            </a:defPPr>
          </a:lstStyle>
          <a:p xmlns:a="http://schemas.openxmlformats.org/drawingml/2006/main">
            <a:pPr>
              <a:defRPr sz="1125" b="0">
                <a:solidFill>
                  <a:srgbClr val="526776"/>
                </a:solidFill>
                <a:latin typeface="Arial"/>
                <a:ea typeface="Arial"/>
                <a:cs typeface="Arial"/>
              </a:defRPr>
            </a:pPr>
            <a:r>
              <a:rPr sz="1125" b="0">
                <a:solidFill>
                  <a:srgbClr val="526776"/>
                </a:solidFill>
                <a:latin typeface="Arial"/>
                <a:ea typeface="Arial"/>
                <a:cs typeface="Arial"/>
              </a:rPr>
              <a:t>02</a:t>
            </a:r>
          </a:p>
        </p:txBody>
      </p:sp>
    </p:spTree>
    <p:extLst>
      <p:ext uri="{BB962C8B-B14F-4D97-AF65-F5344CB8AC3E}">
        <p14:creationId xmlns:p14="http://schemas.microsoft.com/office/powerpoint/2010/main" val="1739867448"/>
      </p:ext>
    </p:extLst>
  </p:cSld>
</p:sld>
</file>

<file path=ppt/slides/slide3.xml><?xml version="1.0" encoding="utf-8"?>
<p:sld xmlns:p="http://schemas.openxmlformats.org/presentationml/2006/main">
  <p:cSld>
    <p:bg>
      <p:bgPr>
        <a:solidFill xmlns:a="http://schemas.openxmlformats.org/drawingml/2006/main">
          <a:srgbClr val="F4F7F8"/>
        </a:solidFill>
      </p:bgPr>
    </p:bg>
    <p:spTree>
      <p:nvGrpSpPr>
        <p:cNvPr id="1" name=""/>
        <p:cNvGrpSpPr/>
        <p:nvPr/>
      </p:nvGrpSpPr>
      <p:grpSpPr>
        <a:xfrm xmlns:a="http://schemas.openxmlformats.org/drawingml/2006/main"/>
      </p:grpSpPr>
      <p:sp>
        <p:nvSpPr>
          <p:cNvPr id="9" name="CUSTOMER DISCOVERY">
            <a:extLst xmlns:a="http://schemas.openxmlformats.org/drawingml/2006/main">
              <a:ext uri="{FF2B5EF4-FFF2-40B4-BE49-F238E27FC236}">
                <a16:creationId xmlns:a16="http://schemas.microsoft.com/office/drawing/2014/main" id="{9A817B2F-BF95-41AF-A8D1-A7CEC081A18E}"/>
              </a:ext>
            </a:extLst>
          </p:cNvPr>
          <p:cNvSpPr>
            <a:spLocks xmlns:a="http://schemas.openxmlformats.org/drawingml/2006/main" noGrp="1"/>
          </p:cNvSpPr>
          <p:nvPr/>
        </p:nvSpPr>
        <p:spPr>
          <a:xfrm xmlns:a="http://schemas.openxmlformats.org/drawingml/2006/main">
            <a:off x="628650" y="447675"/>
            <a:ext cx="10934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006D77"/>
                </a:solidFill>
                <a:latin typeface="Arial"/>
                <a:ea typeface="Arial"/>
                <a:cs typeface="Arial"/>
              </a:defRPr>
            </a:defPPr>
          </a:lstStyle>
          <a:p xmlns:a="http://schemas.openxmlformats.org/drawingml/2006/main">
            <a:pPr>
              <a:defRPr sz="1050" b="1">
                <a:solidFill>
                  <a:srgbClr val="006D77"/>
                </a:solidFill>
                <a:latin typeface="Arial"/>
                <a:ea typeface="Arial"/>
                <a:cs typeface="Arial"/>
              </a:defRPr>
            </a:pPr>
            <a:r>
              <a:rPr sz="1050" b="1">
                <a:solidFill>
                  <a:srgbClr val="006D77"/>
                </a:solidFill>
                <a:latin typeface="Arial"/>
                <a:ea typeface="Arial"/>
                <a:cs typeface="Arial"/>
              </a:rPr>
              <a:t>CUSTOMER DISCOVERY</a:t>
            </a:r>
          </a:p>
        </p:txBody>
      </p:sp>
      <p:sp>
        <p:nvSpPr>
          <p:cNvPr id="2" name="The first customer hypothesis">
            <a:extLst xmlns:a="http://schemas.openxmlformats.org/drawingml/2006/main">
              <a:ext uri="{FF2B5EF4-FFF2-40B4-BE49-F238E27FC236}">
                <a16:creationId xmlns:a16="http://schemas.microsoft.com/office/drawing/2014/main" id="{BC42F1D3-4E60-41C8-BBAC-9EF7EAAA4329}"/>
              </a:ext>
            </a:extLst>
          </p:cNvPr>
          <p:cNvSpPr>
            <a:spLocks xmlns:a="http://schemas.openxmlformats.org/drawingml/2006/main" noGrp="1"/>
          </p:cNvSpPr>
          <p:nvPr/>
        </p:nvSpPr>
        <p:spPr>
          <a:xfrm xmlns:a="http://schemas.openxmlformats.org/drawingml/2006/main">
            <a:off x="628650" y="904875"/>
            <a:ext cx="109347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B3D"/>
                </a:solidFill>
                <a:latin typeface="Arial"/>
                <a:ea typeface="Arial"/>
                <a:cs typeface="Arial"/>
              </a:defRPr>
            </a:defPPr>
          </a:lstStyle>
          <a:p xmlns:a="http://schemas.openxmlformats.org/drawingml/2006/main">
            <a:pPr>
              <a:defRPr sz="3450" b="1">
                <a:solidFill>
                  <a:srgbClr val="142B3D"/>
                </a:solidFill>
                <a:latin typeface="Arial"/>
                <a:ea typeface="Arial"/>
                <a:cs typeface="Arial"/>
              </a:defRPr>
            </a:pPr>
            <a:r>
              <a:rPr sz="3450" b="1">
                <a:solidFill>
                  <a:srgbClr val="142B3D"/>
                </a:solidFill>
                <a:latin typeface="Arial"/>
                <a:ea typeface="Arial"/>
                <a:cs typeface="Arial"/>
              </a:rPr>
              <a:t>The first customer hypothesis</a:t>
            </a:r>
          </a:p>
        </p:txBody>
      </p:sp>
      <p:sp>
        <p:nvSpPr>
          <p:cNvPr id="3" name="20–100 buildings in a professionally managed ">
            <a:extLst xmlns:a="http://schemas.openxmlformats.org/drawingml/2006/main">
              <a:ext uri="{FF2B5EF4-FFF2-40B4-BE49-F238E27FC236}">
                <a16:creationId xmlns:a16="http://schemas.microsoft.com/office/drawing/2014/main" id="{C1F98B89-C462-47E5-BE51-F9CDC2BFD794}"/>
              </a:ext>
            </a:extLst>
          </p:cNvPr>
          <p:cNvSpPr>
            <a:spLocks xmlns:a="http://schemas.openxmlformats.org/drawingml/2006/main" noGrp="1"/>
          </p:cNvSpPr>
          <p:nvPr/>
        </p:nvSpPr>
        <p:spPr>
          <a:xfrm xmlns:a="http://schemas.openxmlformats.org/drawingml/2006/main">
            <a:off x="685800" y="2047875"/>
            <a:ext cx="10191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006D77"/>
                </a:solidFill>
                <a:latin typeface="Arial"/>
                <a:ea typeface="Arial"/>
                <a:cs typeface="Arial"/>
              </a:defRPr>
            </a:defPPr>
          </a:lstStyle>
          <a:p xmlns:a="http://schemas.openxmlformats.org/drawingml/2006/main">
            <a:pPr>
              <a:defRPr sz="2700" b="1">
                <a:solidFill>
                  <a:srgbClr val="006D77"/>
                </a:solidFill>
                <a:latin typeface="Arial"/>
                <a:ea typeface="Arial"/>
                <a:cs typeface="Arial"/>
              </a:defRPr>
            </a:pPr>
            <a:r>
              <a:rPr sz="2700" b="1">
                <a:solidFill>
                  <a:srgbClr val="006D77"/>
                </a:solidFill>
                <a:latin typeface="Arial"/>
                <a:ea typeface="Arial"/>
                <a:cs typeface="Arial"/>
              </a:rPr>
              <a:t>20–100 buildings in a professionally managed apartment portfolio.</a:t>
            </a:r>
          </a:p>
        </p:txBody>
      </p:sp>
      <p:sp>
        <p:nvSpPr>
          <p:cNvPr id="4" name="Buyer: management company decision maker">
            <a:extLst xmlns:a="http://schemas.openxmlformats.org/drawingml/2006/main">
              <a:ext uri="{FF2B5EF4-FFF2-40B4-BE49-F238E27FC236}">
                <a16:creationId xmlns:a16="http://schemas.microsoft.com/office/drawing/2014/main" id="{485517B3-EBF8-4AFD-9738-E187C6EC4AC3}"/>
              </a:ext>
            </a:extLst>
          </p:cNvPr>
          <p:cNvSpPr>
            <a:spLocks xmlns:a="http://schemas.openxmlformats.org/drawingml/2006/main" noGrp="1"/>
          </p:cNvSpPr>
          <p:nvPr/>
        </p:nvSpPr>
        <p:spPr>
          <a:xfrm xmlns:a="http://schemas.openxmlformats.org/drawingml/2006/main">
            <a:off x="685800" y="34766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42B3D"/>
                </a:solidFill>
                <a:latin typeface="Arial"/>
                <a:ea typeface="Arial"/>
                <a:cs typeface="Arial"/>
              </a:defRPr>
            </a:defPPr>
          </a:lstStyle>
          <a:p xmlns:a="http://schemas.openxmlformats.org/drawingml/2006/main">
            <a:pPr>
              <a:defRPr sz="2175" b="0">
                <a:solidFill>
                  <a:srgbClr val="142B3D"/>
                </a:solidFill>
                <a:latin typeface="Arial"/>
                <a:ea typeface="Arial"/>
                <a:cs typeface="Arial"/>
              </a:defRPr>
            </a:pPr>
            <a:r>
              <a:rPr sz="2175" b="0">
                <a:solidFill>
                  <a:srgbClr val="142B3D"/>
                </a:solidFill>
                <a:latin typeface="Arial"/>
                <a:ea typeface="Arial"/>
                <a:cs typeface="Arial"/>
              </a:rPr>
              <a:t>Buyer: management company decision maker</a:t>
            </a:r>
          </a:p>
        </p:txBody>
      </p:sp>
      <p:sp>
        <p:nvSpPr>
          <p:cNvPr id="5" name="Daily user: portfolio manager or analyst">
            <a:extLst xmlns:a="http://schemas.openxmlformats.org/drawingml/2006/main">
              <a:ext uri="{FF2B5EF4-FFF2-40B4-BE49-F238E27FC236}">
                <a16:creationId xmlns:a16="http://schemas.microsoft.com/office/drawing/2014/main" id="{3BB9CAEA-633F-47C5-8CD5-88727B96AD53}"/>
              </a:ext>
            </a:extLst>
          </p:cNvPr>
          <p:cNvSpPr>
            <a:spLocks xmlns:a="http://schemas.openxmlformats.org/drawingml/2006/main" noGrp="1"/>
          </p:cNvSpPr>
          <p:nvPr/>
        </p:nvSpPr>
        <p:spPr>
          <a:xfrm xmlns:a="http://schemas.openxmlformats.org/drawingml/2006/main">
            <a:off x="685800" y="42386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42B3D"/>
                </a:solidFill>
                <a:latin typeface="Arial"/>
                <a:ea typeface="Arial"/>
                <a:cs typeface="Arial"/>
              </a:defRPr>
            </a:defPPr>
          </a:lstStyle>
          <a:p xmlns:a="http://schemas.openxmlformats.org/drawingml/2006/main">
            <a:pPr>
              <a:defRPr sz="2175" b="0">
                <a:solidFill>
                  <a:srgbClr val="142B3D"/>
                </a:solidFill>
                <a:latin typeface="Arial"/>
                <a:ea typeface="Arial"/>
                <a:cs typeface="Arial"/>
              </a:defRPr>
            </a:pPr>
            <a:r>
              <a:rPr sz="2175" b="0">
                <a:solidFill>
                  <a:srgbClr val="142B3D"/>
                </a:solidFill>
                <a:latin typeface="Arial"/>
                <a:ea typeface="Arial"/>
                <a:cs typeface="Arial"/>
              </a:rPr>
              <a:t>Daily user: portfolio manager or analyst</a:t>
            </a:r>
          </a:p>
        </p:txBody>
      </p:sp>
      <p:sp>
        <p:nvSpPr>
          <p:cNvPr id="6" name="Technical reviewer: local energy specialist">
            <a:extLst xmlns:a="http://schemas.openxmlformats.org/drawingml/2006/main">
              <a:ext uri="{FF2B5EF4-FFF2-40B4-BE49-F238E27FC236}">
                <a16:creationId xmlns:a16="http://schemas.microsoft.com/office/drawing/2014/main" id="{81A135AD-1553-4AA0-A9B5-B47B8B965588}"/>
              </a:ext>
            </a:extLst>
          </p:cNvPr>
          <p:cNvSpPr>
            <a:spLocks xmlns:a="http://schemas.openxmlformats.org/drawingml/2006/main" noGrp="1"/>
          </p:cNvSpPr>
          <p:nvPr/>
        </p:nvSpPr>
        <p:spPr>
          <a:xfrm xmlns:a="http://schemas.openxmlformats.org/drawingml/2006/main">
            <a:off x="685800" y="50006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42B3D"/>
                </a:solidFill>
                <a:latin typeface="Arial"/>
                <a:ea typeface="Arial"/>
                <a:cs typeface="Arial"/>
              </a:defRPr>
            </a:defPPr>
          </a:lstStyle>
          <a:p xmlns:a="http://schemas.openxmlformats.org/drawingml/2006/main">
            <a:pPr>
              <a:defRPr sz="2175" b="0">
                <a:solidFill>
                  <a:srgbClr val="142B3D"/>
                </a:solidFill>
                <a:latin typeface="Arial"/>
                <a:ea typeface="Arial"/>
                <a:cs typeface="Arial"/>
              </a:defRPr>
            </a:pPr>
            <a:r>
              <a:rPr sz="2175" b="0">
                <a:solidFill>
                  <a:srgbClr val="142B3D"/>
                </a:solidFill>
                <a:latin typeface="Arial"/>
                <a:ea typeface="Arial"/>
                <a:cs typeface="Arial"/>
              </a:rPr>
              <a:t>Technical reviewer: local energy specialist</a:t>
            </a:r>
          </a:p>
        </p:txBody>
      </p:sp>
      <p:sp>
        <p:nvSpPr>
          <p:cNvPr id="7" name="Synthetic demo data — not measured customer r">
            <a:extLst xmlns:a="http://schemas.openxmlformats.org/drawingml/2006/main">
              <a:ext uri="{FF2B5EF4-FFF2-40B4-BE49-F238E27FC236}">
                <a16:creationId xmlns:a16="http://schemas.microsoft.com/office/drawing/2014/main" id="{1F4A8440-089A-4C7A-85EE-50804FD1BF76}"/>
              </a:ext>
            </a:extLst>
          </p:cNvPr>
          <p:cNvSpPr>
            <a:spLocks xmlns:a="http://schemas.openxmlformats.org/drawingml/2006/main" noGrp="1"/>
          </p:cNvSpPr>
          <p:nvPr/>
        </p:nvSpPr>
        <p:spPr>
          <a:xfrm xmlns:a="http://schemas.openxmlformats.org/drawingml/2006/main">
            <a:off x="628650" y="643890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526776"/>
                </a:solidFill>
                <a:latin typeface="Arial"/>
                <a:ea typeface="Arial"/>
                <a:cs typeface="Arial"/>
              </a:defRPr>
            </a:defPPr>
          </a:lstStyle>
          <a:p xmlns:a="http://schemas.openxmlformats.org/drawingml/2006/main">
            <a:pPr>
              <a:defRPr sz="900" b="0">
                <a:solidFill>
                  <a:srgbClr val="526776"/>
                </a:solidFill>
                <a:latin typeface="Arial"/>
                <a:ea typeface="Arial"/>
                <a:cs typeface="Arial"/>
              </a:defRPr>
            </a:pPr>
            <a:r>
              <a:rPr sz="900" b="0">
                <a:solidFill>
                  <a:srgbClr val="526776"/>
                </a:solidFill>
                <a:latin typeface="Arial"/>
                <a:ea typeface="Arial"/>
                <a:cs typeface="Arial"/>
              </a:rPr>
              <a:t>Synthetic demo data — not measured customer results</a:t>
            </a:r>
          </a:p>
        </p:txBody>
      </p:sp>
      <p:sp>
        <p:nvSpPr>
          <p:cNvPr id="8" name="03">
            <a:extLst xmlns:a="http://schemas.openxmlformats.org/drawingml/2006/main">
              <a:ext uri="{FF2B5EF4-FFF2-40B4-BE49-F238E27FC236}">
                <a16:creationId xmlns:a16="http://schemas.microsoft.com/office/drawing/2014/main" id="{730158D8-5131-4C9C-B253-5D6A934F2820}"/>
              </a:ext>
            </a:extLst>
          </p:cNvPr>
          <p:cNvSpPr>
            <a:spLocks xmlns:a="http://schemas.openxmlformats.org/drawingml/2006/main" noGrp="1"/>
          </p:cNvSpPr>
          <p:nvPr/>
        </p:nvSpPr>
        <p:spPr>
          <a:xfrm xmlns:a="http://schemas.openxmlformats.org/drawingml/2006/main">
            <a:off x="11144250" y="641985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776"/>
                </a:solidFill>
                <a:latin typeface="Arial"/>
                <a:ea typeface="Arial"/>
                <a:cs typeface="Arial"/>
              </a:defRPr>
            </a:defPPr>
          </a:lstStyle>
          <a:p xmlns:a="http://schemas.openxmlformats.org/drawingml/2006/main">
            <a:pPr>
              <a:defRPr sz="1125" b="0">
                <a:solidFill>
                  <a:srgbClr val="526776"/>
                </a:solidFill>
                <a:latin typeface="Arial"/>
                <a:ea typeface="Arial"/>
                <a:cs typeface="Arial"/>
              </a:defRPr>
            </a:pPr>
            <a:r>
              <a:rPr sz="1125" b="0">
                <a:solidFill>
                  <a:srgbClr val="526776"/>
                </a:solidFill>
                <a:latin typeface="Arial"/>
                <a:ea typeface="Arial"/>
                <a:cs typeface="Arial"/>
              </a:rPr>
              <a:t>03</a:t>
            </a:r>
          </a:p>
        </p:txBody>
      </p:sp>
    </p:spTree>
    <p:extLst>
      <p:ext uri="{BB962C8B-B14F-4D97-AF65-F5344CB8AC3E}">
        <p14:creationId xmlns:p14="http://schemas.microsoft.com/office/powerpoint/2010/main" val="1277569539"/>
      </p:ext>
    </p:extLst>
  </p:cSld>
</p:sld>
</file>

<file path=ppt/slides/slide4.xml><?xml version="1.0" encoding="utf-8"?>
<p:sld xmlns:p="http://schemas.openxmlformats.org/presentationml/2006/main">
  <p:cSld>
    <p:bg>
      <p:bgPr>
        <a:solidFill xmlns:a="http://schemas.openxmlformats.org/drawingml/2006/main">
          <a:srgbClr val="F4F7F8"/>
        </a:solidFill>
      </p:bgPr>
    </p:bg>
    <p:spTree>
      <p:nvGrpSpPr>
        <p:cNvPr id="1" name=""/>
        <p:cNvGrpSpPr/>
        <p:nvPr/>
      </p:nvGrpSpPr>
      <p:grpSpPr>
        <a:xfrm xmlns:a="http://schemas.openxmlformats.org/drawingml/2006/main"/>
      </p:grpSpPr>
      <p:sp>
        <p:nvSpPr>
          <p:cNvPr id="9" name="HOW IT WORKS">
            <a:extLst xmlns:a="http://schemas.openxmlformats.org/drawingml/2006/main">
              <a:ext uri="{FF2B5EF4-FFF2-40B4-BE49-F238E27FC236}">
                <a16:creationId xmlns:a16="http://schemas.microsoft.com/office/drawing/2014/main" id="{4598003F-1865-4502-B205-6F51470EDD2F}"/>
              </a:ext>
            </a:extLst>
          </p:cNvPr>
          <p:cNvSpPr>
            <a:spLocks xmlns:a="http://schemas.openxmlformats.org/drawingml/2006/main" noGrp="1"/>
          </p:cNvSpPr>
          <p:nvPr/>
        </p:nvSpPr>
        <p:spPr>
          <a:xfrm xmlns:a="http://schemas.openxmlformats.org/drawingml/2006/main">
            <a:off x="628650" y="447675"/>
            <a:ext cx="10934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006D77"/>
                </a:solidFill>
                <a:latin typeface="Arial"/>
                <a:ea typeface="Arial"/>
                <a:cs typeface="Arial"/>
              </a:defRPr>
            </a:defPPr>
          </a:lstStyle>
          <a:p xmlns:a="http://schemas.openxmlformats.org/drawingml/2006/main">
            <a:pPr>
              <a:defRPr sz="1050" b="1">
                <a:solidFill>
                  <a:srgbClr val="006D77"/>
                </a:solidFill>
                <a:latin typeface="Arial"/>
                <a:ea typeface="Arial"/>
                <a:cs typeface="Arial"/>
              </a:defRPr>
            </a:pPr>
            <a:r>
              <a:rPr sz="1050" b="1">
                <a:solidFill>
                  <a:srgbClr val="006D77"/>
                </a:solidFill>
                <a:latin typeface="Arial"/>
                <a:ea typeface="Arial"/>
                <a:cs typeface="Arial"/>
              </a:rPr>
              <a:t>HOW IT WORKS</a:t>
            </a:r>
          </a:p>
        </p:txBody>
      </p:sp>
      <p:sp>
        <p:nvSpPr>
          <p:cNvPr id="2" name="A documented review workflow">
            <a:extLst xmlns:a="http://schemas.openxmlformats.org/drawingml/2006/main">
              <a:ext uri="{FF2B5EF4-FFF2-40B4-BE49-F238E27FC236}">
                <a16:creationId xmlns:a16="http://schemas.microsoft.com/office/drawing/2014/main" id="{C4564189-256E-4949-A60D-0CAE1B833D9D}"/>
              </a:ext>
            </a:extLst>
          </p:cNvPr>
          <p:cNvSpPr>
            <a:spLocks xmlns:a="http://schemas.openxmlformats.org/drawingml/2006/main" noGrp="1"/>
          </p:cNvSpPr>
          <p:nvPr/>
        </p:nvSpPr>
        <p:spPr>
          <a:xfrm xmlns:a="http://schemas.openxmlformats.org/drawingml/2006/main">
            <a:off x="628650" y="904875"/>
            <a:ext cx="109347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B3D"/>
                </a:solidFill>
                <a:latin typeface="Arial"/>
                <a:ea typeface="Arial"/>
                <a:cs typeface="Arial"/>
              </a:defRPr>
            </a:defPPr>
          </a:lstStyle>
          <a:p xmlns:a="http://schemas.openxmlformats.org/drawingml/2006/main">
            <a:pPr>
              <a:defRPr sz="3450" b="1">
                <a:solidFill>
                  <a:srgbClr val="142B3D"/>
                </a:solidFill>
                <a:latin typeface="Arial"/>
                <a:ea typeface="Arial"/>
                <a:cs typeface="Arial"/>
              </a:defRPr>
            </a:pPr>
            <a:r>
              <a:rPr sz="3450" b="1">
                <a:solidFill>
                  <a:srgbClr val="142B3D"/>
                </a:solidFill>
                <a:latin typeface="Arial"/>
                <a:ea typeface="Arial"/>
                <a:cs typeface="Arial"/>
              </a:rPr>
              <a:t>A documented review workflow</a:t>
            </a:r>
          </a:p>
        </p:txBody>
      </p:sp>
      <p:sp>
        <p:nvSpPr>
          <p:cNvPr id="3" name="01  Import and validate monthly CSV/XLSX">
            <a:extLst xmlns:a="http://schemas.openxmlformats.org/drawingml/2006/main">
              <a:ext uri="{FF2B5EF4-FFF2-40B4-BE49-F238E27FC236}">
                <a16:creationId xmlns:a16="http://schemas.microsoft.com/office/drawing/2014/main" id="{2D78941C-C23A-4F90-8C61-3C8670BC878A}"/>
              </a:ext>
            </a:extLst>
          </p:cNvPr>
          <p:cNvSpPr>
            <a:spLocks xmlns:a="http://schemas.openxmlformats.org/drawingml/2006/main" noGrp="1"/>
          </p:cNvSpPr>
          <p:nvPr/>
        </p:nvSpPr>
        <p:spPr>
          <a:xfrm xmlns:a="http://schemas.openxmlformats.org/drawingml/2006/main">
            <a:off x="685800" y="2190750"/>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006D77"/>
                </a:solidFill>
                <a:latin typeface="Arial"/>
                <a:ea typeface="Arial"/>
                <a:cs typeface="Arial"/>
              </a:defRPr>
            </a:defPPr>
          </a:lstStyle>
          <a:p xmlns:a="http://schemas.openxmlformats.org/drawingml/2006/main">
            <a:pPr>
              <a:defRPr sz="2550" b="1">
                <a:solidFill>
                  <a:srgbClr val="006D77"/>
                </a:solidFill>
                <a:latin typeface="Arial"/>
                <a:ea typeface="Arial"/>
                <a:cs typeface="Arial"/>
              </a:defRPr>
            </a:pPr>
            <a:r>
              <a:rPr sz="2550" b="1">
                <a:solidFill>
                  <a:srgbClr val="006D77"/>
                </a:solidFill>
                <a:latin typeface="Arial"/>
                <a:ea typeface="Arial"/>
                <a:cs typeface="Arial"/>
              </a:rPr>
              <a:t>01  Import and validate monthly CSV/XLSX</a:t>
            </a:r>
          </a:p>
        </p:txBody>
      </p:sp>
      <p:sp>
        <p:nvSpPr>
          <p:cNvPr id="4" name="02  Calculate a weather reference with the en">
            <a:extLst xmlns:a="http://schemas.openxmlformats.org/drawingml/2006/main">
              <a:ext uri="{FF2B5EF4-FFF2-40B4-BE49-F238E27FC236}">
                <a16:creationId xmlns:a16="http://schemas.microsoft.com/office/drawing/2014/main" id="{812CA9FC-28CC-4195-8CE1-8B358841496A}"/>
              </a:ext>
            </a:extLst>
          </p:cNvPr>
          <p:cNvSpPr>
            <a:spLocks xmlns:a="http://schemas.openxmlformats.org/drawingml/2006/main" noGrp="1"/>
          </p:cNvSpPr>
          <p:nvPr/>
        </p:nvSpPr>
        <p:spPr>
          <a:xfrm xmlns:a="http://schemas.openxmlformats.org/drawingml/2006/main">
            <a:off x="685800" y="3095625"/>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526776"/>
                </a:solidFill>
                <a:latin typeface="Arial"/>
                <a:ea typeface="Arial"/>
                <a:cs typeface="Arial"/>
              </a:defRPr>
            </a:defPPr>
          </a:lstStyle>
          <a:p xmlns:a="http://schemas.openxmlformats.org/drawingml/2006/main">
            <a:pPr>
              <a:defRPr sz="2550" b="0">
                <a:solidFill>
                  <a:srgbClr val="526776"/>
                </a:solidFill>
                <a:latin typeface="Arial"/>
                <a:ea typeface="Arial"/>
                <a:cs typeface="Arial"/>
              </a:defRPr>
            </a:pPr>
            <a:r>
              <a:rPr sz="2550" b="0">
                <a:solidFill>
                  <a:srgbClr val="526776"/>
                </a:solidFill>
                <a:latin typeface="Arial"/>
                <a:ea typeface="Arial"/>
                <a:cs typeface="Arial"/>
              </a:rPr>
              <a:t>02  Calculate a weather reference with the engine</a:t>
            </a:r>
          </a:p>
        </p:txBody>
      </p:sp>
      <p:sp>
        <p:nvSpPr>
          <p:cNvPr id="5" name="03  Review optional Claude explanations and d">
            <a:extLst xmlns:a="http://schemas.openxmlformats.org/drawingml/2006/main">
              <a:ext uri="{FF2B5EF4-FFF2-40B4-BE49-F238E27FC236}">
                <a16:creationId xmlns:a16="http://schemas.microsoft.com/office/drawing/2014/main" id="{89133EE1-96E7-4258-9380-50EA853C6798}"/>
              </a:ext>
            </a:extLst>
          </p:cNvPr>
          <p:cNvSpPr>
            <a:spLocks xmlns:a="http://schemas.openxmlformats.org/drawingml/2006/main" noGrp="1"/>
          </p:cNvSpPr>
          <p:nvPr/>
        </p:nvSpPr>
        <p:spPr>
          <a:xfrm xmlns:a="http://schemas.openxmlformats.org/drawingml/2006/main">
            <a:off x="685800" y="4000500"/>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006D77"/>
                </a:solidFill>
                <a:latin typeface="Arial"/>
                <a:ea typeface="Arial"/>
                <a:cs typeface="Arial"/>
              </a:defRPr>
            </a:defPPr>
          </a:lstStyle>
          <a:p xmlns:a="http://schemas.openxmlformats.org/drawingml/2006/main">
            <a:pPr>
              <a:defRPr sz="2550" b="1">
                <a:solidFill>
                  <a:srgbClr val="006D77"/>
                </a:solidFill>
                <a:latin typeface="Arial"/>
                <a:ea typeface="Arial"/>
                <a:cs typeface="Arial"/>
              </a:defRPr>
            </a:pPr>
            <a:r>
              <a:rPr sz="2550" b="1">
                <a:solidFill>
                  <a:srgbClr val="006D77"/>
                </a:solidFill>
                <a:latin typeface="Arial"/>
                <a:ea typeface="Arial"/>
                <a:cs typeface="Arial"/>
              </a:rPr>
              <a:t>03  Review optional Claude explanations and drafts</a:t>
            </a:r>
          </a:p>
        </p:txBody>
      </p:sp>
      <p:sp>
        <p:nvSpPr>
          <p:cNvPr id="6" name="04  Explicitly approve tasks and track eviden">
            <a:extLst xmlns:a="http://schemas.openxmlformats.org/drawingml/2006/main">
              <a:ext uri="{FF2B5EF4-FFF2-40B4-BE49-F238E27FC236}">
                <a16:creationId xmlns:a16="http://schemas.microsoft.com/office/drawing/2014/main" id="{2A6A33AB-ABEE-4252-9D5B-2AE7F1A6F6CC}"/>
              </a:ext>
            </a:extLst>
          </p:cNvPr>
          <p:cNvSpPr>
            <a:spLocks xmlns:a="http://schemas.openxmlformats.org/drawingml/2006/main" noGrp="1"/>
          </p:cNvSpPr>
          <p:nvPr/>
        </p:nvSpPr>
        <p:spPr>
          <a:xfrm xmlns:a="http://schemas.openxmlformats.org/drawingml/2006/main">
            <a:off x="685800" y="4905375"/>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526776"/>
                </a:solidFill>
                <a:latin typeface="Arial"/>
                <a:ea typeface="Arial"/>
                <a:cs typeface="Arial"/>
              </a:defRPr>
            </a:defPPr>
          </a:lstStyle>
          <a:p xmlns:a="http://schemas.openxmlformats.org/drawingml/2006/main">
            <a:pPr>
              <a:defRPr sz="2550" b="0">
                <a:solidFill>
                  <a:srgbClr val="526776"/>
                </a:solidFill>
                <a:latin typeface="Arial"/>
                <a:ea typeface="Arial"/>
                <a:cs typeface="Arial"/>
              </a:defRPr>
            </a:pPr>
            <a:r>
              <a:rPr sz="2550" b="0">
                <a:solidFill>
                  <a:srgbClr val="526776"/>
                </a:solidFill>
                <a:latin typeface="Arial"/>
                <a:ea typeface="Arial"/>
                <a:cs typeface="Arial"/>
              </a:rPr>
              <a:t>04  Explicitly approve tasks and track evidence</a:t>
            </a:r>
          </a:p>
        </p:txBody>
      </p:sp>
      <p:sp>
        <p:nvSpPr>
          <p:cNvPr id="7" name="Synthetic demo data — not measured customer r">
            <a:extLst xmlns:a="http://schemas.openxmlformats.org/drawingml/2006/main">
              <a:ext uri="{FF2B5EF4-FFF2-40B4-BE49-F238E27FC236}">
                <a16:creationId xmlns:a16="http://schemas.microsoft.com/office/drawing/2014/main" id="{98047326-9E73-485D-A56B-85409F9CA0DE}"/>
              </a:ext>
            </a:extLst>
          </p:cNvPr>
          <p:cNvSpPr>
            <a:spLocks xmlns:a="http://schemas.openxmlformats.org/drawingml/2006/main" noGrp="1"/>
          </p:cNvSpPr>
          <p:nvPr/>
        </p:nvSpPr>
        <p:spPr>
          <a:xfrm xmlns:a="http://schemas.openxmlformats.org/drawingml/2006/main">
            <a:off x="628650" y="643890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526776"/>
                </a:solidFill>
                <a:latin typeface="Arial"/>
                <a:ea typeface="Arial"/>
                <a:cs typeface="Arial"/>
              </a:defRPr>
            </a:defPPr>
          </a:lstStyle>
          <a:p xmlns:a="http://schemas.openxmlformats.org/drawingml/2006/main">
            <a:pPr>
              <a:defRPr sz="900" b="0">
                <a:solidFill>
                  <a:srgbClr val="526776"/>
                </a:solidFill>
                <a:latin typeface="Arial"/>
                <a:ea typeface="Arial"/>
                <a:cs typeface="Arial"/>
              </a:defRPr>
            </a:pPr>
            <a:r>
              <a:rPr sz="900" b="0">
                <a:solidFill>
                  <a:srgbClr val="526776"/>
                </a:solidFill>
                <a:latin typeface="Arial"/>
                <a:ea typeface="Arial"/>
                <a:cs typeface="Arial"/>
              </a:rPr>
              <a:t>Synthetic demo data — not measured customer results</a:t>
            </a:r>
          </a:p>
        </p:txBody>
      </p:sp>
      <p:sp>
        <p:nvSpPr>
          <p:cNvPr id="8" name="04">
            <a:extLst xmlns:a="http://schemas.openxmlformats.org/drawingml/2006/main">
              <a:ext uri="{FF2B5EF4-FFF2-40B4-BE49-F238E27FC236}">
                <a16:creationId xmlns:a16="http://schemas.microsoft.com/office/drawing/2014/main" id="{58FFD8D0-981E-4FC5-B122-650A8BAEE6D4}"/>
              </a:ext>
            </a:extLst>
          </p:cNvPr>
          <p:cNvSpPr>
            <a:spLocks xmlns:a="http://schemas.openxmlformats.org/drawingml/2006/main" noGrp="1"/>
          </p:cNvSpPr>
          <p:nvPr/>
        </p:nvSpPr>
        <p:spPr>
          <a:xfrm xmlns:a="http://schemas.openxmlformats.org/drawingml/2006/main">
            <a:off x="11144250" y="641985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776"/>
                </a:solidFill>
                <a:latin typeface="Arial"/>
                <a:ea typeface="Arial"/>
                <a:cs typeface="Arial"/>
              </a:defRPr>
            </a:defPPr>
          </a:lstStyle>
          <a:p xmlns:a="http://schemas.openxmlformats.org/drawingml/2006/main">
            <a:pPr>
              <a:defRPr sz="1125" b="0">
                <a:solidFill>
                  <a:srgbClr val="526776"/>
                </a:solidFill>
                <a:latin typeface="Arial"/>
                <a:ea typeface="Arial"/>
                <a:cs typeface="Arial"/>
              </a:defRPr>
            </a:pPr>
            <a:r>
              <a:rPr sz="1125" b="0">
                <a:solidFill>
                  <a:srgbClr val="526776"/>
                </a:solidFill>
                <a:latin typeface="Arial"/>
                <a:ea typeface="Arial"/>
                <a:cs typeface="Arial"/>
              </a:rPr>
              <a:t>04</a:t>
            </a:r>
          </a:p>
        </p:txBody>
      </p:sp>
    </p:spTree>
    <p:extLst>
      <p:ext uri="{BB962C8B-B14F-4D97-AF65-F5344CB8AC3E}">
        <p14:creationId xmlns:p14="http://schemas.microsoft.com/office/powerpoint/2010/main" val="1226306500"/>
      </p:ext>
    </p:extLst>
  </p:cSld>
</p:sld>
</file>

<file path=ppt/slides/slide5.xml><?xml version="1.0" encoding="utf-8"?>
<p:sld xmlns:p="http://schemas.openxmlformats.org/presentationml/2006/main">
  <p:cSld>
    <p:bg>
      <p:bgPr>
        <a:solidFill xmlns:a="http://schemas.openxmlformats.org/drawingml/2006/main">
          <a:srgbClr val="F4F7F8"/>
        </a:solidFill>
      </p:bgPr>
    </p:bg>
    <p:spTree>
      <p:nvGrpSpPr>
        <p:cNvPr id="1" name=""/>
        <p:cNvGrpSpPr/>
        <p:nvPr/>
      </p:nvGrpSpPr>
      <p:grpSpPr>
        <a:xfrm xmlns:a="http://schemas.openxmlformats.org/drawingml/2006/main"/>
      </p:grpSpPr>
      <p:sp>
        <p:nvSpPr>
          <p:cNvPr id="12" name="LOCAL PRODUCT DEMONSTRATION">
            <a:extLst xmlns:a="http://schemas.openxmlformats.org/drawingml/2006/main">
              <a:ext uri="{FF2B5EF4-FFF2-40B4-BE49-F238E27FC236}">
                <a16:creationId xmlns:a16="http://schemas.microsoft.com/office/drawing/2014/main" id="{8C36F0C4-55EB-4F52-A59B-3CF26AD775EB}"/>
              </a:ext>
            </a:extLst>
          </p:cNvPr>
          <p:cNvSpPr>
            <a:spLocks xmlns:a="http://schemas.openxmlformats.org/drawingml/2006/main" noGrp="1"/>
          </p:cNvSpPr>
          <p:nvPr/>
        </p:nvSpPr>
        <p:spPr>
          <a:xfrm xmlns:a="http://schemas.openxmlformats.org/drawingml/2006/main">
            <a:off x="628650" y="447675"/>
            <a:ext cx="10934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006D77"/>
                </a:solidFill>
                <a:latin typeface="Arial"/>
                <a:ea typeface="Arial"/>
                <a:cs typeface="Arial"/>
              </a:defRPr>
            </a:defPPr>
          </a:lstStyle>
          <a:p xmlns:a="http://schemas.openxmlformats.org/drawingml/2006/main">
            <a:pPr>
              <a:defRPr sz="1050" b="1">
                <a:solidFill>
                  <a:srgbClr val="006D77"/>
                </a:solidFill>
                <a:latin typeface="Arial"/>
                <a:ea typeface="Arial"/>
                <a:cs typeface="Arial"/>
              </a:defRPr>
            </a:pPr>
            <a:r>
              <a:rPr sz="1050" b="1">
                <a:solidFill>
                  <a:srgbClr val="006D77"/>
                </a:solidFill>
                <a:latin typeface="Arial"/>
                <a:ea typeface="Arial"/>
                <a:cs typeface="Arial"/>
              </a:rPr>
              <a:t>LOCAL PRODUCT DEMONSTRATION</a:t>
            </a:r>
          </a:p>
        </p:txBody>
      </p:sp>
      <p:sp>
        <p:nvSpPr>
          <p:cNvPr id="2" name="A working synthetic portfolio">
            <a:extLst xmlns:a="http://schemas.openxmlformats.org/drawingml/2006/main">
              <a:ext uri="{FF2B5EF4-FFF2-40B4-BE49-F238E27FC236}">
                <a16:creationId xmlns:a16="http://schemas.microsoft.com/office/drawing/2014/main" id="{256DD5D5-1386-4D6F-ABCE-F7955FECE194}"/>
              </a:ext>
            </a:extLst>
          </p:cNvPr>
          <p:cNvSpPr>
            <a:spLocks xmlns:a="http://schemas.openxmlformats.org/drawingml/2006/main" noGrp="1"/>
          </p:cNvSpPr>
          <p:nvPr/>
        </p:nvSpPr>
        <p:spPr>
          <a:xfrm xmlns:a="http://schemas.openxmlformats.org/drawingml/2006/main">
            <a:off x="628650" y="904875"/>
            <a:ext cx="109347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B3D"/>
                </a:solidFill>
                <a:latin typeface="Arial"/>
                <a:ea typeface="Arial"/>
                <a:cs typeface="Arial"/>
              </a:defRPr>
            </a:defPPr>
          </a:lstStyle>
          <a:p xmlns:a="http://schemas.openxmlformats.org/drawingml/2006/main">
            <a:pPr>
              <a:defRPr sz="3450" b="1">
                <a:solidFill>
                  <a:srgbClr val="142B3D"/>
                </a:solidFill>
                <a:latin typeface="Arial"/>
                <a:ea typeface="Arial"/>
                <a:cs typeface="Arial"/>
              </a:defRPr>
            </a:pPr>
            <a:r>
              <a:rPr sz="3450" b="1">
                <a:solidFill>
                  <a:srgbClr val="142B3D"/>
                </a:solidFill>
                <a:latin typeface="Arial"/>
                <a:ea typeface="Arial"/>
                <a:cs typeface="Arial"/>
              </a:rPr>
              <a:t>A working synthetic portfolio</a:t>
            </a:r>
          </a:p>
        </p:txBody>
      </p:sp>
      <p:pic>
        <p:nvPicPr>
          <p:cNvPr id="3" name="">
            <a:extLst xmlns:a="http://schemas.openxmlformats.org/drawingml/2006/main">
              <a:ext uri="{FF2B5EF4-FFF2-40B4-BE49-F238E27FC236}">
                <a16:creationId xmlns:a16="http://schemas.microsoft.com/office/drawing/2014/main" id="{18A673CE-58BA-42FB-B4D8-FD802B00C995}"/>
              </a:ext>
            </a:extLst>
          </p:cNvPr>
          <p:cNvPicPr>
            <a:picLocks xmlns:a="http://schemas.openxmlformats.org/drawingml/2006/main" noChangeAspect="1"/>
          </p:cNvPicPr>
          <p:nvPr/>
        </p:nvPicPr>
        <p:blipFill>
          <a:blip xmlns:r="http://schemas.openxmlformats.org/officeDocument/2006/relationships" xmlns:a="http://schemas.openxmlformats.org/drawingml/2006/main" r:embed="Ref1080fce7b14b5d"/>
          <a:stretch xmlns:a="http://schemas.openxmlformats.org/drawingml/2006/main"/>
        </p:blipFill>
        <p:spPr>
          <a:xfrm xmlns:a="http://schemas.openxmlformats.org/drawingml/2006/main">
            <a:off x="628650" y="1809750"/>
            <a:ext cx="7162800" cy="4476750"/>
          </a:xfrm>
          <a:prstGeom xmlns:a="http://schemas.openxmlformats.org/drawingml/2006/main" prst="rect">
            <a:avLst/>
          </a:prstGeom>
        </p:spPr>
      </p:pic>
      <p:sp>
        <p:nvSpPr>
          <p:cNvPr id="4" name="12">
            <a:extLst xmlns:a="http://schemas.openxmlformats.org/drawingml/2006/main">
              <a:ext uri="{FF2B5EF4-FFF2-40B4-BE49-F238E27FC236}">
                <a16:creationId xmlns:a16="http://schemas.microsoft.com/office/drawing/2014/main" id="{10459CF8-06E4-4034-9B77-C41BAE9E66F6}"/>
              </a:ext>
            </a:extLst>
          </p:cNvPr>
          <p:cNvSpPr>
            <a:spLocks xmlns:a="http://schemas.openxmlformats.org/drawingml/2006/main" noGrp="1"/>
          </p:cNvSpPr>
          <p:nvPr/>
        </p:nvSpPr>
        <p:spPr>
          <a:xfrm xmlns:a="http://schemas.openxmlformats.org/drawingml/2006/main">
            <a:off x="9525000" y="2095500"/>
            <a:ext cx="1809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350" b="1">
                <a:solidFill>
                  <a:srgbClr val="006D77"/>
                </a:solidFill>
                <a:latin typeface="Arial"/>
                <a:ea typeface="Arial"/>
                <a:cs typeface="Arial"/>
              </a:defRPr>
            </a:defPPr>
          </a:lstStyle>
          <a:p xmlns:a="http://schemas.openxmlformats.org/drawingml/2006/main">
            <a:pPr>
              <a:defRPr sz="4350" b="1">
                <a:solidFill>
                  <a:srgbClr val="006D77"/>
                </a:solidFill>
                <a:latin typeface="Arial"/>
                <a:ea typeface="Arial"/>
                <a:cs typeface="Arial"/>
              </a:defRPr>
            </a:pPr>
            <a:r>
              <a:rPr sz="4350" b="1">
                <a:solidFill>
                  <a:srgbClr val="006D77"/>
                </a:solidFill>
                <a:latin typeface="Arial"/>
                <a:ea typeface="Arial"/>
                <a:cs typeface="Arial"/>
              </a:rPr>
              <a:t>12</a:t>
            </a:r>
          </a:p>
        </p:txBody>
      </p:sp>
      <p:sp>
        <p:nvSpPr>
          <p:cNvPr id="5" name="synthetic buildings">
            <a:extLst xmlns:a="http://schemas.openxmlformats.org/drawingml/2006/main">
              <a:ext uri="{FF2B5EF4-FFF2-40B4-BE49-F238E27FC236}">
                <a16:creationId xmlns:a16="http://schemas.microsoft.com/office/drawing/2014/main" id="{151DC4F5-6ADF-4988-A42F-044A07678FC6}"/>
              </a:ext>
            </a:extLst>
          </p:cNvPr>
          <p:cNvSpPr>
            <a:spLocks xmlns:a="http://schemas.openxmlformats.org/drawingml/2006/main" noGrp="1"/>
          </p:cNvSpPr>
          <p:nvPr/>
        </p:nvSpPr>
        <p:spPr>
          <a:xfrm xmlns:a="http://schemas.openxmlformats.org/drawingml/2006/main">
            <a:off x="9525000" y="2790825"/>
            <a:ext cx="200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26776"/>
                </a:solidFill>
                <a:latin typeface="Arial"/>
                <a:ea typeface="Arial"/>
                <a:cs typeface="Arial"/>
              </a:defRPr>
            </a:defPPr>
          </a:lstStyle>
          <a:p xmlns:a="http://schemas.openxmlformats.org/drawingml/2006/main">
            <a:pPr>
              <a:defRPr sz="1425" b="0">
                <a:solidFill>
                  <a:srgbClr val="526776"/>
                </a:solidFill>
                <a:latin typeface="Arial"/>
                <a:ea typeface="Arial"/>
                <a:cs typeface="Arial"/>
              </a:defRPr>
            </a:pPr>
            <a:r>
              <a:rPr sz="1425" b="0">
                <a:solidFill>
                  <a:srgbClr val="526776"/>
                </a:solidFill>
                <a:latin typeface="Arial"/>
                <a:ea typeface="Arial"/>
                <a:cs typeface="Arial"/>
              </a:rPr>
              <a:t>synthetic buildings</a:t>
            </a:r>
          </a:p>
        </p:txBody>
      </p:sp>
      <p:sp>
        <p:nvSpPr>
          <p:cNvPr id="6" name="11">
            <a:extLst xmlns:a="http://schemas.openxmlformats.org/drawingml/2006/main">
              <a:ext uri="{FF2B5EF4-FFF2-40B4-BE49-F238E27FC236}">
                <a16:creationId xmlns:a16="http://schemas.microsoft.com/office/drawing/2014/main" id="{1C9AC8CC-2323-474E-90B0-B10E9A37DDD2}"/>
              </a:ext>
            </a:extLst>
          </p:cNvPr>
          <p:cNvSpPr>
            <a:spLocks xmlns:a="http://schemas.openxmlformats.org/drawingml/2006/main" noGrp="1"/>
          </p:cNvSpPr>
          <p:nvPr/>
        </p:nvSpPr>
        <p:spPr>
          <a:xfrm xmlns:a="http://schemas.openxmlformats.org/drawingml/2006/main">
            <a:off x="9525000" y="3333750"/>
            <a:ext cx="1809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350" b="1">
                <a:solidFill>
                  <a:srgbClr val="006D77"/>
                </a:solidFill>
                <a:latin typeface="Arial"/>
                <a:ea typeface="Arial"/>
                <a:cs typeface="Arial"/>
              </a:defRPr>
            </a:defPPr>
          </a:lstStyle>
          <a:p xmlns:a="http://schemas.openxmlformats.org/drawingml/2006/main">
            <a:pPr>
              <a:defRPr sz="4350" b="1">
                <a:solidFill>
                  <a:srgbClr val="006D77"/>
                </a:solidFill>
                <a:latin typeface="Arial"/>
                <a:ea typeface="Arial"/>
                <a:cs typeface="Arial"/>
              </a:defRPr>
            </a:pPr>
            <a:r>
              <a:rPr sz="4350" b="1">
                <a:solidFill>
                  <a:srgbClr val="006D77"/>
                </a:solidFill>
                <a:latin typeface="Arial"/>
                <a:ea typeface="Arial"/>
                <a:cs typeface="Arial"/>
              </a:rPr>
              <a:t>11</a:t>
            </a:r>
          </a:p>
        </p:txBody>
      </p:sp>
      <p:sp>
        <p:nvSpPr>
          <p:cNvPr id="7" name="usable references">
            <a:extLst xmlns:a="http://schemas.openxmlformats.org/drawingml/2006/main">
              <a:ext uri="{FF2B5EF4-FFF2-40B4-BE49-F238E27FC236}">
                <a16:creationId xmlns:a16="http://schemas.microsoft.com/office/drawing/2014/main" id="{7166322D-6627-4CBD-8ABB-9F7B74AA2CFB}"/>
              </a:ext>
            </a:extLst>
          </p:cNvPr>
          <p:cNvSpPr>
            <a:spLocks xmlns:a="http://schemas.openxmlformats.org/drawingml/2006/main" noGrp="1"/>
          </p:cNvSpPr>
          <p:nvPr/>
        </p:nvSpPr>
        <p:spPr>
          <a:xfrm xmlns:a="http://schemas.openxmlformats.org/drawingml/2006/main">
            <a:off x="9525000" y="4029075"/>
            <a:ext cx="200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26776"/>
                </a:solidFill>
                <a:latin typeface="Arial"/>
                <a:ea typeface="Arial"/>
                <a:cs typeface="Arial"/>
              </a:defRPr>
            </a:defPPr>
          </a:lstStyle>
          <a:p xmlns:a="http://schemas.openxmlformats.org/drawingml/2006/main">
            <a:pPr>
              <a:defRPr sz="1425" b="0">
                <a:solidFill>
                  <a:srgbClr val="526776"/>
                </a:solidFill>
                <a:latin typeface="Arial"/>
                <a:ea typeface="Arial"/>
                <a:cs typeface="Arial"/>
              </a:defRPr>
            </a:pPr>
            <a:r>
              <a:rPr sz="1425" b="0">
                <a:solidFill>
                  <a:srgbClr val="526776"/>
                </a:solidFill>
                <a:latin typeface="Arial"/>
                <a:ea typeface="Arial"/>
                <a:cs typeface="Arial"/>
              </a:rPr>
              <a:t>usable references</a:t>
            </a:r>
          </a:p>
        </p:txBody>
      </p:sp>
      <p:sp>
        <p:nvSpPr>
          <p:cNvPr id="8" name="1">
            <a:extLst xmlns:a="http://schemas.openxmlformats.org/drawingml/2006/main">
              <a:ext uri="{FF2B5EF4-FFF2-40B4-BE49-F238E27FC236}">
                <a16:creationId xmlns:a16="http://schemas.microsoft.com/office/drawing/2014/main" id="{4C71114E-B42C-42BF-A165-8846E10C2928}"/>
              </a:ext>
            </a:extLst>
          </p:cNvPr>
          <p:cNvSpPr>
            <a:spLocks xmlns:a="http://schemas.openxmlformats.org/drawingml/2006/main" noGrp="1"/>
          </p:cNvSpPr>
          <p:nvPr/>
        </p:nvSpPr>
        <p:spPr>
          <a:xfrm xmlns:a="http://schemas.openxmlformats.org/drawingml/2006/main">
            <a:off x="9525000" y="4572000"/>
            <a:ext cx="1809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350" b="1">
                <a:solidFill>
                  <a:srgbClr val="006D77"/>
                </a:solidFill>
                <a:latin typeface="Arial"/>
                <a:ea typeface="Arial"/>
                <a:cs typeface="Arial"/>
              </a:defRPr>
            </a:defPPr>
          </a:lstStyle>
          <a:p xmlns:a="http://schemas.openxmlformats.org/drawingml/2006/main">
            <a:pPr>
              <a:defRPr sz="4350" b="1">
                <a:solidFill>
                  <a:srgbClr val="006D77"/>
                </a:solidFill>
                <a:latin typeface="Arial"/>
                <a:ea typeface="Arial"/>
                <a:cs typeface="Arial"/>
              </a:defRPr>
            </a:pPr>
            <a:r>
              <a:rPr sz="4350" b="1">
                <a:solidFill>
                  <a:srgbClr val="006D77"/>
                </a:solidFill>
                <a:latin typeface="Arial"/>
                <a:ea typeface="Arial"/>
                <a:cs typeface="Arial"/>
              </a:rPr>
              <a:t>1</a:t>
            </a:r>
          </a:p>
        </p:txBody>
      </p:sp>
      <p:sp>
        <p:nvSpPr>
          <p:cNvPr id="9" name="investigation priority">
            <a:extLst xmlns:a="http://schemas.openxmlformats.org/drawingml/2006/main">
              <a:ext uri="{FF2B5EF4-FFF2-40B4-BE49-F238E27FC236}">
                <a16:creationId xmlns:a16="http://schemas.microsoft.com/office/drawing/2014/main" id="{B5AE07DD-7CA6-49E5-A4F1-2EEEF39FFC0A}"/>
              </a:ext>
            </a:extLst>
          </p:cNvPr>
          <p:cNvSpPr>
            <a:spLocks xmlns:a="http://schemas.openxmlformats.org/drawingml/2006/main" noGrp="1"/>
          </p:cNvSpPr>
          <p:nvPr/>
        </p:nvSpPr>
        <p:spPr>
          <a:xfrm xmlns:a="http://schemas.openxmlformats.org/drawingml/2006/main">
            <a:off x="9525000" y="5267325"/>
            <a:ext cx="200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26776"/>
                </a:solidFill>
                <a:latin typeface="Arial"/>
                <a:ea typeface="Arial"/>
                <a:cs typeface="Arial"/>
              </a:defRPr>
            </a:defPPr>
          </a:lstStyle>
          <a:p xmlns:a="http://schemas.openxmlformats.org/drawingml/2006/main">
            <a:pPr>
              <a:defRPr sz="1425" b="0">
                <a:solidFill>
                  <a:srgbClr val="526776"/>
                </a:solidFill>
                <a:latin typeface="Arial"/>
                <a:ea typeface="Arial"/>
                <a:cs typeface="Arial"/>
              </a:defRPr>
            </a:pPr>
            <a:r>
              <a:rPr sz="1425" b="0">
                <a:solidFill>
                  <a:srgbClr val="526776"/>
                </a:solidFill>
                <a:latin typeface="Arial"/>
                <a:ea typeface="Arial"/>
                <a:cs typeface="Arial"/>
              </a:rPr>
              <a:t>investigation priority</a:t>
            </a:r>
          </a:p>
        </p:txBody>
      </p:sp>
      <p:sp>
        <p:nvSpPr>
          <p:cNvPr id="10" name="Synthetic demo data — not measured customer r">
            <a:extLst xmlns:a="http://schemas.openxmlformats.org/drawingml/2006/main">
              <a:ext uri="{FF2B5EF4-FFF2-40B4-BE49-F238E27FC236}">
                <a16:creationId xmlns:a16="http://schemas.microsoft.com/office/drawing/2014/main" id="{C7CD283E-C9ED-4D63-958B-7D7BED44F9FC}"/>
              </a:ext>
            </a:extLst>
          </p:cNvPr>
          <p:cNvSpPr>
            <a:spLocks xmlns:a="http://schemas.openxmlformats.org/drawingml/2006/main" noGrp="1"/>
          </p:cNvSpPr>
          <p:nvPr/>
        </p:nvSpPr>
        <p:spPr>
          <a:xfrm xmlns:a="http://schemas.openxmlformats.org/drawingml/2006/main">
            <a:off x="628650" y="643890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526776"/>
                </a:solidFill>
                <a:latin typeface="Arial"/>
                <a:ea typeface="Arial"/>
                <a:cs typeface="Arial"/>
              </a:defRPr>
            </a:defPPr>
          </a:lstStyle>
          <a:p xmlns:a="http://schemas.openxmlformats.org/drawingml/2006/main">
            <a:pPr>
              <a:defRPr sz="900" b="0">
                <a:solidFill>
                  <a:srgbClr val="526776"/>
                </a:solidFill>
                <a:latin typeface="Arial"/>
                <a:ea typeface="Arial"/>
                <a:cs typeface="Arial"/>
              </a:defRPr>
            </a:pPr>
            <a:r>
              <a:rPr sz="900" b="0">
                <a:solidFill>
                  <a:srgbClr val="526776"/>
                </a:solidFill>
                <a:latin typeface="Arial"/>
                <a:ea typeface="Arial"/>
                <a:cs typeface="Arial"/>
              </a:rPr>
              <a:t>Synthetic demo data — not measured customer results</a:t>
            </a:r>
          </a:p>
        </p:txBody>
      </p:sp>
      <p:sp>
        <p:nvSpPr>
          <p:cNvPr id="11" name="05">
            <a:extLst xmlns:a="http://schemas.openxmlformats.org/drawingml/2006/main">
              <a:ext uri="{FF2B5EF4-FFF2-40B4-BE49-F238E27FC236}">
                <a16:creationId xmlns:a16="http://schemas.microsoft.com/office/drawing/2014/main" id="{E5AFE24C-2CFA-4F4A-A474-312D6FF929E0}"/>
              </a:ext>
            </a:extLst>
          </p:cNvPr>
          <p:cNvSpPr>
            <a:spLocks xmlns:a="http://schemas.openxmlformats.org/drawingml/2006/main" noGrp="1"/>
          </p:cNvSpPr>
          <p:nvPr/>
        </p:nvSpPr>
        <p:spPr>
          <a:xfrm xmlns:a="http://schemas.openxmlformats.org/drawingml/2006/main">
            <a:off x="11144250" y="641985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776"/>
                </a:solidFill>
                <a:latin typeface="Arial"/>
                <a:ea typeface="Arial"/>
                <a:cs typeface="Arial"/>
              </a:defRPr>
            </a:defPPr>
          </a:lstStyle>
          <a:p xmlns:a="http://schemas.openxmlformats.org/drawingml/2006/main">
            <a:pPr>
              <a:defRPr sz="1125" b="0">
                <a:solidFill>
                  <a:srgbClr val="526776"/>
                </a:solidFill>
                <a:latin typeface="Arial"/>
                <a:ea typeface="Arial"/>
                <a:cs typeface="Arial"/>
              </a:defRPr>
            </a:pPr>
            <a:r>
              <a:rPr sz="1125" b="0">
                <a:solidFill>
                  <a:srgbClr val="526776"/>
                </a:solidFill>
                <a:latin typeface="Arial"/>
                <a:ea typeface="Arial"/>
                <a:cs typeface="Arial"/>
              </a:rPr>
              <a:t>05</a:t>
            </a:r>
          </a:p>
        </p:txBody>
      </p:sp>
    </p:spTree>
    <p:extLst>
      <p:ext uri="{BB962C8B-B14F-4D97-AF65-F5344CB8AC3E}">
        <p14:creationId xmlns:p14="http://schemas.microsoft.com/office/powerpoint/2010/main" val="1008583281"/>
      </p:ext>
    </p:extLst>
  </p:cSld>
</p:sld>
</file>

<file path=ppt/slides/slide6.xml><?xml version="1.0" encoding="utf-8"?>
<p:sld xmlns:p="http://schemas.openxmlformats.org/presentationml/2006/main">
  <p:cSld>
    <p:bg>
      <p:bgPr>
        <a:solidFill xmlns:a="http://schemas.openxmlformats.org/drawingml/2006/main">
          <a:srgbClr val="F4F7F8"/>
        </a:solidFill>
      </p:bgPr>
    </p:bg>
    <p:spTree>
      <p:nvGrpSpPr>
        <p:cNvPr id="1" name=""/>
        <p:cNvGrpSpPr/>
        <p:nvPr/>
      </p:nvGrpSpPr>
      <p:grpSpPr>
        <a:xfrm xmlns:a="http://schemas.openxmlformats.org/drawingml/2006/main"/>
      </p:grpSpPr>
      <p:sp>
        <p:nvSpPr>
          <p:cNvPr id="10" name="EXPLAINABLE MONTHLY REFERENCE">
            <a:extLst xmlns:a="http://schemas.openxmlformats.org/drawingml/2006/main">
              <a:ext uri="{FF2B5EF4-FFF2-40B4-BE49-F238E27FC236}">
                <a16:creationId xmlns:a16="http://schemas.microsoft.com/office/drawing/2014/main" id="{F67159C2-F453-4D8F-AC33-1ECCF31BBBA8}"/>
              </a:ext>
            </a:extLst>
          </p:cNvPr>
          <p:cNvSpPr>
            <a:spLocks xmlns:a="http://schemas.openxmlformats.org/drawingml/2006/main" noGrp="1"/>
          </p:cNvSpPr>
          <p:nvPr/>
        </p:nvSpPr>
        <p:spPr>
          <a:xfrm xmlns:a="http://schemas.openxmlformats.org/drawingml/2006/main">
            <a:off x="628650" y="447675"/>
            <a:ext cx="10934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006D77"/>
                </a:solidFill>
                <a:latin typeface="Arial"/>
                <a:ea typeface="Arial"/>
                <a:cs typeface="Arial"/>
              </a:defRPr>
            </a:defPPr>
          </a:lstStyle>
          <a:p xmlns:a="http://schemas.openxmlformats.org/drawingml/2006/main">
            <a:pPr>
              <a:defRPr sz="1050" b="1">
                <a:solidFill>
                  <a:srgbClr val="006D77"/>
                </a:solidFill>
                <a:latin typeface="Arial"/>
                <a:ea typeface="Arial"/>
                <a:cs typeface="Arial"/>
              </a:defRPr>
            </a:pPr>
            <a:r>
              <a:rPr sz="1050" b="1">
                <a:solidFill>
                  <a:srgbClr val="006D77"/>
                </a:solidFill>
                <a:latin typeface="Arial"/>
                <a:ea typeface="Arial"/>
                <a:cs typeface="Arial"/>
              </a:rPr>
              <a:t>EXPLAINABLE MONTHLY REFERENCE</a:t>
            </a:r>
          </a:p>
        </p:txBody>
      </p:sp>
      <p:sp>
        <p:nvSpPr>
          <p:cNvPr id="2" name="The reason stays visible">
            <a:extLst xmlns:a="http://schemas.openxmlformats.org/drawingml/2006/main">
              <a:ext uri="{FF2B5EF4-FFF2-40B4-BE49-F238E27FC236}">
                <a16:creationId xmlns:a16="http://schemas.microsoft.com/office/drawing/2014/main" id="{1D3E06D2-13FE-461E-8DA0-C8770D928E94}"/>
              </a:ext>
            </a:extLst>
          </p:cNvPr>
          <p:cNvSpPr>
            <a:spLocks xmlns:a="http://schemas.openxmlformats.org/drawingml/2006/main" noGrp="1"/>
          </p:cNvSpPr>
          <p:nvPr/>
        </p:nvSpPr>
        <p:spPr>
          <a:xfrm xmlns:a="http://schemas.openxmlformats.org/drawingml/2006/main">
            <a:off x="628650" y="904875"/>
            <a:ext cx="109347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B3D"/>
                </a:solidFill>
                <a:latin typeface="Arial"/>
                <a:ea typeface="Arial"/>
                <a:cs typeface="Arial"/>
              </a:defRPr>
            </a:defPPr>
          </a:lstStyle>
          <a:p xmlns:a="http://schemas.openxmlformats.org/drawingml/2006/main">
            <a:pPr>
              <a:defRPr sz="3450" b="1">
                <a:solidFill>
                  <a:srgbClr val="142B3D"/>
                </a:solidFill>
                <a:latin typeface="Arial"/>
                <a:ea typeface="Arial"/>
                <a:cs typeface="Arial"/>
              </a:defRPr>
            </a:pPr>
            <a:r>
              <a:rPr sz="3450" b="1">
                <a:solidFill>
                  <a:srgbClr val="142B3D"/>
                </a:solidFill>
                <a:latin typeface="Arial"/>
                <a:ea typeface="Arial"/>
                <a:cs typeface="Arial"/>
              </a:rPr>
              <a:t>The reason stays visible</a:t>
            </a:r>
          </a:p>
        </p:txBody>
      </p:sp>
      <p:sp>
        <p:nvSpPr>
          <p:cNvPr id="3" name="Own history + days + heating degree days">
            <a:extLst xmlns:a="http://schemas.openxmlformats.org/drawingml/2006/main">
              <a:ext uri="{FF2B5EF4-FFF2-40B4-BE49-F238E27FC236}">
                <a16:creationId xmlns:a16="http://schemas.microsoft.com/office/drawing/2014/main" id="{ED14D497-C658-467D-AE52-A7B33E5C8E83}"/>
              </a:ext>
            </a:extLst>
          </p:cNvPr>
          <p:cNvSpPr>
            <a:spLocks xmlns:a="http://schemas.openxmlformats.org/drawingml/2006/main" noGrp="1"/>
          </p:cNvSpPr>
          <p:nvPr/>
        </p:nvSpPr>
        <p:spPr>
          <a:xfrm xmlns:a="http://schemas.openxmlformats.org/drawingml/2006/main">
            <a:off x="628650" y="2095500"/>
            <a:ext cx="395287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006D77"/>
                </a:solidFill>
                <a:latin typeface="Arial"/>
                <a:ea typeface="Arial"/>
                <a:cs typeface="Arial"/>
              </a:defRPr>
            </a:defPPr>
          </a:lstStyle>
          <a:p xmlns:a="http://schemas.openxmlformats.org/drawingml/2006/main">
            <a:pPr>
              <a:defRPr sz="2475" b="1">
                <a:solidFill>
                  <a:srgbClr val="006D77"/>
                </a:solidFill>
                <a:latin typeface="Arial"/>
                <a:ea typeface="Arial"/>
                <a:cs typeface="Arial"/>
              </a:defRPr>
            </a:pPr>
            <a:r>
              <a:rPr sz="2475" b="1">
                <a:solidFill>
                  <a:srgbClr val="006D77"/>
                </a:solidFill>
                <a:latin typeface="Arial"/>
                <a:ea typeface="Arial"/>
                <a:cs typeface="Arial"/>
              </a:rPr>
              <a:t>Own history + days + heating degree days</a:t>
            </a:r>
          </a:p>
        </p:txBody>
      </p:sp>
      <p:sp>
        <p:nvSpPr>
          <p:cNvPr id="4" name="Training ends before evaluation begins.">
            <a:extLst xmlns:a="http://schemas.openxmlformats.org/drawingml/2006/main">
              <a:ext uri="{FF2B5EF4-FFF2-40B4-BE49-F238E27FC236}">
                <a16:creationId xmlns:a16="http://schemas.microsoft.com/office/drawing/2014/main" id="{F078A1C4-485A-4341-96CF-20BA9CDE617E}"/>
              </a:ext>
            </a:extLst>
          </p:cNvPr>
          <p:cNvSpPr>
            <a:spLocks xmlns:a="http://schemas.openxmlformats.org/drawingml/2006/main" noGrp="1"/>
          </p:cNvSpPr>
          <p:nvPr/>
        </p:nvSpPr>
        <p:spPr>
          <a:xfrm xmlns:a="http://schemas.openxmlformats.org/drawingml/2006/main">
            <a:off x="628650" y="3352800"/>
            <a:ext cx="3905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42B3D"/>
                </a:solidFill>
                <a:latin typeface="Arial"/>
                <a:ea typeface="Arial"/>
                <a:cs typeface="Arial"/>
              </a:defRPr>
            </a:defPPr>
          </a:lstStyle>
          <a:p xmlns:a="http://schemas.openxmlformats.org/drawingml/2006/main">
            <a:pPr>
              <a:defRPr sz="1950" b="0">
                <a:solidFill>
                  <a:srgbClr val="142B3D"/>
                </a:solidFill>
                <a:latin typeface="Arial"/>
                <a:ea typeface="Arial"/>
                <a:cs typeface="Arial"/>
              </a:defRPr>
            </a:pPr>
            <a:r>
              <a:rPr sz="1950" b="0">
                <a:solidFill>
                  <a:srgbClr val="142B3D"/>
                </a:solidFill>
                <a:latin typeface="Arial"/>
                <a:ea typeface="Arial"/>
                <a:cs typeface="Arial"/>
              </a:rPr>
              <a:t>Training ends before evaluation begins.</a:t>
            </a:r>
          </a:p>
        </p:txBody>
      </p:sp>
      <p:sp>
        <p:nvSpPr>
          <p:cNvPr id="5" name="Threshold, persistence, quality and alternati">
            <a:extLst xmlns:a="http://schemas.openxmlformats.org/drawingml/2006/main">
              <a:ext uri="{FF2B5EF4-FFF2-40B4-BE49-F238E27FC236}">
                <a16:creationId xmlns:a16="http://schemas.microsoft.com/office/drawing/2014/main" id="{9CAE09A4-3484-4E9A-A293-9334AA7D5F4B}"/>
              </a:ext>
            </a:extLst>
          </p:cNvPr>
          <p:cNvSpPr>
            <a:spLocks xmlns:a="http://schemas.openxmlformats.org/drawingml/2006/main" noGrp="1"/>
          </p:cNvSpPr>
          <p:nvPr/>
        </p:nvSpPr>
        <p:spPr>
          <a:xfrm xmlns:a="http://schemas.openxmlformats.org/drawingml/2006/main">
            <a:off x="628650" y="4238625"/>
            <a:ext cx="3905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776"/>
                </a:solidFill>
                <a:latin typeface="Arial"/>
                <a:ea typeface="Arial"/>
                <a:cs typeface="Arial"/>
              </a:defRPr>
            </a:defPPr>
          </a:lstStyle>
          <a:p xmlns:a="http://schemas.openxmlformats.org/drawingml/2006/main">
            <a:pPr>
              <a:defRPr sz="1800" b="0">
                <a:solidFill>
                  <a:srgbClr val="526776"/>
                </a:solidFill>
                <a:latin typeface="Arial"/>
                <a:ea typeface="Arial"/>
                <a:cs typeface="Arial"/>
              </a:defRPr>
            </a:pPr>
            <a:r>
              <a:rPr sz="1800" b="0">
                <a:solidFill>
                  <a:srgbClr val="526776"/>
                </a:solidFill>
                <a:latin typeface="Arial"/>
                <a:ea typeface="Arial"/>
                <a:cs typeface="Arial"/>
              </a:rPr>
              <a:t>Threshold, persistence, quality and alternative explanations stay visible.</a:t>
            </a:r>
          </a:p>
        </p:txBody>
      </p:sp>
      <p:sp>
        <p:nvSpPr>
          <p:cNvPr id="6" name="A human decides what to investigate.">
            <a:extLst xmlns:a="http://schemas.openxmlformats.org/drawingml/2006/main">
              <a:ext uri="{FF2B5EF4-FFF2-40B4-BE49-F238E27FC236}">
                <a16:creationId xmlns:a16="http://schemas.microsoft.com/office/drawing/2014/main" id="{06C51B64-EF3F-4C3F-9A24-D198650036DA}"/>
              </a:ext>
            </a:extLst>
          </p:cNvPr>
          <p:cNvSpPr>
            <a:spLocks xmlns:a="http://schemas.openxmlformats.org/drawingml/2006/main" noGrp="1"/>
          </p:cNvSpPr>
          <p:nvPr/>
        </p:nvSpPr>
        <p:spPr>
          <a:xfrm xmlns:a="http://schemas.openxmlformats.org/drawingml/2006/main">
            <a:off x="628650" y="55054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06D77"/>
                </a:solidFill>
                <a:latin typeface="Arial"/>
                <a:ea typeface="Arial"/>
                <a:cs typeface="Arial"/>
              </a:defRPr>
            </a:defPPr>
          </a:lstStyle>
          <a:p xmlns:a="http://schemas.openxmlformats.org/drawingml/2006/main">
            <a:pPr>
              <a:defRPr sz="1800" b="1">
                <a:solidFill>
                  <a:srgbClr val="006D77"/>
                </a:solidFill>
                <a:latin typeface="Arial"/>
                <a:ea typeface="Arial"/>
                <a:cs typeface="Arial"/>
              </a:defRPr>
            </a:pPr>
            <a:r>
              <a:rPr sz="1800" b="1">
                <a:solidFill>
                  <a:srgbClr val="006D77"/>
                </a:solidFill>
                <a:latin typeface="Arial"/>
                <a:ea typeface="Arial"/>
                <a:cs typeface="Arial"/>
              </a:rPr>
              <a:t>A human decides what to investigate.</a:t>
            </a:r>
          </a:p>
        </p:txBody>
      </p:sp>
      <p:pic>
        <p:nvPicPr>
          <p:cNvPr id="7" name="">
            <a:extLst xmlns:a="http://schemas.openxmlformats.org/drawingml/2006/main">
              <a:ext uri="{FF2B5EF4-FFF2-40B4-BE49-F238E27FC236}">
                <a16:creationId xmlns:a16="http://schemas.microsoft.com/office/drawing/2014/main" id="{6AAA2E14-6669-4538-94F3-3862BD280CD0}"/>
              </a:ext>
            </a:extLst>
          </p:cNvPr>
          <p:cNvPicPr>
            <a:picLocks xmlns:a="http://schemas.openxmlformats.org/drawingml/2006/main" noChangeAspect="1"/>
          </p:cNvPicPr>
          <p:nvPr/>
        </p:nvPicPr>
        <p:blipFill>
          <a:blip xmlns:r="http://schemas.openxmlformats.org/officeDocument/2006/relationships" xmlns:a="http://schemas.openxmlformats.org/drawingml/2006/main" r:embed="R7d630921632f4794"/>
          <a:stretch xmlns:a="http://schemas.openxmlformats.org/drawingml/2006/main"/>
        </p:blipFill>
        <p:spPr>
          <a:xfrm xmlns:a="http://schemas.openxmlformats.org/drawingml/2006/main">
            <a:off x="4857750" y="2000250"/>
            <a:ext cx="6553200" cy="4095750"/>
          </a:xfrm>
          <a:prstGeom xmlns:a="http://schemas.openxmlformats.org/drawingml/2006/main" prst="rect">
            <a:avLst/>
          </a:prstGeom>
        </p:spPr>
      </p:pic>
      <p:sp>
        <p:nvSpPr>
          <p:cNvPr id="8" name="Synthetic demo data — not measured customer r">
            <a:extLst xmlns:a="http://schemas.openxmlformats.org/drawingml/2006/main">
              <a:ext uri="{FF2B5EF4-FFF2-40B4-BE49-F238E27FC236}">
                <a16:creationId xmlns:a16="http://schemas.microsoft.com/office/drawing/2014/main" id="{641AAD16-F6D9-4048-B35D-A388AA57E42B}"/>
              </a:ext>
            </a:extLst>
          </p:cNvPr>
          <p:cNvSpPr>
            <a:spLocks xmlns:a="http://schemas.openxmlformats.org/drawingml/2006/main" noGrp="1"/>
          </p:cNvSpPr>
          <p:nvPr/>
        </p:nvSpPr>
        <p:spPr>
          <a:xfrm xmlns:a="http://schemas.openxmlformats.org/drawingml/2006/main">
            <a:off x="628650" y="643890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526776"/>
                </a:solidFill>
                <a:latin typeface="Arial"/>
                <a:ea typeface="Arial"/>
                <a:cs typeface="Arial"/>
              </a:defRPr>
            </a:defPPr>
          </a:lstStyle>
          <a:p xmlns:a="http://schemas.openxmlformats.org/drawingml/2006/main">
            <a:pPr>
              <a:defRPr sz="900" b="0">
                <a:solidFill>
                  <a:srgbClr val="526776"/>
                </a:solidFill>
                <a:latin typeface="Arial"/>
                <a:ea typeface="Arial"/>
                <a:cs typeface="Arial"/>
              </a:defRPr>
            </a:pPr>
            <a:r>
              <a:rPr sz="900" b="0">
                <a:solidFill>
                  <a:srgbClr val="526776"/>
                </a:solidFill>
                <a:latin typeface="Arial"/>
                <a:ea typeface="Arial"/>
                <a:cs typeface="Arial"/>
              </a:rPr>
              <a:t>Synthetic demo data — not measured customer results</a:t>
            </a:r>
          </a:p>
        </p:txBody>
      </p:sp>
      <p:sp>
        <p:nvSpPr>
          <p:cNvPr id="9" name="06">
            <a:extLst xmlns:a="http://schemas.openxmlformats.org/drawingml/2006/main">
              <a:ext uri="{FF2B5EF4-FFF2-40B4-BE49-F238E27FC236}">
                <a16:creationId xmlns:a16="http://schemas.microsoft.com/office/drawing/2014/main" id="{06F7A6D0-F97F-4789-8CD4-9B0F5EA9B34C}"/>
              </a:ext>
            </a:extLst>
          </p:cNvPr>
          <p:cNvSpPr>
            <a:spLocks xmlns:a="http://schemas.openxmlformats.org/drawingml/2006/main" noGrp="1"/>
          </p:cNvSpPr>
          <p:nvPr/>
        </p:nvSpPr>
        <p:spPr>
          <a:xfrm xmlns:a="http://schemas.openxmlformats.org/drawingml/2006/main">
            <a:off x="11144250" y="641985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776"/>
                </a:solidFill>
                <a:latin typeface="Arial"/>
                <a:ea typeface="Arial"/>
                <a:cs typeface="Arial"/>
              </a:defRPr>
            </a:defPPr>
          </a:lstStyle>
          <a:p xmlns:a="http://schemas.openxmlformats.org/drawingml/2006/main">
            <a:pPr>
              <a:defRPr sz="1125" b="0">
                <a:solidFill>
                  <a:srgbClr val="526776"/>
                </a:solidFill>
                <a:latin typeface="Arial"/>
                <a:ea typeface="Arial"/>
                <a:cs typeface="Arial"/>
              </a:defRPr>
            </a:pPr>
            <a:r>
              <a:rPr sz="1125" b="0">
                <a:solidFill>
                  <a:srgbClr val="526776"/>
                </a:solidFill>
                <a:latin typeface="Arial"/>
                <a:ea typeface="Arial"/>
                <a:cs typeface="Arial"/>
              </a:rPr>
              <a:t>06</a:t>
            </a:r>
          </a:p>
        </p:txBody>
      </p:sp>
    </p:spTree>
    <p:extLst>
      <p:ext uri="{BB962C8B-B14F-4D97-AF65-F5344CB8AC3E}">
        <p14:creationId xmlns:p14="http://schemas.microsoft.com/office/powerpoint/2010/main" val="1795419195"/>
      </p:ext>
    </p:extLst>
  </p:cSld>
</p:sld>
</file>

<file path=ppt/slides/slide7.xml><?xml version="1.0" encoding="utf-8"?>
<p:sld xmlns:p="http://schemas.openxmlformats.org/presentationml/2006/main">
  <p:cSld>
    <p:bg>
      <p:bgPr>
        <a:solidFill xmlns:a="http://schemas.openxmlformats.org/drawingml/2006/main">
          <a:srgbClr val="F4F7F8"/>
        </a:solidFill>
      </p:bgPr>
    </p:bg>
    <p:spTree>
      <p:nvGrpSpPr>
        <p:cNvPr id="1" name=""/>
        <p:cNvGrpSpPr/>
        <p:nvPr/>
      </p:nvGrpSpPr>
      <p:grpSpPr>
        <a:xfrm xmlns:a="http://schemas.openxmlformats.org/drawingml/2006/main"/>
      </p:grpSpPr>
      <p:sp>
        <p:nvSpPr>
          <p:cNvPr id="10" name="OPTIONAL / BACKEND ONLY / USER APPROVED">
            <a:extLst xmlns:a="http://schemas.openxmlformats.org/drawingml/2006/main">
              <a:ext uri="{FF2B5EF4-FFF2-40B4-BE49-F238E27FC236}">
                <a16:creationId xmlns:a16="http://schemas.microsoft.com/office/drawing/2014/main" id="{C341322C-D51E-48BF-A617-023F42B79310}"/>
              </a:ext>
            </a:extLst>
          </p:cNvPr>
          <p:cNvSpPr>
            <a:spLocks xmlns:a="http://schemas.openxmlformats.org/drawingml/2006/main" noGrp="1"/>
          </p:cNvSpPr>
          <p:nvPr/>
        </p:nvSpPr>
        <p:spPr>
          <a:xfrm xmlns:a="http://schemas.openxmlformats.org/drawingml/2006/main">
            <a:off x="628650" y="447675"/>
            <a:ext cx="10934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006D77"/>
                </a:solidFill>
                <a:latin typeface="Arial"/>
                <a:ea typeface="Arial"/>
                <a:cs typeface="Arial"/>
              </a:defRPr>
            </a:defPPr>
          </a:lstStyle>
          <a:p xmlns:a="http://schemas.openxmlformats.org/drawingml/2006/main">
            <a:pPr>
              <a:defRPr sz="1050" b="1">
                <a:solidFill>
                  <a:srgbClr val="006D77"/>
                </a:solidFill>
                <a:latin typeface="Arial"/>
                <a:ea typeface="Arial"/>
                <a:cs typeface="Arial"/>
              </a:defRPr>
            </a:pPr>
            <a:r>
              <a:rPr sz="1050" b="1">
                <a:solidFill>
                  <a:srgbClr val="006D77"/>
                </a:solidFill>
                <a:latin typeface="Arial"/>
                <a:ea typeface="Arial"/>
                <a:cs typeface="Arial"/>
              </a:rPr>
              <a:t>OPTIONAL / BACKEND ONLY / USER APPROVED</a:t>
            </a:r>
          </a:p>
        </p:txBody>
      </p:sp>
      <p:sp>
        <p:nvSpPr>
          <p:cNvPr id="2" name="Claude helps with the review">
            <a:extLst xmlns:a="http://schemas.openxmlformats.org/drawingml/2006/main">
              <a:ext uri="{FF2B5EF4-FFF2-40B4-BE49-F238E27FC236}">
                <a16:creationId xmlns:a16="http://schemas.microsoft.com/office/drawing/2014/main" id="{26122490-6ABC-41F7-9527-10886D4CB0D8}"/>
              </a:ext>
            </a:extLst>
          </p:cNvPr>
          <p:cNvSpPr>
            <a:spLocks xmlns:a="http://schemas.openxmlformats.org/drawingml/2006/main" noGrp="1"/>
          </p:cNvSpPr>
          <p:nvPr/>
        </p:nvSpPr>
        <p:spPr>
          <a:xfrm xmlns:a="http://schemas.openxmlformats.org/drawingml/2006/main">
            <a:off x="628650" y="904875"/>
            <a:ext cx="109347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B3D"/>
                </a:solidFill>
                <a:latin typeface="Arial"/>
                <a:ea typeface="Arial"/>
                <a:cs typeface="Arial"/>
              </a:defRPr>
            </a:defPPr>
          </a:lstStyle>
          <a:p xmlns:a="http://schemas.openxmlformats.org/drawingml/2006/main">
            <a:pPr>
              <a:defRPr sz="3450" b="1">
                <a:solidFill>
                  <a:srgbClr val="142B3D"/>
                </a:solidFill>
                <a:latin typeface="Arial"/>
                <a:ea typeface="Arial"/>
                <a:cs typeface="Arial"/>
              </a:defRPr>
            </a:pPr>
            <a:r>
              <a:rPr sz="3450" b="1">
                <a:solidFill>
                  <a:srgbClr val="142B3D"/>
                </a:solidFill>
                <a:latin typeface="Arial"/>
                <a:ea typeface="Arial"/>
                <a:cs typeface="Arial"/>
              </a:rPr>
              <a:t>Claude helps with the review</a:t>
            </a:r>
          </a:p>
        </p:txBody>
      </p:sp>
      <p:pic>
        <p:nvPicPr>
          <p:cNvPr id="3" name="">
            <a:extLst xmlns:a="http://schemas.openxmlformats.org/drawingml/2006/main">
              <a:ext uri="{FF2B5EF4-FFF2-40B4-BE49-F238E27FC236}">
                <a16:creationId xmlns:a16="http://schemas.microsoft.com/office/drawing/2014/main" id="{758B0286-56A2-42B9-A1F3-86568DE7E51B}"/>
              </a:ext>
            </a:extLst>
          </p:cNvPr>
          <p:cNvPicPr>
            <a:picLocks xmlns:a="http://schemas.openxmlformats.org/drawingml/2006/main" noChangeAspect="1"/>
          </p:cNvPicPr>
          <p:nvPr/>
        </p:nvPicPr>
        <p:blipFill>
          <a:blip xmlns:r="http://schemas.openxmlformats.org/officeDocument/2006/relationships" xmlns:a="http://schemas.openxmlformats.org/drawingml/2006/main" r:embed="R2f0f37711e294dd9"/>
          <a:stretch xmlns:a="http://schemas.openxmlformats.org/drawingml/2006/main"/>
        </p:blipFill>
        <p:spPr>
          <a:xfrm xmlns:a="http://schemas.openxmlformats.org/drawingml/2006/main">
            <a:off x="628650" y="2322596"/>
            <a:ext cx="6286500" cy="3165308"/>
          </a:xfrm>
          <a:prstGeom xmlns:a="http://schemas.openxmlformats.org/drawingml/2006/main" prst="rect">
            <a:avLst/>
          </a:prstGeom>
        </p:spPr>
      </p:pic>
      <p:sp>
        <p:nvSpPr>
          <p:cNvPr id="4" name="Suggested column mapping">
            <a:extLst xmlns:a="http://schemas.openxmlformats.org/drawingml/2006/main">
              <a:ext uri="{FF2B5EF4-FFF2-40B4-BE49-F238E27FC236}">
                <a16:creationId xmlns:a16="http://schemas.microsoft.com/office/drawing/2014/main" id="{8BA6CBE1-310F-4522-9251-AFB7C2345DF1}"/>
              </a:ext>
            </a:extLst>
          </p:cNvPr>
          <p:cNvSpPr>
            <a:spLocks xmlns:a="http://schemas.openxmlformats.org/drawingml/2006/main" noGrp="1"/>
          </p:cNvSpPr>
          <p:nvPr/>
        </p:nvSpPr>
        <p:spPr>
          <a:xfrm xmlns:a="http://schemas.openxmlformats.org/drawingml/2006/main">
            <a:off x="7334250" y="2238375"/>
            <a:ext cx="4191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06D77"/>
                </a:solidFill>
                <a:latin typeface="Arial"/>
                <a:ea typeface="Arial"/>
                <a:cs typeface="Arial"/>
              </a:defRPr>
            </a:defPPr>
          </a:lstStyle>
          <a:p xmlns:a="http://schemas.openxmlformats.org/drawingml/2006/main">
            <a:pPr>
              <a:defRPr sz="2250" b="1">
                <a:solidFill>
                  <a:srgbClr val="006D77"/>
                </a:solidFill>
                <a:latin typeface="Arial"/>
                <a:ea typeface="Arial"/>
                <a:cs typeface="Arial"/>
              </a:defRPr>
            </a:pPr>
            <a:r>
              <a:rPr sz="2250" b="1">
                <a:solidFill>
                  <a:srgbClr val="006D77"/>
                </a:solidFill>
                <a:latin typeface="Arial"/>
                <a:ea typeface="Arial"/>
                <a:cs typeface="Arial"/>
              </a:rPr>
              <a:t>Suggested column mapping</a:t>
            </a:r>
          </a:p>
        </p:txBody>
      </p:sp>
      <p:sp>
        <p:nvSpPr>
          <p:cNvPr id="5" name="Evidence-backed explanations">
            <a:extLst xmlns:a="http://schemas.openxmlformats.org/drawingml/2006/main">
              <a:ext uri="{FF2B5EF4-FFF2-40B4-BE49-F238E27FC236}">
                <a16:creationId xmlns:a16="http://schemas.microsoft.com/office/drawing/2014/main" id="{9836D3EB-EFBD-439B-94F4-35B6232DB9B4}"/>
              </a:ext>
            </a:extLst>
          </p:cNvPr>
          <p:cNvSpPr>
            <a:spLocks xmlns:a="http://schemas.openxmlformats.org/drawingml/2006/main" noGrp="1"/>
          </p:cNvSpPr>
          <p:nvPr/>
        </p:nvSpPr>
        <p:spPr>
          <a:xfrm xmlns:a="http://schemas.openxmlformats.org/drawingml/2006/main">
            <a:off x="7334250" y="3238500"/>
            <a:ext cx="4191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06D77"/>
                </a:solidFill>
                <a:latin typeface="Arial"/>
                <a:ea typeface="Arial"/>
                <a:cs typeface="Arial"/>
              </a:defRPr>
            </a:defPPr>
          </a:lstStyle>
          <a:p xmlns:a="http://schemas.openxmlformats.org/drawingml/2006/main">
            <a:pPr>
              <a:defRPr sz="2250" b="1">
                <a:solidFill>
                  <a:srgbClr val="006D77"/>
                </a:solidFill>
                <a:latin typeface="Arial"/>
                <a:ea typeface="Arial"/>
                <a:cs typeface="Arial"/>
              </a:defRPr>
            </a:pPr>
            <a:r>
              <a:rPr sz="2250" b="1">
                <a:solidFill>
                  <a:srgbClr val="006D77"/>
                </a:solidFill>
                <a:latin typeface="Arial"/>
                <a:ea typeface="Arial"/>
                <a:cs typeface="Arial"/>
              </a:rPr>
              <a:t>Evidence-backed explanations</a:t>
            </a:r>
          </a:p>
        </p:txBody>
      </p:sp>
      <p:sp>
        <p:nvSpPr>
          <p:cNvPr id="6" name="Investigation task drafts">
            <a:extLst xmlns:a="http://schemas.openxmlformats.org/drawingml/2006/main">
              <a:ext uri="{FF2B5EF4-FFF2-40B4-BE49-F238E27FC236}">
                <a16:creationId xmlns:a16="http://schemas.microsoft.com/office/drawing/2014/main" id="{9FCD8081-2BFC-47F6-B5DE-02D7367F3C65}"/>
              </a:ext>
            </a:extLst>
          </p:cNvPr>
          <p:cNvSpPr>
            <a:spLocks xmlns:a="http://schemas.openxmlformats.org/drawingml/2006/main" noGrp="1"/>
          </p:cNvSpPr>
          <p:nvPr/>
        </p:nvSpPr>
        <p:spPr>
          <a:xfrm xmlns:a="http://schemas.openxmlformats.org/drawingml/2006/main">
            <a:off x="7334250" y="4238625"/>
            <a:ext cx="4191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06D77"/>
                </a:solidFill>
                <a:latin typeface="Arial"/>
                <a:ea typeface="Arial"/>
                <a:cs typeface="Arial"/>
              </a:defRPr>
            </a:defPPr>
          </a:lstStyle>
          <a:p xmlns:a="http://schemas.openxmlformats.org/drawingml/2006/main">
            <a:pPr>
              <a:defRPr sz="2250" b="1">
                <a:solidFill>
                  <a:srgbClr val="006D77"/>
                </a:solidFill>
                <a:latin typeface="Arial"/>
                <a:ea typeface="Arial"/>
                <a:cs typeface="Arial"/>
              </a:defRPr>
            </a:pPr>
            <a:r>
              <a:rPr sz="2250" b="1">
                <a:solidFill>
                  <a:srgbClr val="006D77"/>
                </a:solidFill>
                <a:latin typeface="Arial"/>
                <a:ea typeface="Arial"/>
                <a:cs typeface="Arial"/>
              </a:rPr>
              <a:t>Investigation task drafts</a:t>
            </a:r>
          </a:p>
        </p:txBody>
      </p:sp>
      <p:sp>
        <p:nvSpPr>
          <p:cNvPr id="7" name="The engine calculates. A person approves.">
            <a:extLst xmlns:a="http://schemas.openxmlformats.org/drawingml/2006/main">
              <a:ext uri="{FF2B5EF4-FFF2-40B4-BE49-F238E27FC236}">
                <a16:creationId xmlns:a16="http://schemas.microsoft.com/office/drawing/2014/main" id="{289E9347-E971-4019-88A2-F6A67869EE89}"/>
              </a:ext>
            </a:extLst>
          </p:cNvPr>
          <p:cNvSpPr>
            <a:spLocks xmlns:a="http://schemas.openxmlformats.org/drawingml/2006/main" noGrp="1"/>
          </p:cNvSpPr>
          <p:nvPr/>
        </p:nvSpPr>
        <p:spPr>
          <a:xfrm xmlns:a="http://schemas.openxmlformats.org/drawingml/2006/main">
            <a:off x="7334250" y="5334000"/>
            <a:ext cx="4000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776"/>
                </a:solidFill>
                <a:latin typeface="Arial"/>
                <a:ea typeface="Arial"/>
                <a:cs typeface="Arial"/>
              </a:defRPr>
            </a:defPPr>
          </a:lstStyle>
          <a:p xmlns:a="http://schemas.openxmlformats.org/drawingml/2006/main">
            <a:pPr>
              <a:defRPr sz="1800" b="0">
                <a:solidFill>
                  <a:srgbClr val="526776"/>
                </a:solidFill>
                <a:latin typeface="Arial"/>
                <a:ea typeface="Arial"/>
                <a:cs typeface="Arial"/>
              </a:defRPr>
            </a:pPr>
            <a:r>
              <a:rPr sz="1800" b="0">
                <a:solidFill>
                  <a:srgbClr val="526776"/>
                </a:solidFill>
                <a:latin typeface="Arial"/>
                <a:ea typeface="Arial"/>
                <a:cs typeface="Arial"/>
              </a:rPr>
              <a:t>The engine calculates. A person approves.</a:t>
            </a:r>
          </a:p>
        </p:txBody>
      </p:sp>
      <p:sp>
        <p:nvSpPr>
          <p:cNvPr id="8" name="Actual local synthetic screen; no live API re">
            <a:extLst xmlns:a="http://schemas.openxmlformats.org/drawingml/2006/main">
              <a:ext uri="{FF2B5EF4-FFF2-40B4-BE49-F238E27FC236}">
                <a16:creationId xmlns:a16="http://schemas.microsoft.com/office/drawing/2014/main" id="{8FE9F232-4C3A-4457-AE68-51CBFE814DFE}"/>
              </a:ext>
            </a:extLst>
          </p:cNvPr>
          <p:cNvSpPr>
            <a:spLocks xmlns:a="http://schemas.openxmlformats.org/drawingml/2006/main" noGrp="1"/>
          </p:cNvSpPr>
          <p:nvPr/>
        </p:nvSpPr>
        <p:spPr>
          <a:xfrm xmlns:a="http://schemas.openxmlformats.org/drawingml/2006/main">
            <a:off x="628650" y="643890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526776"/>
                </a:solidFill>
                <a:latin typeface="Arial"/>
                <a:ea typeface="Arial"/>
                <a:cs typeface="Arial"/>
              </a:defRPr>
            </a:defPPr>
          </a:lstStyle>
          <a:p xmlns:a="http://schemas.openxmlformats.org/drawingml/2006/main">
            <a:pPr>
              <a:defRPr sz="900" b="0">
                <a:solidFill>
                  <a:srgbClr val="526776"/>
                </a:solidFill>
                <a:latin typeface="Arial"/>
                <a:ea typeface="Arial"/>
                <a:cs typeface="Arial"/>
              </a:defRPr>
            </a:pPr>
            <a:r>
              <a:rPr sz="900" b="0">
                <a:solidFill>
                  <a:srgbClr val="526776"/>
                </a:solidFill>
                <a:latin typeface="Arial"/>
                <a:ea typeface="Arial"/>
                <a:cs typeface="Arial"/>
              </a:rPr>
              <a:t>Actual local synthetic screen; no live API result claimed. Architecture: docs/technical/ai-architecture.md</a:t>
            </a:r>
          </a:p>
        </p:txBody>
      </p:sp>
      <p:sp>
        <p:nvSpPr>
          <p:cNvPr id="9" name="07">
            <a:extLst xmlns:a="http://schemas.openxmlformats.org/drawingml/2006/main">
              <a:ext uri="{FF2B5EF4-FFF2-40B4-BE49-F238E27FC236}">
                <a16:creationId xmlns:a16="http://schemas.microsoft.com/office/drawing/2014/main" id="{D78F40E1-B0C6-4F92-833E-F19E4BE78C66}"/>
              </a:ext>
            </a:extLst>
          </p:cNvPr>
          <p:cNvSpPr>
            <a:spLocks xmlns:a="http://schemas.openxmlformats.org/drawingml/2006/main" noGrp="1"/>
          </p:cNvSpPr>
          <p:nvPr/>
        </p:nvSpPr>
        <p:spPr>
          <a:xfrm xmlns:a="http://schemas.openxmlformats.org/drawingml/2006/main">
            <a:off x="11144250" y="641985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776"/>
                </a:solidFill>
                <a:latin typeface="Arial"/>
                <a:ea typeface="Arial"/>
                <a:cs typeface="Arial"/>
              </a:defRPr>
            </a:defPPr>
          </a:lstStyle>
          <a:p xmlns:a="http://schemas.openxmlformats.org/drawingml/2006/main">
            <a:pPr>
              <a:defRPr sz="1125" b="0">
                <a:solidFill>
                  <a:srgbClr val="526776"/>
                </a:solidFill>
                <a:latin typeface="Arial"/>
                <a:ea typeface="Arial"/>
                <a:cs typeface="Arial"/>
              </a:defRPr>
            </a:pPr>
            <a:r>
              <a:rPr sz="1125" b="0">
                <a:solidFill>
                  <a:srgbClr val="526776"/>
                </a:solidFill>
                <a:latin typeface="Arial"/>
                <a:ea typeface="Arial"/>
                <a:cs typeface="Arial"/>
              </a:rPr>
              <a:t>07</a:t>
            </a:r>
          </a:p>
        </p:txBody>
      </p:sp>
    </p:spTree>
    <p:extLst>
      <p:ext uri="{BB962C8B-B14F-4D97-AF65-F5344CB8AC3E}">
        <p14:creationId xmlns:p14="http://schemas.microsoft.com/office/powerpoint/2010/main" val="396619905"/>
      </p:ext>
    </p:extLst>
  </p:cSld>
</p:sld>
</file>

<file path=ppt/slides/slide8.xml><?xml version="1.0" encoding="utf-8"?>
<p:sld xmlns:p="http://schemas.openxmlformats.org/presentationml/2006/main">
  <p:cSld>
    <p:bg>
      <p:bgPr>
        <a:solidFill xmlns:a="http://schemas.openxmlformats.org/drawingml/2006/main">
          <a:srgbClr val="F4F7F8"/>
        </a:solidFill>
      </p:bgPr>
    </p:bg>
    <p:spTree>
      <p:nvGrpSpPr>
        <p:cNvPr id="1" name=""/>
        <p:cNvGrpSpPr/>
        <p:nvPr/>
      </p:nvGrpSpPr>
      <p:grpSpPr>
        <a:xfrm xmlns:a="http://schemas.openxmlformats.org/drawingml/2006/main"/>
      </p:grpSpPr>
      <p:sp>
        <p:nvSpPr>
          <p:cNvPr id="11" name="PROPOSED SCOPE: 5–10 BUILDINGS">
            <a:extLst xmlns:a="http://schemas.openxmlformats.org/drawingml/2006/main">
              <a:ext uri="{FF2B5EF4-FFF2-40B4-BE49-F238E27FC236}">
                <a16:creationId xmlns:a16="http://schemas.microsoft.com/office/drawing/2014/main" id="{5DA77250-56DD-4379-9AA4-C2A219F290EE}"/>
              </a:ext>
            </a:extLst>
          </p:cNvPr>
          <p:cNvSpPr>
            <a:spLocks xmlns:a="http://schemas.openxmlformats.org/drawingml/2006/main" noGrp="1"/>
          </p:cNvSpPr>
          <p:nvPr/>
        </p:nvSpPr>
        <p:spPr>
          <a:xfrm xmlns:a="http://schemas.openxmlformats.org/drawingml/2006/main">
            <a:off x="628650" y="447675"/>
            <a:ext cx="10934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006D77"/>
                </a:solidFill>
                <a:latin typeface="Arial"/>
                <a:ea typeface="Arial"/>
                <a:cs typeface="Arial"/>
              </a:defRPr>
            </a:defPPr>
          </a:lstStyle>
          <a:p xmlns:a="http://schemas.openxmlformats.org/drawingml/2006/main">
            <a:pPr>
              <a:defRPr sz="1050" b="1">
                <a:solidFill>
                  <a:srgbClr val="006D77"/>
                </a:solidFill>
                <a:latin typeface="Arial"/>
                <a:ea typeface="Arial"/>
                <a:cs typeface="Arial"/>
              </a:defRPr>
            </a:pPr>
            <a:r>
              <a:rPr sz="1050" b="1">
                <a:solidFill>
                  <a:srgbClr val="006D77"/>
                </a:solidFill>
                <a:latin typeface="Arial"/>
                <a:ea typeface="Arial"/>
                <a:cs typeface="Arial"/>
              </a:rPr>
              <a:t>PROPOSED SCOPE: 5–10 BUILDINGS</a:t>
            </a:r>
          </a:p>
        </p:txBody>
      </p:sp>
      <p:sp>
        <p:nvSpPr>
          <p:cNvPr id="2" name="A six-week retrospective pilot">
            <a:extLst xmlns:a="http://schemas.openxmlformats.org/drawingml/2006/main">
              <a:ext uri="{FF2B5EF4-FFF2-40B4-BE49-F238E27FC236}">
                <a16:creationId xmlns:a16="http://schemas.microsoft.com/office/drawing/2014/main" id="{71FAF1E8-22B8-4BEE-AF81-21FE9C7C7AA5}"/>
              </a:ext>
            </a:extLst>
          </p:cNvPr>
          <p:cNvSpPr>
            <a:spLocks xmlns:a="http://schemas.openxmlformats.org/drawingml/2006/main" noGrp="1"/>
          </p:cNvSpPr>
          <p:nvPr/>
        </p:nvSpPr>
        <p:spPr>
          <a:xfrm xmlns:a="http://schemas.openxmlformats.org/drawingml/2006/main">
            <a:off x="628650" y="904875"/>
            <a:ext cx="109347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B3D"/>
                </a:solidFill>
                <a:latin typeface="Arial"/>
                <a:ea typeface="Arial"/>
                <a:cs typeface="Arial"/>
              </a:defRPr>
            </a:defPPr>
          </a:lstStyle>
          <a:p xmlns:a="http://schemas.openxmlformats.org/drawingml/2006/main">
            <a:pPr>
              <a:defRPr sz="3450" b="1">
                <a:solidFill>
                  <a:srgbClr val="142B3D"/>
                </a:solidFill>
                <a:latin typeface="Arial"/>
                <a:ea typeface="Arial"/>
                <a:cs typeface="Arial"/>
              </a:defRPr>
            </a:pPr>
            <a:r>
              <a:rPr sz="3450" b="1">
                <a:solidFill>
                  <a:srgbClr val="142B3D"/>
                </a:solidFill>
                <a:latin typeface="Arial"/>
                <a:ea typeface="Arial"/>
                <a:cs typeface="Arial"/>
              </a:rPr>
              <a:t>A six-week retrospective pilot</a:t>
            </a:r>
          </a:p>
        </p:txBody>
      </p:sp>
      <p:sp>
        <p:nvSpPr>
          <p:cNvPr id="3" name="Week 1  Scope, permissions and data inventory">
            <a:extLst xmlns:a="http://schemas.openxmlformats.org/drawingml/2006/main">
              <a:ext uri="{FF2B5EF4-FFF2-40B4-BE49-F238E27FC236}">
                <a16:creationId xmlns:a16="http://schemas.microsoft.com/office/drawing/2014/main" id="{C4B3ADF4-2243-413A-9B31-ED7BC6A7293E}"/>
              </a:ext>
            </a:extLst>
          </p:cNvPr>
          <p:cNvSpPr>
            <a:spLocks xmlns:a="http://schemas.openxmlformats.org/drawingml/2006/main" noGrp="1"/>
          </p:cNvSpPr>
          <p:nvPr/>
        </p:nvSpPr>
        <p:spPr>
          <a:xfrm xmlns:a="http://schemas.openxmlformats.org/drawingml/2006/main">
            <a:off x="685800" y="204787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D"/>
                </a:solidFill>
                <a:latin typeface="Arial"/>
                <a:ea typeface="Arial"/>
                <a:cs typeface="Arial"/>
              </a:defRPr>
            </a:defPPr>
          </a:lstStyle>
          <a:p xmlns:a="http://schemas.openxmlformats.org/drawingml/2006/main">
            <a:pPr>
              <a:defRPr sz="2100" b="0">
                <a:solidFill>
                  <a:srgbClr val="142B3D"/>
                </a:solidFill>
                <a:latin typeface="Arial"/>
                <a:ea typeface="Arial"/>
                <a:cs typeface="Arial"/>
              </a:defRPr>
            </a:pPr>
            <a:r>
              <a:rPr sz="2100" b="0">
                <a:solidFill>
                  <a:srgbClr val="142B3D"/>
                </a:solidFill>
                <a:latin typeface="Arial"/>
                <a:ea typeface="Arial"/>
                <a:cs typeface="Arial"/>
              </a:rPr>
              <a:t>Week 1  Scope, permissions and data inventory</a:t>
            </a:r>
          </a:p>
        </p:txBody>
      </p:sp>
      <p:sp>
        <p:nvSpPr>
          <p:cNvPr id="4" name="Week 2  Import and quality review">
            <a:extLst xmlns:a="http://schemas.openxmlformats.org/drawingml/2006/main">
              <a:ext uri="{FF2B5EF4-FFF2-40B4-BE49-F238E27FC236}">
                <a16:creationId xmlns:a16="http://schemas.microsoft.com/office/drawing/2014/main" id="{5AE37490-7003-4F69-A008-7C314751154A}"/>
              </a:ext>
            </a:extLst>
          </p:cNvPr>
          <p:cNvSpPr>
            <a:spLocks xmlns:a="http://schemas.openxmlformats.org/drawingml/2006/main" noGrp="1"/>
          </p:cNvSpPr>
          <p:nvPr/>
        </p:nvSpPr>
        <p:spPr>
          <a:xfrm xmlns:a="http://schemas.openxmlformats.org/drawingml/2006/main">
            <a:off x="685800" y="266700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526776"/>
                </a:solidFill>
                <a:latin typeface="Arial"/>
                <a:ea typeface="Arial"/>
                <a:cs typeface="Arial"/>
              </a:defRPr>
            </a:defPPr>
          </a:lstStyle>
          <a:p xmlns:a="http://schemas.openxmlformats.org/drawingml/2006/main">
            <a:pPr>
              <a:defRPr sz="2100" b="0">
                <a:solidFill>
                  <a:srgbClr val="526776"/>
                </a:solidFill>
                <a:latin typeface="Arial"/>
                <a:ea typeface="Arial"/>
                <a:cs typeface="Arial"/>
              </a:defRPr>
            </a:pPr>
            <a:r>
              <a:rPr sz="2100" b="0">
                <a:solidFill>
                  <a:srgbClr val="526776"/>
                </a:solidFill>
                <a:latin typeface="Arial"/>
                <a:ea typeface="Arial"/>
                <a:cs typeface="Arial"/>
              </a:rPr>
              <a:t>Week 2  Import and quality review</a:t>
            </a:r>
          </a:p>
        </p:txBody>
      </p:sp>
      <p:sp>
        <p:nvSpPr>
          <p:cNvPr id="5" name="Week 3  Historical reference and initial find">
            <a:extLst xmlns:a="http://schemas.openxmlformats.org/drawingml/2006/main">
              <a:ext uri="{FF2B5EF4-FFF2-40B4-BE49-F238E27FC236}">
                <a16:creationId xmlns:a16="http://schemas.microsoft.com/office/drawing/2014/main" id="{77000D80-A36A-4852-B273-6470C47AD901}"/>
              </a:ext>
            </a:extLst>
          </p:cNvPr>
          <p:cNvSpPr>
            <a:spLocks xmlns:a="http://schemas.openxmlformats.org/drawingml/2006/main" noGrp="1"/>
          </p:cNvSpPr>
          <p:nvPr/>
        </p:nvSpPr>
        <p:spPr>
          <a:xfrm xmlns:a="http://schemas.openxmlformats.org/drawingml/2006/main">
            <a:off x="685800" y="32861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D"/>
                </a:solidFill>
                <a:latin typeface="Arial"/>
                <a:ea typeface="Arial"/>
                <a:cs typeface="Arial"/>
              </a:defRPr>
            </a:defPPr>
          </a:lstStyle>
          <a:p xmlns:a="http://schemas.openxmlformats.org/drawingml/2006/main">
            <a:pPr>
              <a:defRPr sz="2100" b="0">
                <a:solidFill>
                  <a:srgbClr val="142B3D"/>
                </a:solidFill>
                <a:latin typeface="Arial"/>
                <a:ea typeface="Arial"/>
                <a:cs typeface="Arial"/>
              </a:defRPr>
            </a:pPr>
            <a:r>
              <a:rPr sz="2100" b="0">
                <a:solidFill>
                  <a:srgbClr val="142B3D"/>
                </a:solidFill>
                <a:latin typeface="Arial"/>
                <a:ea typeface="Arial"/>
                <a:cs typeface="Arial"/>
              </a:rPr>
              <a:t>Week 3  Historical reference and initial findings</a:t>
            </a:r>
          </a:p>
        </p:txBody>
      </p:sp>
      <p:sp>
        <p:nvSpPr>
          <p:cNvPr id="6" name="Week 4  Manager and expert feedback">
            <a:extLst xmlns:a="http://schemas.openxmlformats.org/drawingml/2006/main">
              <a:ext uri="{FF2B5EF4-FFF2-40B4-BE49-F238E27FC236}">
                <a16:creationId xmlns:a16="http://schemas.microsoft.com/office/drawing/2014/main" id="{1F5F52AD-CBC3-42E5-A293-F0838573E6F6}"/>
              </a:ext>
            </a:extLst>
          </p:cNvPr>
          <p:cNvSpPr>
            <a:spLocks xmlns:a="http://schemas.openxmlformats.org/drawingml/2006/main" noGrp="1"/>
          </p:cNvSpPr>
          <p:nvPr/>
        </p:nvSpPr>
        <p:spPr>
          <a:xfrm xmlns:a="http://schemas.openxmlformats.org/drawingml/2006/main">
            <a:off x="685800" y="39052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526776"/>
                </a:solidFill>
                <a:latin typeface="Arial"/>
                <a:ea typeface="Arial"/>
                <a:cs typeface="Arial"/>
              </a:defRPr>
            </a:defPPr>
          </a:lstStyle>
          <a:p xmlns:a="http://schemas.openxmlformats.org/drawingml/2006/main">
            <a:pPr>
              <a:defRPr sz="2100" b="0">
                <a:solidFill>
                  <a:srgbClr val="526776"/>
                </a:solidFill>
                <a:latin typeface="Arial"/>
                <a:ea typeface="Arial"/>
                <a:cs typeface="Arial"/>
              </a:defRPr>
            </a:pPr>
            <a:r>
              <a:rPr sz="2100" b="0">
                <a:solidFill>
                  <a:srgbClr val="526776"/>
                </a:solidFill>
                <a:latin typeface="Arial"/>
                <a:ea typeface="Arial"/>
                <a:cs typeface="Arial"/>
              </a:rPr>
              <a:t>Week 4  Manager and expert feedback</a:t>
            </a:r>
          </a:p>
        </p:txBody>
      </p:sp>
      <p:sp>
        <p:nvSpPr>
          <p:cNvPr id="7" name="Week 5  Review tasks and intervention records">
            <a:extLst xmlns:a="http://schemas.openxmlformats.org/drawingml/2006/main">
              <a:ext uri="{FF2B5EF4-FFF2-40B4-BE49-F238E27FC236}">
                <a16:creationId xmlns:a16="http://schemas.microsoft.com/office/drawing/2014/main" id="{59EC7798-375B-4925-99C1-1640AAC41549}"/>
              </a:ext>
            </a:extLst>
          </p:cNvPr>
          <p:cNvSpPr>
            <a:spLocks xmlns:a="http://schemas.openxmlformats.org/drawingml/2006/main" noGrp="1"/>
          </p:cNvSpPr>
          <p:nvPr/>
        </p:nvSpPr>
        <p:spPr>
          <a:xfrm xmlns:a="http://schemas.openxmlformats.org/drawingml/2006/main">
            <a:off x="685800" y="452437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D"/>
                </a:solidFill>
                <a:latin typeface="Arial"/>
                <a:ea typeface="Arial"/>
                <a:cs typeface="Arial"/>
              </a:defRPr>
            </a:defPPr>
          </a:lstStyle>
          <a:p xmlns:a="http://schemas.openxmlformats.org/drawingml/2006/main">
            <a:pPr>
              <a:defRPr sz="2100" b="0">
                <a:solidFill>
                  <a:srgbClr val="142B3D"/>
                </a:solidFill>
                <a:latin typeface="Arial"/>
                <a:ea typeface="Arial"/>
                <a:cs typeface="Arial"/>
              </a:defRPr>
            </a:pPr>
            <a:r>
              <a:rPr sz="2100" b="0">
                <a:solidFill>
                  <a:srgbClr val="142B3D"/>
                </a:solidFill>
                <a:latin typeface="Arial"/>
                <a:ea typeface="Arial"/>
                <a:cs typeface="Arial"/>
              </a:rPr>
              <a:t>Week 5  Review tasks and intervention records</a:t>
            </a:r>
          </a:p>
        </p:txBody>
      </p:sp>
      <p:sp>
        <p:nvSpPr>
          <p:cNvPr id="8" name="Week 6  Learnings and continuation decision">
            <a:extLst xmlns:a="http://schemas.openxmlformats.org/drawingml/2006/main">
              <a:ext uri="{FF2B5EF4-FFF2-40B4-BE49-F238E27FC236}">
                <a16:creationId xmlns:a16="http://schemas.microsoft.com/office/drawing/2014/main" id="{E8BAEA93-689E-46E4-963E-6509DA4A9ECB}"/>
              </a:ext>
            </a:extLst>
          </p:cNvPr>
          <p:cNvSpPr>
            <a:spLocks xmlns:a="http://schemas.openxmlformats.org/drawingml/2006/main" noGrp="1"/>
          </p:cNvSpPr>
          <p:nvPr/>
        </p:nvSpPr>
        <p:spPr>
          <a:xfrm xmlns:a="http://schemas.openxmlformats.org/drawingml/2006/main">
            <a:off x="685800" y="514350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526776"/>
                </a:solidFill>
                <a:latin typeface="Arial"/>
                <a:ea typeface="Arial"/>
                <a:cs typeface="Arial"/>
              </a:defRPr>
            </a:defPPr>
          </a:lstStyle>
          <a:p xmlns:a="http://schemas.openxmlformats.org/drawingml/2006/main">
            <a:pPr>
              <a:defRPr sz="2100" b="0">
                <a:solidFill>
                  <a:srgbClr val="526776"/>
                </a:solidFill>
                <a:latin typeface="Arial"/>
                <a:ea typeface="Arial"/>
                <a:cs typeface="Arial"/>
              </a:defRPr>
            </a:pPr>
            <a:r>
              <a:rPr sz="2100" b="0">
                <a:solidFill>
                  <a:srgbClr val="526776"/>
                </a:solidFill>
                <a:latin typeface="Arial"/>
                <a:ea typeface="Arial"/>
                <a:cs typeface="Arial"/>
              </a:rPr>
              <a:t>Week 6  Learnings and continuation decision</a:t>
            </a:r>
          </a:p>
        </p:txBody>
      </p:sp>
      <p:sp>
        <p:nvSpPr>
          <p:cNvPr id="9" name="Synthetic demo data — not measured customer r">
            <a:extLst xmlns:a="http://schemas.openxmlformats.org/drawingml/2006/main">
              <a:ext uri="{FF2B5EF4-FFF2-40B4-BE49-F238E27FC236}">
                <a16:creationId xmlns:a16="http://schemas.microsoft.com/office/drawing/2014/main" id="{ED198A02-FD15-41BA-9713-8992C509F4B7}"/>
              </a:ext>
            </a:extLst>
          </p:cNvPr>
          <p:cNvSpPr>
            <a:spLocks xmlns:a="http://schemas.openxmlformats.org/drawingml/2006/main" noGrp="1"/>
          </p:cNvSpPr>
          <p:nvPr/>
        </p:nvSpPr>
        <p:spPr>
          <a:xfrm xmlns:a="http://schemas.openxmlformats.org/drawingml/2006/main">
            <a:off x="628650" y="643890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526776"/>
                </a:solidFill>
                <a:latin typeface="Arial"/>
                <a:ea typeface="Arial"/>
                <a:cs typeface="Arial"/>
              </a:defRPr>
            </a:defPPr>
          </a:lstStyle>
          <a:p xmlns:a="http://schemas.openxmlformats.org/drawingml/2006/main">
            <a:pPr>
              <a:defRPr sz="900" b="0">
                <a:solidFill>
                  <a:srgbClr val="526776"/>
                </a:solidFill>
                <a:latin typeface="Arial"/>
                <a:ea typeface="Arial"/>
                <a:cs typeface="Arial"/>
              </a:defRPr>
            </a:pPr>
            <a:r>
              <a:rPr sz="900" b="0">
                <a:solidFill>
                  <a:srgbClr val="526776"/>
                </a:solidFill>
                <a:latin typeface="Arial"/>
                <a:ea typeface="Arial"/>
                <a:cs typeface="Arial"/>
              </a:rPr>
              <a:t>Synthetic demo data — not measured customer results</a:t>
            </a:r>
          </a:p>
        </p:txBody>
      </p:sp>
      <p:sp>
        <p:nvSpPr>
          <p:cNvPr id="10" name="08">
            <a:extLst xmlns:a="http://schemas.openxmlformats.org/drawingml/2006/main">
              <a:ext uri="{FF2B5EF4-FFF2-40B4-BE49-F238E27FC236}">
                <a16:creationId xmlns:a16="http://schemas.microsoft.com/office/drawing/2014/main" id="{88F5C63D-2E45-4BB9-945E-2ADDBE02A921}"/>
              </a:ext>
            </a:extLst>
          </p:cNvPr>
          <p:cNvSpPr>
            <a:spLocks xmlns:a="http://schemas.openxmlformats.org/drawingml/2006/main" noGrp="1"/>
          </p:cNvSpPr>
          <p:nvPr/>
        </p:nvSpPr>
        <p:spPr>
          <a:xfrm xmlns:a="http://schemas.openxmlformats.org/drawingml/2006/main">
            <a:off x="11144250" y="641985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776"/>
                </a:solidFill>
                <a:latin typeface="Arial"/>
                <a:ea typeface="Arial"/>
                <a:cs typeface="Arial"/>
              </a:defRPr>
            </a:defPPr>
          </a:lstStyle>
          <a:p xmlns:a="http://schemas.openxmlformats.org/drawingml/2006/main">
            <a:pPr>
              <a:defRPr sz="1125" b="0">
                <a:solidFill>
                  <a:srgbClr val="526776"/>
                </a:solidFill>
                <a:latin typeface="Arial"/>
                <a:ea typeface="Arial"/>
                <a:cs typeface="Arial"/>
              </a:defRPr>
            </a:pPr>
            <a:r>
              <a:rPr sz="1125" b="0">
                <a:solidFill>
                  <a:srgbClr val="526776"/>
                </a:solidFill>
                <a:latin typeface="Arial"/>
                <a:ea typeface="Arial"/>
                <a:cs typeface="Arial"/>
              </a:rPr>
              <a:t>08</a:t>
            </a:r>
          </a:p>
        </p:txBody>
      </p:sp>
    </p:spTree>
    <p:extLst>
      <p:ext uri="{BB962C8B-B14F-4D97-AF65-F5344CB8AC3E}">
        <p14:creationId xmlns:p14="http://schemas.microsoft.com/office/powerpoint/2010/main" val="1058198662"/>
      </p:ext>
    </p:extLst>
  </p:cSld>
</p:sld>
</file>

<file path=ppt/slides/slide9.xml><?xml version="1.0" encoding="utf-8"?>
<p:sld xmlns:p="http://schemas.openxmlformats.org/presentationml/2006/main">
  <p:cSld>
    <p:bg>
      <p:bgPr>
        <a:solidFill xmlns:a="http://schemas.openxmlformats.org/drawingml/2006/main">
          <a:srgbClr val="F4F7F8"/>
        </a:solidFill>
      </p:bgPr>
    </p:bg>
    <p:spTree>
      <p:nvGrpSpPr>
        <p:cNvPr id="1" name=""/>
        <p:cNvGrpSpPr/>
        <p:nvPr/>
      </p:nvGrpSpPr>
      <p:grpSpPr>
        <a:xfrm xmlns:a="http://schemas.openxmlformats.org/drawingml/2006/main"/>
      </p:grpSpPr>
      <p:sp>
        <p:nvSpPr>
          <p:cNvPr id="10" name="COMMERCIAL HYPOTHESES">
            <a:extLst xmlns:a="http://schemas.openxmlformats.org/drawingml/2006/main">
              <a:ext uri="{FF2B5EF4-FFF2-40B4-BE49-F238E27FC236}">
                <a16:creationId xmlns:a16="http://schemas.microsoft.com/office/drawing/2014/main" id="{B91DB168-DBDC-42DC-8BB0-6263992B8947}"/>
              </a:ext>
            </a:extLst>
          </p:cNvPr>
          <p:cNvSpPr>
            <a:spLocks xmlns:a="http://schemas.openxmlformats.org/drawingml/2006/main" noGrp="1"/>
          </p:cNvSpPr>
          <p:nvPr/>
        </p:nvSpPr>
        <p:spPr>
          <a:xfrm xmlns:a="http://schemas.openxmlformats.org/drawingml/2006/main">
            <a:off x="628650" y="447675"/>
            <a:ext cx="10934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006D77"/>
                </a:solidFill>
                <a:latin typeface="Arial"/>
                <a:ea typeface="Arial"/>
                <a:cs typeface="Arial"/>
              </a:defRPr>
            </a:defPPr>
          </a:lstStyle>
          <a:p xmlns:a="http://schemas.openxmlformats.org/drawingml/2006/main">
            <a:pPr>
              <a:defRPr sz="1050" b="1">
                <a:solidFill>
                  <a:srgbClr val="006D77"/>
                </a:solidFill>
                <a:latin typeface="Arial"/>
                <a:ea typeface="Arial"/>
                <a:cs typeface="Arial"/>
              </a:defRPr>
            </a:pPr>
            <a:r>
              <a:rPr sz="1050" b="1">
                <a:solidFill>
                  <a:srgbClr val="006D77"/>
                </a:solidFill>
                <a:latin typeface="Arial"/>
                <a:ea typeface="Arial"/>
                <a:cs typeface="Arial"/>
              </a:rPr>
              <a:t>COMMERCIAL HYPOTHESES</a:t>
            </a:r>
          </a:p>
        </p:txBody>
      </p:sp>
      <p:sp>
        <p:nvSpPr>
          <p:cNvPr id="2" name="A business model to validate">
            <a:extLst xmlns:a="http://schemas.openxmlformats.org/drawingml/2006/main">
              <a:ext uri="{FF2B5EF4-FFF2-40B4-BE49-F238E27FC236}">
                <a16:creationId xmlns:a16="http://schemas.microsoft.com/office/drawing/2014/main" id="{9A154E43-83CD-4591-AD38-4A028D657B2E}"/>
              </a:ext>
            </a:extLst>
          </p:cNvPr>
          <p:cNvSpPr>
            <a:spLocks xmlns:a="http://schemas.openxmlformats.org/drawingml/2006/main" noGrp="1"/>
          </p:cNvSpPr>
          <p:nvPr/>
        </p:nvSpPr>
        <p:spPr>
          <a:xfrm xmlns:a="http://schemas.openxmlformats.org/drawingml/2006/main">
            <a:off x="628650" y="904875"/>
            <a:ext cx="109347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B3D"/>
                </a:solidFill>
                <a:latin typeface="Arial"/>
                <a:ea typeface="Arial"/>
                <a:cs typeface="Arial"/>
              </a:defRPr>
            </a:defPPr>
          </a:lstStyle>
          <a:p xmlns:a="http://schemas.openxmlformats.org/drawingml/2006/main">
            <a:pPr>
              <a:defRPr sz="3450" b="1">
                <a:solidFill>
                  <a:srgbClr val="142B3D"/>
                </a:solidFill>
                <a:latin typeface="Arial"/>
                <a:ea typeface="Arial"/>
                <a:cs typeface="Arial"/>
              </a:defRPr>
            </a:pPr>
            <a:r>
              <a:rPr sz="3450" b="1">
                <a:solidFill>
                  <a:srgbClr val="142B3D"/>
                </a:solidFill>
                <a:latin typeface="Arial"/>
                <a:ea typeface="Arial"/>
                <a:cs typeface="Arial"/>
              </a:rPr>
              <a:t>A business model to validate</a:t>
            </a:r>
          </a:p>
        </p:txBody>
      </p:sp>
      <p:sp>
        <p:nvSpPr>
          <p:cNvPr id="3" name="Per-building subscription">
            <a:extLst xmlns:a="http://schemas.openxmlformats.org/drawingml/2006/main">
              <a:ext uri="{FF2B5EF4-FFF2-40B4-BE49-F238E27FC236}">
                <a16:creationId xmlns:a16="http://schemas.microsoft.com/office/drawing/2014/main" id="{41608930-3675-4F11-8A7A-9BD9661F97AD}"/>
              </a:ext>
            </a:extLst>
          </p:cNvPr>
          <p:cNvSpPr>
            <a:spLocks xmlns:a="http://schemas.openxmlformats.org/drawingml/2006/main" noGrp="1"/>
          </p:cNvSpPr>
          <p:nvPr/>
        </p:nvSpPr>
        <p:spPr>
          <a:xfrm xmlns:a="http://schemas.openxmlformats.org/drawingml/2006/main">
            <a:off x="685800" y="2047875"/>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006D77"/>
                </a:solidFill>
                <a:latin typeface="Arial"/>
                <a:ea typeface="Arial"/>
                <a:cs typeface="Arial"/>
              </a:defRPr>
            </a:defPPr>
          </a:lstStyle>
          <a:p xmlns:a="http://schemas.openxmlformats.org/drawingml/2006/main">
            <a:pPr>
              <a:defRPr sz="2550" b="0">
                <a:solidFill>
                  <a:srgbClr val="006D77"/>
                </a:solidFill>
                <a:latin typeface="Arial"/>
                <a:ea typeface="Arial"/>
                <a:cs typeface="Arial"/>
              </a:defRPr>
            </a:pPr>
            <a:r>
              <a:rPr sz="2550" b="0">
                <a:solidFill>
                  <a:srgbClr val="006D77"/>
                </a:solidFill>
                <a:latin typeface="Arial"/>
                <a:ea typeface="Arial"/>
                <a:cs typeface="Arial"/>
              </a:rPr>
              <a:t>Per-building subscription</a:t>
            </a:r>
          </a:p>
        </p:txBody>
      </p:sp>
      <p:sp>
        <p:nvSpPr>
          <p:cNvPr id="4" name="Portfolio package">
            <a:extLst xmlns:a="http://schemas.openxmlformats.org/drawingml/2006/main">
              <a:ext uri="{FF2B5EF4-FFF2-40B4-BE49-F238E27FC236}">
                <a16:creationId xmlns:a16="http://schemas.microsoft.com/office/drawing/2014/main" id="{18F7412C-7069-47BD-998F-0F5C864D0D4D}"/>
              </a:ext>
            </a:extLst>
          </p:cNvPr>
          <p:cNvSpPr>
            <a:spLocks xmlns:a="http://schemas.openxmlformats.org/drawingml/2006/main" noGrp="1"/>
          </p:cNvSpPr>
          <p:nvPr/>
        </p:nvSpPr>
        <p:spPr>
          <a:xfrm xmlns:a="http://schemas.openxmlformats.org/drawingml/2006/main">
            <a:off x="685800" y="276225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006D77"/>
                </a:solidFill>
                <a:latin typeface="Arial"/>
                <a:ea typeface="Arial"/>
                <a:cs typeface="Arial"/>
              </a:defRPr>
            </a:defPPr>
          </a:lstStyle>
          <a:p xmlns:a="http://schemas.openxmlformats.org/drawingml/2006/main">
            <a:pPr>
              <a:defRPr sz="2550" b="0">
                <a:solidFill>
                  <a:srgbClr val="006D77"/>
                </a:solidFill>
                <a:latin typeface="Arial"/>
                <a:ea typeface="Arial"/>
                <a:cs typeface="Arial"/>
              </a:defRPr>
            </a:pPr>
            <a:r>
              <a:rPr sz="2550" b="0">
                <a:solidFill>
                  <a:srgbClr val="006D77"/>
                </a:solidFill>
                <a:latin typeface="Arial"/>
                <a:ea typeface="Arial"/>
                <a:cs typeface="Arial"/>
              </a:rPr>
              <a:t>Portfolio package</a:t>
            </a:r>
          </a:p>
        </p:txBody>
      </p:sp>
      <p:sp>
        <p:nvSpPr>
          <p:cNvPr id="5" name="Setup or pilot fee + subscription">
            <a:extLst xmlns:a="http://schemas.openxmlformats.org/drawingml/2006/main">
              <a:ext uri="{FF2B5EF4-FFF2-40B4-BE49-F238E27FC236}">
                <a16:creationId xmlns:a16="http://schemas.microsoft.com/office/drawing/2014/main" id="{EBD22E97-936B-4486-B68E-F3D7DA91589F}"/>
              </a:ext>
            </a:extLst>
          </p:cNvPr>
          <p:cNvSpPr>
            <a:spLocks xmlns:a="http://schemas.openxmlformats.org/drawingml/2006/main" noGrp="1"/>
          </p:cNvSpPr>
          <p:nvPr/>
        </p:nvSpPr>
        <p:spPr>
          <a:xfrm xmlns:a="http://schemas.openxmlformats.org/drawingml/2006/main">
            <a:off x="685800" y="3476625"/>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006D77"/>
                </a:solidFill>
                <a:latin typeface="Arial"/>
                <a:ea typeface="Arial"/>
                <a:cs typeface="Arial"/>
              </a:defRPr>
            </a:defPPr>
          </a:lstStyle>
          <a:p xmlns:a="http://schemas.openxmlformats.org/drawingml/2006/main">
            <a:pPr>
              <a:defRPr sz="2550" b="1">
                <a:solidFill>
                  <a:srgbClr val="006D77"/>
                </a:solidFill>
                <a:latin typeface="Arial"/>
                <a:ea typeface="Arial"/>
                <a:cs typeface="Arial"/>
              </a:defRPr>
            </a:pPr>
            <a:r>
              <a:rPr sz="2550" b="1">
                <a:solidFill>
                  <a:srgbClr val="006D77"/>
                </a:solidFill>
                <a:latin typeface="Arial"/>
                <a:ea typeface="Arial"/>
                <a:cs typeface="Arial"/>
              </a:rPr>
              <a:t>Setup or pilot fee + subscription</a:t>
            </a:r>
          </a:p>
        </p:txBody>
      </p:sp>
      <p:sp>
        <p:nvSpPr>
          <p:cNvPr id="6" name="Discovery starts with manager interviews and ">
            <a:extLst xmlns:a="http://schemas.openxmlformats.org/drawingml/2006/main">
              <a:ext uri="{FF2B5EF4-FFF2-40B4-BE49-F238E27FC236}">
                <a16:creationId xmlns:a16="http://schemas.microsoft.com/office/drawing/2014/main" id="{7683C249-6291-4E67-A921-49ACB69030B0}"/>
              </a:ext>
            </a:extLst>
          </p:cNvPr>
          <p:cNvSpPr>
            <a:spLocks xmlns:a="http://schemas.openxmlformats.org/drawingml/2006/main" noGrp="1"/>
          </p:cNvSpPr>
          <p:nvPr/>
        </p:nvSpPr>
        <p:spPr>
          <a:xfrm xmlns:a="http://schemas.openxmlformats.org/drawingml/2006/main">
            <a:off x="685800" y="457200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42B3D"/>
                </a:solidFill>
                <a:latin typeface="Arial"/>
                <a:ea typeface="Arial"/>
                <a:cs typeface="Arial"/>
              </a:defRPr>
            </a:defPPr>
          </a:lstStyle>
          <a:p xmlns:a="http://schemas.openxmlformats.org/drawingml/2006/main">
            <a:pPr>
              <a:defRPr sz="2175" b="0">
                <a:solidFill>
                  <a:srgbClr val="142B3D"/>
                </a:solidFill>
                <a:latin typeface="Arial"/>
                <a:ea typeface="Arial"/>
                <a:cs typeface="Arial"/>
              </a:defRPr>
            </a:pPr>
            <a:r>
              <a:rPr sz="2175" b="0">
                <a:solidFill>
                  <a:srgbClr val="142B3D"/>
                </a:solidFill>
                <a:latin typeface="Arial"/>
                <a:ea typeface="Arial"/>
                <a:cs typeface="Arial"/>
              </a:rPr>
              <a:t>Discovery starts with manager interviews and a small authorized pilot.</a:t>
            </a:r>
          </a:p>
        </p:txBody>
      </p:sp>
      <p:sp>
        <p:nvSpPr>
          <p:cNvPr id="7" name="Price and support costs remain unvalidated.">
            <a:extLst xmlns:a="http://schemas.openxmlformats.org/drawingml/2006/main">
              <a:ext uri="{FF2B5EF4-FFF2-40B4-BE49-F238E27FC236}">
                <a16:creationId xmlns:a16="http://schemas.microsoft.com/office/drawing/2014/main" id="{A5000C55-645C-4028-B405-DB6050A9A279}"/>
              </a:ext>
            </a:extLst>
          </p:cNvPr>
          <p:cNvSpPr>
            <a:spLocks xmlns:a="http://schemas.openxmlformats.org/drawingml/2006/main" noGrp="1"/>
          </p:cNvSpPr>
          <p:nvPr/>
        </p:nvSpPr>
        <p:spPr>
          <a:xfrm xmlns:a="http://schemas.openxmlformats.org/drawingml/2006/main">
            <a:off x="685800" y="5572125"/>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776"/>
                </a:solidFill>
                <a:latin typeface="Arial"/>
                <a:ea typeface="Arial"/>
                <a:cs typeface="Arial"/>
              </a:defRPr>
            </a:defPPr>
          </a:lstStyle>
          <a:p xmlns:a="http://schemas.openxmlformats.org/drawingml/2006/main">
            <a:pPr>
              <a:defRPr sz="1650" b="0">
                <a:solidFill>
                  <a:srgbClr val="526776"/>
                </a:solidFill>
                <a:latin typeface="Arial"/>
                <a:ea typeface="Arial"/>
                <a:cs typeface="Arial"/>
              </a:defRPr>
            </a:pPr>
            <a:r>
              <a:rPr sz="1650" b="0">
                <a:solidFill>
                  <a:srgbClr val="526776"/>
                </a:solidFill>
                <a:latin typeface="Arial"/>
                <a:ea typeface="Arial"/>
                <a:cs typeface="Arial"/>
              </a:rPr>
              <a:t>Price and support costs remain unvalidated.</a:t>
            </a:r>
          </a:p>
        </p:txBody>
      </p:sp>
      <p:sp>
        <p:nvSpPr>
          <p:cNvPr id="8" name="Synthetic demo data — not measured customer r">
            <a:extLst xmlns:a="http://schemas.openxmlformats.org/drawingml/2006/main">
              <a:ext uri="{FF2B5EF4-FFF2-40B4-BE49-F238E27FC236}">
                <a16:creationId xmlns:a16="http://schemas.microsoft.com/office/drawing/2014/main" id="{6F3C4356-9030-440D-8BA9-A8BDF2DF5E1D}"/>
              </a:ext>
            </a:extLst>
          </p:cNvPr>
          <p:cNvSpPr>
            <a:spLocks xmlns:a="http://schemas.openxmlformats.org/drawingml/2006/main" noGrp="1"/>
          </p:cNvSpPr>
          <p:nvPr/>
        </p:nvSpPr>
        <p:spPr>
          <a:xfrm xmlns:a="http://schemas.openxmlformats.org/drawingml/2006/main">
            <a:off x="628650" y="643890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526776"/>
                </a:solidFill>
                <a:latin typeface="Arial"/>
                <a:ea typeface="Arial"/>
                <a:cs typeface="Arial"/>
              </a:defRPr>
            </a:defPPr>
          </a:lstStyle>
          <a:p xmlns:a="http://schemas.openxmlformats.org/drawingml/2006/main">
            <a:pPr>
              <a:defRPr sz="900" b="0">
                <a:solidFill>
                  <a:srgbClr val="526776"/>
                </a:solidFill>
                <a:latin typeface="Arial"/>
                <a:ea typeface="Arial"/>
                <a:cs typeface="Arial"/>
              </a:defRPr>
            </a:pPr>
            <a:r>
              <a:rPr sz="900" b="0">
                <a:solidFill>
                  <a:srgbClr val="526776"/>
                </a:solidFill>
                <a:latin typeface="Arial"/>
                <a:ea typeface="Arial"/>
                <a:cs typeface="Arial"/>
              </a:rPr>
              <a:t>Synthetic demo data — not measured customer results</a:t>
            </a:r>
          </a:p>
        </p:txBody>
      </p:sp>
      <p:sp>
        <p:nvSpPr>
          <p:cNvPr id="9" name="09">
            <a:extLst xmlns:a="http://schemas.openxmlformats.org/drawingml/2006/main">
              <a:ext uri="{FF2B5EF4-FFF2-40B4-BE49-F238E27FC236}">
                <a16:creationId xmlns:a16="http://schemas.microsoft.com/office/drawing/2014/main" id="{9FF1D89B-276E-4CAC-A6E6-1B7592AD7C13}"/>
              </a:ext>
            </a:extLst>
          </p:cNvPr>
          <p:cNvSpPr>
            <a:spLocks xmlns:a="http://schemas.openxmlformats.org/drawingml/2006/main" noGrp="1"/>
          </p:cNvSpPr>
          <p:nvPr/>
        </p:nvSpPr>
        <p:spPr>
          <a:xfrm xmlns:a="http://schemas.openxmlformats.org/drawingml/2006/main">
            <a:off x="11144250" y="641985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776"/>
                </a:solidFill>
                <a:latin typeface="Arial"/>
                <a:ea typeface="Arial"/>
                <a:cs typeface="Arial"/>
              </a:defRPr>
            </a:defPPr>
          </a:lstStyle>
          <a:p xmlns:a="http://schemas.openxmlformats.org/drawingml/2006/main">
            <a:pPr>
              <a:defRPr sz="1125" b="0">
                <a:solidFill>
                  <a:srgbClr val="526776"/>
                </a:solidFill>
                <a:latin typeface="Arial"/>
                <a:ea typeface="Arial"/>
                <a:cs typeface="Arial"/>
              </a:defRPr>
            </a:pPr>
            <a:r>
              <a:rPr sz="1125" b="0">
                <a:solidFill>
                  <a:srgbClr val="526776"/>
                </a:solidFill>
                <a:latin typeface="Arial"/>
                <a:ea typeface="Arial"/>
                <a:cs typeface="Arial"/>
              </a:rPr>
              <a:t>09</a:t>
            </a:r>
          </a:p>
        </p:txBody>
      </p:sp>
    </p:spTree>
    <p:extLst>
      <p:ext uri="{BB962C8B-B14F-4D97-AF65-F5344CB8AC3E}">
        <p14:creationId xmlns:p14="http://schemas.microsoft.com/office/powerpoint/2010/main" val="2058780067"/>
      </p:ext>
    </p:extLst>
  </p:cSld>
</p:sld>
</file>

<file path=ppt/slides/slide10.xml><?xml version="1.0" encoding="utf-8"?>
<p:sld xmlns:p="http://schemas.openxmlformats.org/presentationml/2006/main">
  <p:cSld>
    <p:bg>
      <p:bgPr>
        <a:solidFill xmlns:a="http://schemas.openxmlformats.org/drawingml/2006/main">
          <a:srgbClr val="F4F7F8"/>
        </a:solidFill>
      </p:bgPr>
    </p:bg>
    <p:spTree>
      <p:nvGrpSpPr>
        <p:cNvPr id="1" name=""/>
        <p:cNvGrpSpPr/>
        <p:nvPr/>
      </p:nvGrpSpPr>
      <p:grpSpPr>
        <a:xfrm xmlns:a="http://schemas.openxmlformats.org/drawingml/2006/main"/>
      </p:grpSpPr>
      <p:sp>
        <p:nvSpPr>
          <p:cNvPr id="9" name="READINESS">
            <a:extLst xmlns:a="http://schemas.openxmlformats.org/drawingml/2006/main">
              <a:ext uri="{FF2B5EF4-FFF2-40B4-BE49-F238E27FC236}">
                <a16:creationId xmlns:a16="http://schemas.microsoft.com/office/drawing/2014/main" id="{B76845FD-B197-4AB1-93EA-52C57AAFBE0F}"/>
              </a:ext>
            </a:extLst>
          </p:cNvPr>
          <p:cNvSpPr>
            <a:spLocks xmlns:a="http://schemas.openxmlformats.org/drawingml/2006/main" noGrp="1"/>
          </p:cNvSpPr>
          <p:nvPr/>
        </p:nvSpPr>
        <p:spPr>
          <a:xfrm xmlns:a="http://schemas.openxmlformats.org/drawingml/2006/main">
            <a:off x="628650" y="447675"/>
            <a:ext cx="10934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006D77"/>
                </a:solidFill>
                <a:latin typeface="Arial"/>
                <a:ea typeface="Arial"/>
                <a:cs typeface="Arial"/>
              </a:defRPr>
            </a:defPPr>
          </a:lstStyle>
          <a:p xmlns:a="http://schemas.openxmlformats.org/drawingml/2006/main">
            <a:pPr>
              <a:defRPr sz="1050" b="1">
                <a:solidFill>
                  <a:srgbClr val="006D77"/>
                </a:solidFill>
                <a:latin typeface="Arial"/>
                <a:ea typeface="Arial"/>
                <a:cs typeface="Arial"/>
              </a:defRPr>
            </a:pPr>
            <a:r>
              <a:rPr sz="1050" b="1">
                <a:solidFill>
                  <a:srgbClr val="006D77"/>
                </a:solidFill>
                <a:latin typeface="Arial"/>
                <a:ea typeface="Arial"/>
                <a:cs typeface="Arial"/>
              </a:rPr>
              <a:t>READINESS</a:t>
            </a:r>
          </a:p>
        </p:txBody>
      </p:sp>
      <p:sp>
        <p:nvSpPr>
          <p:cNvPr id="2" name="Demonstrated and still pending">
            <a:extLst xmlns:a="http://schemas.openxmlformats.org/drawingml/2006/main">
              <a:ext uri="{FF2B5EF4-FFF2-40B4-BE49-F238E27FC236}">
                <a16:creationId xmlns:a16="http://schemas.microsoft.com/office/drawing/2014/main" id="{53732A1D-D540-4054-A53A-C71A6BEE0B84}"/>
              </a:ext>
            </a:extLst>
          </p:cNvPr>
          <p:cNvSpPr>
            <a:spLocks xmlns:a="http://schemas.openxmlformats.org/drawingml/2006/main" noGrp="1"/>
          </p:cNvSpPr>
          <p:nvPr/>
        </p:nvSpPr>
        <p:spPr>
          <a:xfrm xmlns:a="http://schemas.openxmlformats.org/drawingml/2006/main">
            <a:off x="628650" y="904875"/>
            <a:ext cx="109347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B3D"/>
                </a:solidFill>
                <a:latin typeface="Arial"/>
                <a:ea typeface="Arial"/>
                <a:cs typeface="Arial"/>
              </a:defRPr>
            </a:defPPr>
          </a:lstStyle>
          <a:p xmlns:a="http://schemas.openxmlformats.org/drawingml/2006/main">
            <a:pPr>
              <a:defRPr sz="3450" b="1">
                <a:solidFill>
                  <a:srgbClr val="142B3D"/>
                </a:solidFill>
                <a:latin typeface="Arial"/>
                <a:ea typeface="Arial"/>
                <a:cs typeface="Arial"/>
              </a:defRPr>
            </a:pPr>
            <a:r>
              <a:rPr sz="3450" b="1">
                <a:solidFill>
                  <a:srgbClr val="142B3D"/>
                </a:solidFill>
                <a:latin typeface="Arial"/>
                <a:ea typeface="Arial"/>
                <a:cs typeface="Arial"/>
              </a:rPr>
              <a:t>Demonstrated and still pending</a:t>
            </a:r>
          </a:p>
        </p:txBody>
      </p:sp>
      <p:sp>
        <p:nvSpPr>
          <p:cNvPr id="3" name="Demonstrated locally">
            <a:extLst xmlns:a="http://schemas.openxmlformats.org/drawingml/2006/main">
              <a:ext uri="{FF2B5EF4-FFF2-40B4-BE49-F238E27FC236}">
                <a16:creationId xmlns:a16="http://schemas.microsoft.com/office/drawing/2014/main" id="{F3718757-ABDB-47A7-A7EF-3F103D18BAE2}"/>
              </a:ext>
            </a:extLst>
          </p:cNvPr>
          <p:cNvSpPr>
            <a:spLocks xmlns:a="http://schemas.openxmlformats.org/drawingml/2006/main" noGrp="1"/>
          </p:cNvSpPr>
          <p:nvPr/>
        </p:nvSpPr>
        <p:spPr>
          <a:xfrm xmlns:a="http://schemas.openxmlformats.org/drawingml/2006/main">
            <a:off x="666750" y="2143125"/>
            <a:ext cx="457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06D77"/>
                </a:solidFill>
                <a:latin typeface="Arial"/>
                <a:ea typeface="Arial"/>
                <a:cs typeface="Arial"/>
              </a:defRPr>
            </a:defPPr>
          </a:lstStyle>
          <a:p xmlns:a="http://schemas.openxmlformats.org/drawingml/2006/main">
            <a:pPr>
              <a:defRPr sz="2250" b="1">
                <a:solidFill>
                  <a:srgbClr val="006D77"/>
                </a:solidFill>
                <a:latin typeface="Arial"/>
                <a:ea typeface="Arial"/>
                <a:cs typeface="Arial"/>
              </a:defRPr>
            </a:pPr>
            <a:r>
              <a:rPr sz="2250" b="1">
                <a:solidFill>
                  <a:srgbClr val="006D77"/>
                </a:solidFill>
                <a:latin typeface="Arial"/>
                <a:ea typeface="Arial"/>
                <a:cs typeface="Arial"/>
              </a:rPr>
              <a:t>Demonstrated locally</a:t>
            </a:r>
          </a:p>
        </p:txBody>
      </p:sp>
      <p:sp>
        <p:nvSpPr>
          <p:cNvPr id="4" name="Synthetic engine, imports, evidence reports, ">
            <a:extLst xmlns:a="http://schemas.openxmlformats.org/drawingml/2006/main">
              <a:ext uri="{FF2B5EF4-FFF2-40B4-BE49-F238E27FC236}">
                <a16:creationId xmlns:a16="http://schemas.microsoft.com/office/drawing/2014/main" id="{78E89F39-097F-4E9B-B37C-9AD5AB8FFA86}"/>
              </a:ext>
            </a:extLst>
          </p:cNvPr>
          <p:cNvSpPr>
            <a:spLocks xmlns:a="http://schemas.openxmlformats.org/drawingml/2006/main" noGrp="1"/>
          </p:cNvSpPr>
          <p:nvPr/>
        </p:nvSpPr>
        <p:spPr>
          <a:xfrm xmlns:a="http://schemas.openxmlformats.org/drawingml/2006/main">
            <a:off x="666750" y="2952750"/>
            <a:ext cx="45720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42B3D"/>
                </a:solidFill>
                <a:latin typeface="Arial"/>
                <a:ea typeface="Arial"/>
                <a:cs typeface="Arial"/>
              </a:defRPr>
            </a:defPPr>
          </a:lstStyle>
          <a:p xmlns:a="http://schemas.openxmlformats.org/drawingml/2006/main">
            <a:pPr>
              <a:defRPr sz="2250" b="0">
                <a:solidFill>
                  <a:srgbClr val="142B3D"/>
                </a:solidFill>
                <a:latin typeface="Arial"/>
                <a:ea typeface="Arial"/>
                <a:cs typeface="Arial"/>
              </a:defRPr>
            </a:pPr>
            <a:r>
              <a:rPr sz="2250" b="0">
                <a:solidFill>
                  <a:srgbClr val="142B3D"/>
                </a:solidFill>
                <a:latin typeface="Arial"/>
                <a:ea typeface="Arial"/>
                <a:cs typeface="Arial"/>
              </a:rPr>
              <a:t>Synthetic engine, imports, evidence reports, source documents and tested consent/approval boundaries.</a:t>
            </a:r>
          </a:p>
        </p:txBody>
      </p:sp>
      <p:sp>
        <p:nvSpPr>
          <p:cNvPr id="5" name="Pending before a real pilot">
            <a:extLst xmlns:a="http://schemas.openxmlformats.org/drawingml/2006/main">
              <a:ext uri="{FF2B5EF4-FFF2-40B4-BE49-F238E27FC236}">
                <a16:creationId xmlns:a16="http://schemas.microsoft.com/office/drawing/2014/main" id="{A42456EF-8988-44D7-9D8C-5EBF4F74A32C}"/>
              </a:ext>
            </a:extLst>
          </p:cNvPr>
          <p:cNvSpPr>
            <a:spLocks xmlns:a="http://schemas.openxmlformats.org/drawingml/2006/main" noGrp="1"/>
          </p:cNvSpPr>
          <p:nvPr/>
        </p:nvSpPr>
        <p:spPr>
          <a:xfrm xmlns:a="http://schemas.openxmlformats.org/drawingml/2006/main">
            <a:off x="6381750" y="2143125"/>
            <a:ext cx="4762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06D77"/>
                </a:solidFill>
                <a:latin typeface="Arial"/>
                <a:ea typeface="Arial"/>
                <a:cs typeface="Arial"/>
              </a:defRPr>
            </a:defPPr>
          </a:lstStyle>
          <a:p xmlns:a="http://schemas.openxmlformats.org/drawingml/2006/main">
            <a:pPr>
              <a:defRPr sz="2250" b="1">
                <a:solidFill>
                  <a:srgbClr val="006D77"/>
                </a:solidFill>
                <a:latin typeface="Arial"/>
                <a:ea typeface="Arial"/>
                <a:cs typeface="Arial"/>
              </a:defRPr>
            </a:pPr>
            <a:r>
              <a:rPr sz="2250" b="1">
                <a:solidFill>
                  <a:srgbClr val="006D77"/>
                </a:solidFill>
                <a:latin typeface="Arial"/>
                <a:ea typeface="Arial"/>
                <a:cs typeface="Arial"/>
              </a:rPr>
              <a:t>Pending before a real pilot</a:t>
            </a:r>
          </a:p>
        </p:txBody>
      </p:sp>
      <p:sp>
        <p:nvSpPr>
          <p:cNvPr id="6" name="Live Claude verification, real weather, ident">
            <a:extLst xmlns:a="http://schemas.openxmlformats.org/drawingml/2006/main">
              <a:ext uri="{FF2B5EF4-FFF2-40B4-BE49-F238E27FC236}">
                <a16:creationId xmlns:a16="http://schemas.microsoft.com/office/drawing/2014/main" id="{B66F9743-66B2-4D59-92DB-2536131612D8}"/>
              </a:ext>
            </a:extLst>
          </p:cNvPr>
          <p:cNvSpPr>
            <a:spLocks xmlns:a="http://schemas.openxmlformats.org/drawingml/2006/main" noGrp="1"/>
          </p:cNvSpPr>
          <p:nvPr/>
        </p:nvSpPr>
        <p:spPr>
          <a:xfrm xmlns:a="http://schemas.openxmlformats.org/drawingml/2006/main">
            <a:off x="6381750" y="3190875"/>
            <a:ext cx="46672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42B3D"/>
                </a:solidFill>
                <a:latin typeface="Arial"/>
                <a:ea typeface="Arial"/>
                <a:cs typeface="Arial"/>
              </a:defRPr>
            </a:defPPr>
          </a:lstStyle>
          <a:p xmlns:a="http://schemas.openxmlformats.org/drawingml/2006/main">
            <a:pPr>
              <a:defRPr sz="2250" b="0">
                <a:solidFill>
                  <a:srgbClr val="142B3D"/>
                </a:solidFill>
                <a:latin typeface="Arial"/>
                <a:ea typeface="Arial"/>
                <a:cs typeface="Arial"/>
              </a:defRPr>
            </a:pPr>
            <a:r>
              <a:rPr sz="2250" b="0">
                <a:solidFill>
                  <a:srgbClr val="142B3D"/>
                </a:solidFill>
                <a:latin typeface="Arial"/>
                <a:ea typeface="Arial"/>
                <a:cs typeface="Arial"/>
              </a:rPr>
              <a:t>Live Claude verification, real weather, identity deployment, data agreements and independent expert review.</a:t>
            </a:r>
          </a:p>
        </p:txBody>
      </p:sp>
      <p:sp>
        <p:nvSpPr>
          <p:cNvPr id="7" name="Synthetic demo data — not measured customer r">
            <a:extLst xmlns:a="http://schemas.openxmlformats.org/drawingml/2006/main">
              <a:ext uri="{FF2B5EF4-FFF2-40B4-BE49-F238E27FC236}">
                <a16:creationId xmlns:a16="http://schemas.microsoft.com/office/drawing/2014/main" id="{5FB67B71-9790-4905-B4D7-58CE6728EDB8}"/>
              </a:ext>
            </a:extLst>
          </p:cNvPr>
          <p:cNvSpPr>
            <a:spLocks xmlns:a="http://schemas.openxmlformats.org/drawingml/2006/main" noGrp="1"/>
          </p:cNvSpPr>
          <p:nvPr/>
        </p:nvSpPr>
        <p:spPr>
          <a:xfrm xmlns:a="http://schemas.openxmlformats.org/drawingml/2006/main">
            <a:off x="628650" y="643890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526776"/>
                </a:solidFill>
                <a:latin typeface="Arial"/>
                <a:ea typeface="Arial"/>
                <a:cs typeface="Arial"/>
              </a:defRPr>
            </a:defPPr>
          </a:lstStyle>
          <a:p xmlns:a="http://schemas.openxmlformats.org/drawingml/2006/main">
            <a:pPr>
              <a:defRPr sz="900" b="0">
                <a:solidFill>
                  <a:srgbClr val="526776"/>
                </a:solidFill>
                <a:latin typeface="Arial"/>
                <a:ea typeface="Arial"/>
                <a:cs typeface="Arial"/>
              </a:defRPr>
            </a:pPr>
            <a:r>
              <a:rPr sz="900" b="0">
                <a:solidFill>
                  <a:srgbClr val="526776"/>
                </a:solidFill>
                <a:latin typeface="Arial"/>
                <a:ea typeface="Arial"/>
                <a:cs typeface="Arial"/>
              </a:rPr>
              <a:t>Synthetic demo data — not measured customer results</a:t>
            </a:r>
          </a:p>
        </p:txBody>
      </p:sp>
      <p:sp>
        <p:nvSpPr>
          <p:cNvPr id="8" name="10">
            <a:extLst xmlns:a="http://schemas.openxmlformats.org/drawingml/2006/main">
              <a:ext uri="{FF2B5EF4-FFF2-40B4-BE49-F238E27FC236}">
                <a16:creationId xmlns:a16="http://schemas.microsoft.com/office/drawing/2014/main" id="{6229F26B-6B04-4A06-8384-12046981A69C}"/>
              </a:ext>
            </a:extLst>
          </p:cNvPr>
          <p:cNvSpPr>
            <a:spLocks xmlns:a="http://schemas.openxmlformats.org/drawingml/2006/main" noGrp="1"/>
          </p:cNvSpPr>
          <p:nvPr/>
        </p:nvSpPr>
        <p:spPr>
          <a:xfrm xmlns:a="http://schemas.openxmlformats.org/drawingml/2006/main">
            <a:off x="11144250" y="641985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776"/>
                </a:solidFill>
                <a:latin typeface="Arial"/>
                <a:ea typeface="Arial"/>
                <a:cs typeface="Arial"/>
              </a:defRPr>
            </a:defPPr>
          </a:lstStyle>
          <a:p xmlns:a="http://schemas.openxmlformats.org/drawingml/2006/main">
            <a:pPr>
              <a:defRPr sz="1125" b="0">
                <a:solidFill>
                  <a:srgbClr val="526776"/>
                </a:solidFill>
                <a:latin typeface="Arial"/>
                <a:ea typeface="Arial"/>
                <a:cs typeface="Arial"/>
              </a:defRPr>
            </a:pPr>
            <a:r>
              <a:rPr sz="1125" b="0">
                <a:solidFill>
                  <a:srgbClr val="526776"/>
                </a:solidFill>
                <a:latin typeface="Arial"/>
                <a:ea typeface="Arial"/>
                <a:cs typeface="Arial"/>
              </a:rPr>
              <a:t>10</a:t>
            </a:r>
          </a:p>
        </p:txBody>
      </p:sp>
    </p:spTree>
    <p:extLst>
      <p:ext uri="{BB962C8B-B14F-4D97-AF65-F5344CB8AC3E}">
        <p14:creationId xmlns:p14="http://schemas.microsoft.com/office/powerpoint/2010/main" val="1427776544"/>
      </p:ext>
    </p:extLst>
  </p:cSld>
</p:sld>
</file>

<file path=ppt/slides/slide11.xml><?xml version="1.0" encoding="utf-8"?>
<p:sld xmlns:p="http://schemas.openxmlformats.org/presentationml/2006/main">
  <p:cSld>
    <p:bg>
      <p:bgPr>
        <a:solidFill xmlns:a="http://schemas.openxmlformats.org/drawingml/2006/main">
          <a:srgbClr val="F4F7F8"/>
        </a:solidFill>
      </p:bgPr>
    </p:bg>
    <p:spTree>
      <p:nvGrpSpPr>
        <p:cNvPr id="1" name=""/>
        <p:cNvGrpSpPr/>
        <p:nvPr/>
      </p:nvGrpSpPr>
      <p:grpSpPr>
        <a:xfrm xmlns:a="http://schemas.openxmlformats.org/drawingml/2006/main"/>
      </p:grpSpPr>
      <p:sp>
        <p:nvSpPr>
          <p:cNvPr id="10" name="CAPACITY TO CONFIRM">
            <a:extLst xmlns:a="http://schemas.openxmlformats.org/drawingml/2006/main">
              <a:ext uri="{FF2B5EF4-FFF2-40B4-BE49-F238E27FC236}">
                <a16:creationId xmlns:a16="http://schemas.microsoft.com/office/drawing/2014/main" id="{71D09D9B-5332-4BED-846E-A3B9EAA910F4}"/>
              </a:ext>
            </a:extLst>
          </p:cNvPr>
          <p:cNvSpPr>
            <a:spLocks xmlns:a="http://schemas.openxmlformats.org/drawingml/2006/main" noGrp="1"/>
          </p:cNvSpPr>
          <p:nvPr/>
        </p:nvSpPr>
        <p:spPr>
          <a:xfrm xmlns:a="http://schemas.openxmlformats.org/drawingml/2006/main">
            <a:off x="628650" y="447675"/>
            <a:ext cx="10934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006D77"/>
                </a:solidFill>
                <a:latin typeface="Arial"/>
                <a:ea typeface="Arial"/>
                <a:cs typeface="Arial"/>
              </a:defRPr>
            </a:defPPr>
          </a:lstStyle>
          <a:p xmlns:a="http://schemas.openxmlformats.org/drawingml/2006/main">
            <a:pPr>
              <a:defRPr sz="1050" b="1">
                <a:solidFill>
                  <a:srgbClr val="006D77"/>
                </a:solidFill>
                <a:latin typeface="Arial"/>
                <a:ea typeface="Arial"/>
                <a:cs typeface="Arial"/>
              </a:defRPr>
            </a:pPr>
            <a:r>
              <a:rPr sz="1050" b="1">
                <a:solidFill>
                  <a:srgbClr val="006D77"/>
                </a:solidFill>
                <a:latin typeface="Arial"/>
                <a:ea typeface="Arial"/>
                <a:cs typeface="Arial"/>
              </a:rPr>
              <a:t>CAPACITY TO CONFIRM</a:t>
            </a:r>
          </a:p>
        </p:txBody>
      </p:sp>
      <p:sp>
        <p:nvSpPr>
          <p:cNvPr id="2" name="Founder details and open roles">
            <a:extLst xmlns:a="http://schemas.openxmlformats.org/drawingml/2006/main">
              <a:ext uri="{FF2B5EF4-FFF2-40B4-BE49-F238E27FC236}">
                <a16:creationId xmlns:a16="http://schemas.microsoft.com/office/drawing/2014/main" id="{C2652218-0EBA-4F55-B28D-405A66F4B814}"/>
              </a:ext>
            </a:extLst>
          </p:cNvPr>
          <p:cNvSpPr>
            <a:spLocks xmlns:a="http://schemas.openxmlformats.org/drawingml/2006/main" noGrp="1"/>
          </p:cNvSpPr>
          <p:nvPr/>
        </p:nvSpPr>
        <p:spPr>
          <a:xfrm xmlns:a="http://schemas.openxmlformats.org/drawingml/2006/main">
            <a:off x="628650" y="904875"/>
            <a:ext cx="109347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B3D"/>
                </a:solidFill>
                <a:latin typeface="Arial"/>
                <a:ea typeface="Arial"/>
                <a:cs typeface="Arial"/>
              </a:defRPr>
            </a:defPPr>
          </a:lstStyle>
          <a:p xmlns:a="http://schemas.openxmlformats.org/drawingml/2006/main">
            <a:pPr>
              <a:defRPr sz="3450" b="1">
                <a:solidFill>
                  <a:srgbClr val="142B3D"/>
                </a:solidFill>
                <a:latin typeface="Arial"/>
                <a:ea typeface="Arial"/>
                <a:cs typeface="Arial"/>
              </a:defRPr>
            </a:pPr>
            <a:r>
              <a:rPr sz="3450" b="1">
                <a:solidFill>
                  <a:srgbClr val="142B3D"/>
                </a:solidFill>
                <a:latin typeface="Arial"/>
                <a:ea typeface="Arial"/>
                <a:cs typeface="Arial"/>
              </a:rPr>
              <a:t>Founder details and open roles</a:t>
            </a:r>
          </a:p>
        </p:txBody>
      </p:sp>
      <p:sp>
        <p:nvSpPr>
          <p:cNvPr id="3" name="Founder biography and confirmed team informat">
            <a:extLst xmlns:a="http://schemas.openxmlformats.org/drawingml/2006/main">
              <a:ext uri="{FF2B5EF4-FFF2-40B4-BE49-F238E27FC236}">
                <a16:creationId xmlns:a16="http://schemas.microsoft.com/office/drawing/2014/main" id="{4F917777-2699-4FFE-9D1E-A01F1B6E9A28}"/>
              </a:ext>
            </a:extLst>
          </p:cNvPr>
          <p:cNvSpPr>
            <a:spLocks xmlns:a="http://schemas.openxmlformats.org/drawingml/2006/main" noGrp="1"/>
          </p:cNvSpPr>
          <p:nvPr/>
        </p:nvSpPr>
        <p:spPr>
          <a:xfrm xmlns:a="http://schemas.openxmlformats.org/drawingml/2006/main">
            <a:off x="685800" y="204787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42B3D"/>
                </a:solidFill>
                <a:latin typeface="Arial"/>
                <a:ea typeface="Arial"/>
                <a:cs typeface="Arial"/>
              </a:defRPr>
            </a:defPPr>
          </a:lstStyle>
          <a:p xmlns:a="http://schemas.openxmlformats.org/drawingml/2006/main">
            <a:pPr>
              <a:defRPr sz="2400" b="0">
                <a:solidFill>
                  <a:srgbClr val="142B3D"/>
                </a:solidFill>
                <a:latin typeface="Arial"/>
                <a:ea typeface="Arial"/>
                <a:cs typeface="Arial"/>
              </a:defRPr>
            </a:pPr>
            <a:r>
              <a:rPr sz="2400" b="0">
                <a:solidFill>
                  <a:srgbClr val="142B3D"/>
                </a:solidFill>
                <a:latin typeface="Arial"/>
                <a:ea typeface="Arial"/>
                <a:cs typeface="Arial"/>
              </a:rPr>
              <a:t>Founder biography and confirmed team information have not been supplied.</a:t>
            </a:r>
          </a:p>
        </p:txBody>
      </p:sp>
      <p:sp>
        <p:nvSpPr>
          <p:cNvPr id="4" name="Needed for a credible pilot:">
            <a:extLst xmlns:a="http://schemas.openxmlformats.org/drawingml/2006/main">
              <a:ext uri="{FF2B5EF4-FFF2-40B4-BE49-F238E27FC236}">
                <a16:creationId xmlns:a16="http://schemas.microsoft.com/office/drawing/2014/main" id="{5E31A88A-B6DD-4B09-BAE1-E1593F61DDAD}"/>
              </a:ext>
            </a:extLst>
          </p:cNvPr>
          <p:cNvSpPr>
            <a:spLocks xmlns:a="http://schemas.openxmlformats.org/drawingml/2006/main" noGrp="1"/>
          </p:cNvSpPr>
          <p:nvPr/>
        </p:nvSpPr>
        <p:spPr>
          <a:xfrm xmlns:a="http://schemas.openxmlformats.org/drawingml/2006/main">
            <a:off x="685800" y="333375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776"/>
                </a:solidFill>
                <a:latin typeface="Arial"/>
                <a:ea typeface="Arial"/>
                <a:cs typeface="Arial"/>
              </a:defRPr>
            </a:defPPr>
          </a:lstStyle>
          <a:p xmlns:a="http://schemas.openxmlformats.org/drawingml/2006/main">
            <a:pPr>
              <a:defRPr sz="1875" b="0">
                <a:solidFill>
                  <a:srgbClr val="526776"/>
                </a:solidFill>
                <a:latin typeface="Arial"/>
                <a:ea typeface="Arial"/>
                <a:cs typeface="Arial"/>
              </a:defRPr>
            </a:pPr>
            <a:r>
              <a:rPr sz="1875" b="0">
                <a:solidFill>
                  <a:srgbClr val="526776"/>
                </a:solidFill>
                <a:latin typeface="Arial"/>
                <a:ea typeface="Arial"/>
                <a:cs typeface="Arial"/>
              </a:rPr>
              <a:t>Needed for a credible pilot:</a:t>
            </a:r>
          </a:p>
        </p:txBody>
      </p:sp>
      <p:sp>
        <p:nvSpPr>
          <p:cNvPr id="5" name="Local energy specialist">
            <a:extLst xmlns:a="http://schemas.openxmlformats.org/drawingml/2006/main">
              <a:ext uri="{FF2B5EF4-FFF2-40B4-BE49-F238E27FC236}">
                <a16:creationId xmlns:a16="http://schemas.microsoft.com/office/drawing/2014/main" id="{45859D50-8B60-4683-9DF1-FB4AABA1AF69}"/>
              </a:ext>
            </a:extLst>
          </p:cNvPr>
          <p:cNvSpPr>
            <a:spLocks xmlns:a="http://schemas.openxmlformats.org/drawingml/2006/main" noGrp="1"/>
          </p:cNvSpPr>
          <p:nvPr/>
        </p:nvSpPr>
        <p:spPr>
          <a:xfrm xmlns:a="http://schemas.openxmlformats.org/drawingml/2006/main">
            <a:off x="685800" y="40005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006D77"/>
                </a:solidFill>
                <a:latin typeface="Arial"/>
                <a:ea typeface="Arial"/>
                <a:cs typeface="Arial"/>
              </a:defRPr>
            </a:defPPr>
          </a:lstStyle>
          <a:p xmlns:a="http://schemas.openxmlformats.org/drawingml/2006/main">
            <a:pPr>
              <a:defRPr sz="2250" b="0">
                <a:solidFill>
                  <a:srgbClr val="006D77"/>
                </a:solidFill>
                <a:latin typeface="Arial"/>
                <a:ea typeface="Arial"/>
                <a:cs typeface="Arial"/>
              </a:defRPr>
            </a:pPr>
            <a:r>
              <a:rPr sz="2250" b="0">
                <a:solidFill>
                  <a:srgbClr val="006D77"/>
                </a:solidFill>
                <a:latin typeface="Arial"/>
                <a:ea typeface="Arial"/>
                <a:cs typeface="Arial"/>
              </a:rPr>
              <a:t>Local energy specialist</a:t>
            </a:r>
          </a:p>
        </p:txBody>
      </p:sp>
      <p:sp>
        <p:nvSpPr>
          <p:cNvPr id="6" name="Building manager with authorized data access">
            <a:extLst xmlns:a="http://schemas.openxmlformats.org/drawingml/2006/main">
              <a:ext uri="{FF2B5EF4-FFF2-40B4-BE49-F238E27FC236}">
                <a16:creationId xmlns:a16="http://schemas.microsoft.com/office/drawing/2014/main" id="{399B5CB8-B7C9-4C42-9735-CDA2445662B8}"/>
              </a:ext>
            </a:extLst>
          </p:cNvPr>
          <p:cNvSpPr>
            <a:spLocks xmlns:a="http://schemas.openxmlformats.org/drawingml/2006/main" noGrp="1"/>
          </p:cNvSpPr>
          <p:nvPr/>
        </p:nvSpPr>
        <p:spPr>
          <a:xfrm xmlns:a="http://schemas.openxmlformats.org/drawingml/2006/main">
            <a:off x="685800" y="466725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006D77"/>
                </a:solidFill>
                <a:latin typeface="Arial"/>
                <a:ea typeface="Arial"/>
                <a:cs typeface="Arial"/>
              </a:defRPr>
            </a:defPPr>
          </a:lstStyle>
          <a:p xmlns:a="http://schemas.openxmlformats.org/drawingml/2006/main">
            <a:pPr>
              <a:defRPr sz="2250" b="0">
                <a:solidFill>
                  <a:srgbClr val="006D77"/>
                </a:solidFill>
                <a:latin typeface="Arial"/>
                <a:ea typeface="Arial"/>
                <a:cs typeface="Arial"/>
              </a:defRPr>
            </a:pPr>
            <a:r>
              <a:rPr sz="2250" b="0">
                <a:solidFill>
                  <a:srgbClr val="006D77"/>
                </a:solidFill>
                <a:latin typeface="Arial"/>
                <a:ea typeface="Arial"/>
                <a:cs typeface="Arial"/>
              </a:rPr>
              <a:t>Building manager with authorized data access</a:t>
            </a:r>
          </a:p>
        </p:txBody>
      </p:sp>
      <p:sp>
        <p:nvSpPr>
          <p:cNvPr id="7" name="Privacy and legal review capacity">
            <a:extLst xmlns:a="http://schemas.openxmlformats.org/drawingml/2006/main">
              <a:ext uri="{FF2B5EF4-FFF2-40B4-BE49-F238E27FC236}">
                <a16:creationId xmlns:a16="http://schemas.microsoft.com/office/drawing/2014/main" id="{527CF6DD-62E8-4400-B709-587DF63BA099}"/>
              </a:ext>
            </a:extLst>
          </p:cNvPr>
          <p:cNvSpPr>
            <a:spLocks xmlns:a="http://schemas.openxmlformats.org/drawingml/2006/main" noGrp="1"/>
          </p:cNvSpPr>
          <p:nvPr/>
        </p:nvSpPr>
        <p:spPr>
          <a:xfrm xmlns:a="http://schemas.openxmlformats.org/drawingml/2006/main">
            <a:off x="685800" y="53340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006D77"/>
                </a:solidFill>
                <a:latin typeface="Arial"/>
                <a:ea typeface="Arial"/>
                <a:cs typeface="Arial"/>
              </a:defRPr>
            </a:defPPr>
          </a:lstStyle>
          <a:p xmlns:a="http://schemas.openxmlformats.org/drawingml/2006/main">
            <a:pPr>
              <a:defRPr sz="2250" b="0">
                <a:solidFill>
                  <a:srgbClr val="006D77"/>
                </a:solidFill>
                <a:latin typeface="Arial"/>
                <a:ea typeface="Arial"/>
                <a:cs typeface="Arial"/>
              </a:defRPr>
            </a:pPr>
            <a:r>
              <a:rPr sz="2250" b="0">
                <a:solidFill>
                  <a:srgbClr val="006D77"/>
                </a:solidFill>
                <a:latin typeface="Arial"/>
                <a:ea typeface="Arial"/>
                <a:cs typeface="Arial"/>
              </a:rPr>
              <a:t>Privacy and legal review capacity</a:t>
            </a:r>
          </a:p>
        </p:txBody>
      </p:sp>
      <p:sp>
        <p:nvSpPr>
          <p:cNvPr id="8" name="Synthetic demo data — not measured customer r">
            <a:extLst xmlns:a="http://schemas.openxmlformats.org/drawingml/2006/main">
              <a:ext uri="{FF2B5EF4-FFF2-40B4-BE49-F238E27FC236}">
                <a16:creationId xmlns:a16="http://schemas.microsoft.com/office/drawing/2014/main" id="{0C6823E2-3A3A-450B-8773-C7272588B74E}"/>
              </a:ext>
            </a:extLst>
          </p:cNvPr>
          <p:cNvSpPr>
            <a:spLocks xmlns:a="http://schemas.openxmlformats.org/drawingml/2006/main" noGrp="1"/>
          </p:cNvSpPr>
          <p:nvPr/>
        </p:nvSpPr>
        <p:spPr>
          <a:xfrm xmlns:a="http://schemas.openxmlformats.org/drawingml/2006/main">
            <a:off x="628650" y="643890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526776"/>
                </a:solidFill>
                <a:latin typeface="Arial"/>
                <a:ea typeface="Arial"/>
                <a:cs typeface="Arial"/>
              </a:defRPr>
            </a:defPPr>
          </a:lstStyle>
          <a:p xmlns:a="http://schemas.openxmlformats.org/drawingml/2006/main">
            <a:pPr>
              <a:defRPr sz="900" b="0">
                <a:solidFill>
                  <a:srgbClr val="526776"/>
                </a:solidFill>
                <a:latin typeface="Arial"/>
                <a:ea typeface="Arial"/>
                <a:cs typeface="Arial"/>
              </a:defRPr>
            </a:pPr>
            <a:r>
              <a:rPr sz="900" b="0">
                <a:solidFill>
                  <a:srgbClr val="526776"/>
                </a:solidFill>
                <a:latin typeface="Arial"/>
                <a:ea typeface="Arial"/>
                <a:cs typeface="Arial"/>
              </a:rPr>
              <a:t>Synthetic demo data — not measured customer results</a:t>
            </a:r>
          </a:p>
        </p:txBody>
      </p:sp>
      <p:sp>
        <p:nvSpPr>
          <p:cNvPr id="9" name="11">
            <a:extLst xmlns:a="http://schemas.openxmlformats.org/drawingml/2006/main">
              <a:ext uri="{FF2B5EF4-FFF2-40B4-BE49-F238E27FC236}">
                <a16:creationId xmlns:a16="http://schemas.microsoft.com/office/drawing/2014/main" id="{95ABCBBF-AB0D-41CF-AAC5-163808D253D9}"/>
              </a:ext>
            </a:extLst>
          </p:cNvPr>
          <p:cNvSpPr>
            <a:spLocks xmlns:a="http://schemas.openxmlformats.org/drawingml/2006/main" noGrp="1"/>
          </p:cNvSpPr>
          <p:nvPr/>
        </p:nvSpPr>
        <p:spPr>
          <a:xfrm xmlns:a="http://schemas.openxmlformats.org/drawingml/2006/main">
            <a:off x="11144250" y="641985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776"/>
                </a:solidFill>
                <a:latin typeface="Arial"/>
                <a:ea typeface="Arial"/>
                <a:cs typeface="Arial"/>
              </a:defRPr>
            </a:defPPr>
          </a:lstStyle>
          <a:p xmlns:a="http://schemas.openxmlformats.org/drawingml/2006/main">
            <a:pPr>
              <a:defRPr sz="1125" b="0">
                <a:solidFill>
                  <a:srgbClr val="526776"/>
                </a:solidFill>
                <a:latin typeface="Arial"/>
                <a:ea typeface="Arial"/>
                <a:cs typeface="Arial"/>
              </a:defRPr>
            </a:pPr>
            <a:r>
              <a:rPr sz="1125" b="0">
                <a:solidFill>
                  <a:srgbClr val="526776"/>
                </a:solidFill>
                <a:latin typeface="Arial"/>
                <a:ea typeface="Arial"/>
                <a:cs typeface="Arial"/>
              </a:rPr>
              <a:t>11</a:t>
            </a:r>
          </a:p>
        </p:txBody>
      </p:sp>
    </p:spTree>
    <p:extLst>
      <p:ext uri="{BB962C8B-B14F-4D97-AF65-F5344CB8AC3E}">
        <p14:creationId xmlns:p14="http://schemas.microsoft.com/office/powerpoint/2010/main" val="287725948"/>
      </p:ext>
    </p:extLst>
  </p:cSld>
</p:sld>
</file>

<file path=ppt/slides/slide12.xml><?xml version="1.0" encoding="utf-8"?>
<p:sld xmlns:p="http://schemas.openxmlformats.org/presentationml/2006/main">
  <p:cSld>
    <p:bg>
      <p:bgPr>
        <a:solidFill xmlns:a="http://schemas.openxmlformats.org/drawingml/2006/main">
          <a:srgbClr val="142B3D"/>
        </a:solidFill>
      </p:bgPr>
    </p:bg>
    <p:spTree>
      <p:nvGrpSpPr>
        <p:cNvPr id="1" name=""/>
        <p:cNvGrpSpPr/>
        <p:nvPr/>
      </p:nvGrpSpPr>
      <p:grpSpPr>
        <a:xfrm xmlns:a="http://schemas.openxmlformats.org/drawingml/2006/main"/>
      </p:grpSpPr>
      <p:sp>
        <p:nvSpPr>
          <p:cNvPr id="9" name="CONSULTATION REQUEST">
            <a:extLst xmlns:a="http://schemas.openxmlformats.org/drawingml/2006/main">
              <a:ext uri="{FF2B5EF4-FFF2-40B4-BE49-F238E27FC236}">
                <a16:creationId xmlns:a16="http://schemas.microsoft.com/office/drawing/2014/main" id="{282E3138-BE82-4DF1-BA21-225C2E77B724}"/>
              </a:ext>
            </a:extLst>
          </p:cNvPr>
          <p:cNvSpPr>
            <a:spLocks xmlns:a="http://schemas.openxmlformats.org/drawingml/2006/main" noGrp="1"/>
          </p:cNvSpPr>
          <p:nvPr/>
        </p:nvSpPr>
        <p:spPr>
          <a:xfrm xmlns:a="http://schemas.openxmlformats.org/drawingml/2006/main">
            <a:off x="628650" y="447675"/>
            <a:ext cx="10934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8CD5CA"/>
                </a:solidFill>
                <a:latin typeface="Arial"/>
                <a:ea typeface="Arial"/>
                <a:cs typeface="Arial"/>
              </a:defRPr>
            </a:defPPr>
          </a:lstStyle>
          <a:p xmlns:a="http://schemas.openxmlformats.org/drawingml/2006/main">
            <a:pPr>
              <a:defRPr sz="1050" b="1">
                <a:solidFill>
                  <a:srgbClr val="8CD5CA"/>
                </a:solidFill>
                <a:latin typeface="Arial"/>
                <a:ea typeface="Arial"/>
                <a:cs typeface="Arial"/>
              </a:defRPr>
            </a:pPr>
            <a:r>
              <a:rPr sz="1050" b="1">
                <a:solidFill>
                  <a:srgbClr val="8CD5CA"/>
                </a:solidFill>
                <a:latin typeface="Arial"/>
                <a:ea typeface="Arial"/>
                <a:cs typeface="Arial"/>
              </a:rPr>
              <a:t>CONSULTATION REQUEST</a:t>
            </a:r>
          </a:p>
        </p:txBody>
      </p:sp>
      <p:sp>
        <p:nvSpPr>
          <p:cNvPr id="2" name="The next step with LIAA">
            <a:extLst xmlns:a="http://schemas.openxmlformats.org/drawingml/2006/main">
              <a:ext uri="{FF2B5EF4-FFF2-40B4-BE49-F238E27FC236}">
                <a16:creationId xmlns:a16="http://schemas.microsoft.com/office/drawing/2014/main" id="{B91F2142-431B-4F6E-B21C-405B34CC6FE0}"/>
              </a:ext>
            </a:extLst>
          </p:cNvPr>
          <p:cNvSpPr>
            <a:spLocks xmlns:a="http://schemas.openxmlformats.org/drawingml/2006/main" noGrp="1"/>
          </p:cNvSpPr>
          <p:nvPr/>
        </p:nvSpPr>
        <p:spPr>
          <a:xfrm xmlns:a="http://schemas.openxmlformats.org/drawingml/2006/main">
            <a:off x="628650" y="904875"/>
            <a:ext cx="109347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FFFFFF"/>
                </a:solidFill>
                <a:latin typeface="Arial"/>
                <a:ea typeface="Arial"/>
                <a:cs typeface="Arial"/>
              </a:defRPr>
            </a:defPPr>
          </a:lstStyle>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The next step with LIAA</a:t>
            </a:r>
          </a:p>
        </p:txBody>
      </p:sp>
      <p:sp>
        <p:nvSpPr>
          <p:cNvPr id="3" name="Introductions to relevant apartment managers">
            <a:extLst xmlns:a="http://schemas.openxmlformats.org/drawingml/2006/main">
              <a:ext uri="{FF2B5EF4-FFF2-40B4-BE49-F238E27FC236}">
                <a16:creationId xmlns:a16="http://schemas.microsoft.com/office/drawing/2014/main" id="{4F29B762-BD19-4BD0-92B3-4B211535D60A}"/>
              </a:ext>
            </a:extLst>
          </p:cNvPr>
          <p:cNvSpPr>
            <a:spLocks xmlns:a="http://schemas.openxmlformats.org/drawingml/2006/main" noGrp="1"/>
          </p:cNvSpPr>
          <p:nvPr/>
        </p:nvSpPr>
        <p:spPr>
          <a:xfrm xmlns:a="http://schemas.openxmlformats.org/drawingml/2006/main">
            <a:off x="685800" y="2238375"/>
            <a:ext cx="10191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0">
                <a:solidFill>
                  <a:srgbClr val="FFFFFF"/>
                </a:solidFill>
                <a:latin typeface="Arial"/>
                <a:ea typeface="Arial"/>
                <a:cs typeface="Arial"/>
              </a:defRPr>
            </a:defPPr>
          </a:lstStyle>
          <a:p xmlns:a="http://schemas.openxmlformats.org/drawingml/2006/main">
            <a:pPr>
              <a:defRPr sz="2625" b="0">
                <a:solidFill>
                  <a:srgbClr val="FFFFFF"/>
                </a:solidFill>
                <a:latin typeface="Arial"/>
                <a:ea typeface="Arial"/>
                <a:cs typeface="Arial"/>
              </a:defRPr>
            </a:pPr>
            <a:r>
              <a:rPr sz="2625" b="0">
                <a:solidFill>
                  <a:srgbClr val="FFFFFF"/>
                </a:solidFill>
                <a:latin typeface="Arial"/>
                <a:ea typeface="Arial"/>
                <a:cs typeface="Arial"/>
              </a:rPr>
              <a:t>Introductions to relevant apartment managers</a:t>
            </a:r>
          </a:p>
        </p:txBody>
      </p:sp>
      <p:sp>
        <p:nvSpPr>
          <p:cNvPr id="4" name="A local reviewer for technical validation">
            <a:extLst xmlns:a="http://schemas.openxmlformats.org/drawingml/2006/main">
              <a:ext uri="{FF2B5EF4-FFF2-40B4-BE49-F238E27FC236}">
                <a16:creationId xmlns:a16="http://schemas.microsoft.com/office/drawing/2014/main" id="{7CB02B42-68B6-4F47-AE3C-04407F644BBF}"/>
              </a:ext>
            </a:extLst>
          </p:cNvPr>
          <p:cNvSpPr>
            <a:spLocks xmlns:a="http://schemas.openxmlformats.org/drawingml/2006/main" noGrp="1"/>
          </p:cNvSpPr>
          <p:nvPr/>
        </p:nvSpPr>
        <p:spPr>
          <a:xfrm xmlns:a="http://schemas.openxmlformats.org/drawingml/2006/main">
            <a:off x="685800" y="3333750"/>
            <a:ext cx="10191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0">
                <a:solidFill>
                  <a:srgbClr val="FFFFFF"/>
                </a:solidFill>
                <a:latin typeface="Arial"/>
                <a:ea typeface="Arial"/>
                <a:cs typeface="Arial"/>
              </a:defRPr>
            </a:defPPr>
          </a:lstStyle>
          <a:p xmlns:a="http://schemas.openxmlformats.org/drawingml/2006/main">
            <a:pPr>
              <a:defRPr sz="2625" b="0">
                <a:solidFill>
                  <a:srgbClr val="FFFFFF"/>
                </a:solidFill>
                <a:latin typeface="Arial"/>
                <a:ea typeface="Arial"/>
                <a:cs typeface="Arial"/>
              </a:defRPr>
            </a:pPr>
            <a:r>
              <a:rPr sz="2625" b="0">
                <a:solidFill>
                  <a:srgbClr val="FFFFFF"/>
                </a:solidFill>
                <a:latin typeface="Arial"/>
                <a:ea typeface="Arial"/>
                <a:cs typeface="Arial"/>
              </a:rPr>
              <a:t>A local reviewer for technical validation</a:t>
            </a:r>
          </a:p>
        </p:txBody>
      </p:sp>
      <p:sp>
        <p:nvSpPr>
          <p:cNvPr id="5" name="Guidance on the suitable support route and ne">
            <a:extLst xmlns:a="http://schemas.openxmlformats.org/drawingml/2006/main">
              <a:ext uri="{FF2B5EF4-FFF2-40B4-BE49-F238E27FC236}">
                <a16:creationId xmlns:a16="http://schemas.microsoft.com/office/drawing/2014/main" id="{2F8D65A7-F2D2-47D9-94F7-A234EF111D7E}"/>
              </a:ext>
            </a:extLst>
          </p:cNvPr>
          <p:cNvSpPr>
            <a:spLocks xmlns:a="http://schemas.openxmlformats.org/drawingml/2006/main" noGrp="1"/>
          </p:cNvSpPr>
          <p:nvPr/>
        </p:nvSpPr>
        <p:spPr>
          <a:xfrm xmlns:a="http://schemas.openxmlformats.org/drawingml/2006/main">
            <a:off x="685800" y="4429125"/>
            <a:ext cx="10191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0">
                <a:solidFill>
                  <a:srgbClr val="FFFFFF"/>
                </a:solidFill>
                <a:latin typeface="Arial"/>
                <a:ea typeface="Arial"/>
                <a:cs typeface="Arial"/>
              </a:defRPr>
            </a:defPPr>
          </a:lstStyle>
          <a:p xmlns:a="http://schemas.openxmlformats.org/drawingml/2006/main">
            <a:pPr>
              <a:defRPr sz="2625" b="0">
                <a:solidFill>
                  <a:srgbClr val="FFFFFF"/>
                </a:solidFill>
                <a:latin typeface="Arial"/>
                <a:ea typeface="Arial"/>
                <a:cs typeface="Arial"/>
              </a:defRPr>
            </a:pPr>
            <a:r>
              <a:rPr sz="2625" b="0">
                <a:solidFill>
                  <a:srgbClr val="FFFFFF"/>
                </a:solidFill>
                <a:latin typeface="Arial"/>
                <a:ea typeface="Arial"/>
                <a:cs typeface="Arial"/>
              </a:rPr>
              <a:t>Guidance on the suitable support route and next action</a:t>
            </a:r>
          </a:p>
        </p:txBody>
      </p:sp>
      <p:sp>
        <p:nvSpPr>
          <p:cNvPr id="6" name="The consultation is not program acceptance or">
            <a:extLst xmlns:a="http://schemas.openxmlformats.org/drawingml/2006/main">
              <a:ext uri="{FF2B5EF4-FFF2-40B4-BE49-F238E27FC236}">
                <a16:creationId xmlns:a16="http://schemas.microsoft.com/office/drawing/2014/main" id="{50A481DE-D15A-4A8B-84E2-684193600657}"/>
              </a:ext>
            </a:extLst>
          </p:cNvPr>
          <p:cNvSpPr>
            <a:spLocks xmlns:a="http://schemas.openxmlformats.org/drawingml/2006/main" noGrp="1"/>
          </p:cNvSpPr>
          <p:nvPr/>
        </p:nvSpPr>
        <p:spPr>
          <a:xfrm xmlns:a="http://schemas.openxmlformats.org/drawingml/2006/main">
            <a:off x="685800" y="5857875"/>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B8CED7"/>
                </a:solidFill>
                <a:latin typeface="Arial"/>
                <a:ea typeface="Arial"/>
                <a:cs typeface="Arial"/>
              </a:defRPr>
            </a:defPPr>
          </a:lstStyle>
          <a:p xmlns:a="http://schemas.openxmlformats.org/drawingml/2006/main">
            <a:pPr>
              <a:defRPr sz="1425" b="0">
                <a:solidFill>
                  <a:srgbClr val="B8CED7"/>
                </a:solidFill>
                <a:latin typeface="Arial"/>
                <a:ea typeface="Arial"/>
                <a:cs typeface="Arial"/>
              </a:defRPr>
            </a:pPr>
            <a:r>
              <a:rPr sz="1425" b="0">
                <a:solidFill>
                  <a:srgbClr val="B8CED7"/>
                </a:solidFill>
                <a:latin typeface="Arial"/>
                <a:ea typeface="Arial"/>
                <a:cs typeface="Arial"/>
              </a:rPr>
              <a:t>The consultation is not program acceptance or funding approval.</a:t>
            </a:r>
          </a:p>
        </p:txBody>
      </p:sp>
      <p:sp>
        <p:nvSpPr>
          <p:cNvPr id="7" name="Provisional brand. Discussion proposal.">
            <a:extLst xmlns:a="http://schemas.openxmlformats.org/drawingml/2006/main">
              <a:ext uri="{FF2B5EF4-FFF2-40B4-BE49-F238E27FC236}">
                <a16:creationId xmlns:a16="http://schemas.microsoft.com/office/drawing/2014/main" id="{A6F138E1-1E41-4567-ABE9-BA1B903D3B6A}"/>
              </a:ext>
            </a:extLst>
          </p:cNvPr>
          <p:cNvSpPr>
            <a:spLocks xmlns:a="http://schemas.openxmlformats.org/drawingml/2006/main" noGrp="1"/>
          </p:cNvSpPr>
          <p:nvPr/>
        </p:nvSpPr>
        <p:spPr>
          <a:xfrm xmlns:a="http://schemas.openxmlformats.org/drawingml/2006/main">
            <a:off x="628650" y="643890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B8CED7"/>
                </a:solidFill>
                <a:latin typeface="Arial"/>
                <a:ea typeface="Arial"/>
                <a:cs typeface="Arial"/>
              </a:defRPr>
            </a:defPPr>
          </a:lstStyle>
          <a:p xmlns:a="http://schemas.openxmlformats.org/drawingml/2006/main">
            <a:pPr>
              <a:defRPr sz="900" b="0">
                <a:solidFill>
                  <a:srgbClr val="B8CED7"/>
                </a:solidFill>
                <a:latin typeface="Arial"/>
                <a:ea typeface="Arial"/>
                <a:cs typeface="Arial"/>
              </a:defRPr>
            </a:pPr>
            <a:r>
              <a:rPr sz="900" b="0">
                <a:solidFill>
                  <a:srgbClr val="B8CED7"/>
                </a:solidFill>
                <a:latin typeface="Arial"/>
                <a:ea typeface="Arial"/>
                <a:cs typeface="Arial"/>
              </a:rPr>
              <a:t>Provisional brand. Discussion proposal.</a:t>
            </a:r>
          </a:p>
        </p:txBody>
      </p:sp>
      <p:sp>
        <p:nvSpPr>
          <p:cNvPr id="8" name="12">
            <a:extLst xmlns:a="http://schemas.openxmlformats.org/drawingml/2006/main">
              <a:ext uri="{FF2B5EF4-FFF2-40B4-BE49-F238E27FC236}">
                <a16:creationId xmlns:a16="http://schemas.microsoft.com/office/drawing/2014/main" id="{9DAF9A54-5282-4538-8E49-16ABF9C847E7}"/>
              </a:ext>
            </a:extLst>
          </p:cNvPr>
          <p:cNvSpPr>
            <a:spLocks xmlns:a="http://schemas.openxmlformats.org/drawingml/2006/main" noGrp="1"/>
          </p:cNvSpPr>
          <p:nvPr/>
        </p:nvSpPr>
        <p:spPr>
          <a:xfrm xmlns:a="http://schemas.openxmlformats.org/drawingml/2006/main">
            <a:off x="11144250" y="641985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B8CED7"/>
                </a:solidFill>
                <a:latin typeface="Arial"/>
                <a:ea typeface="Arial"/>
                <a:cs typeface="Arial"/>
              </a:defRPr>
            </a:defPPr>
          </a:lstStyle>
          <a:p xmlns:a="http://schemas.openxmlformats.org/drawingml/2006/main">
            <a:pPr>
              <a:defRPr sz="1125" b="0">
                <a:solidFill>
                  <a:srgbClr val="B8CED7"/>
                </a:solidFill>
                <a:latin typeface="Arial"/>
                <a:ea typeface="Arial"/>
                <a:cs typeface="Arial"/>
              </a:defRPr>
            </a:pPr>
            <a:r>
              <a:rPr sz="1125" b="0">
                <a:solidFill>
                  <a:srgbClr val="B8CED7"/>
                </a:solidFill>
                <a:latin typeface="Arial"/>
                <a:ea typeface="Arial"/>
                <a:cs typeface="Arial"/>
              </a:rPr>
              <a:t>12</a:t>
            </a:r>
          </a:p>
        </p:txBody>
      </p:sp>
    </p:spTree>
    <p:extLst>
      <p:ext uri="{BB962C8B-B14F-4D97-AF65-F5344CB8AC3E}">
        <p14:creationId xmlns:p14="http://schemas.microsoft.com/office/powerpoint/2010/main" val="127495299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2026-10-16T16:41:06.4300000Z</dcterms:created>
  <dcterms:modified xsi:type="dcterms:W3CDTF">2026-10-16T16:41:06.4300000Z</dcterms:modified>
</coreProperties>
</file>
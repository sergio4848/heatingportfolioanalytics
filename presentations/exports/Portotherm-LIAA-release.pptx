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719a5d78e84df8" /><Relationship Type="http://schemas.openxmlformats.org/officeDocument/2006/relationships/extended-properties" Target="/docProps/app.xml" Id="R18f007625fc34126" /><Relationship Type="http://schemas.openxmlformats.org/officeDocument/2006/relationships/officeDocument" Target="/ppt/presentation.xml" Id="Re006dc6b138b43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c1ae1cd7f044df"/>
  </p:sldMasterIdLst>
  <p:notesMasterIdLst>
    <p:notesMasterId xmlns:r="http://schemas.openxmlformats.org/officeDocument/2006/relationships" r:id="R2537901fb475451b"/>
  </p:notesMasterIdLst>
  <p:sldIdLst>
    <p:sldId xmlns:r="http://schemas.openxmlformats.org/officeDocument/2006/relationships" id="256" r:id="Rb7923ee16b9b4e8d"/>
    <p:sldId xmlns:r="http://schemas.openxmlformats.org/officeDocument/2006/relationships" id="257" r:id="R7b8c56ee35bc462d"/>
    <p:sldId xmlns:r="http://schemas.openxmlformats.org/officeDocument/2006/relationships" id="258" r:id="Re8d21a1cb5494c60"/>
    <p:sldId xmlns:r="http://schemas.openxmlformats.org/officeDocument/2006/relationships" id="259" r:id="R61c7f323799e49e4"/>
    <p:sldId xmlns:r="http://schemas.openxmlformats.org/officeDocument/2006/relationships" id="260" r:id="R59b29fab322e45c4"/>
    <p:sldId xmlns:r="http://schemas.openxmlformats.org/officeDocument/2006/relationships" id="261" r:id="Rc99d7feb84464809"/>
    <p:sldId xmlns:r="http://schemas.openxmlformats.org/officeDocument/2006/relationships" id="262" r:id="R127cf11023ff4a20"/>
    <p:sldId xmlns:r="http://schemas.openxmlformats.org/officeDocument/2006/relationships" id="263" r:id="R82b7ec3f0c764eca"/>
    <p:sldId xmlns:r="http://schemas.openxmlformats.org/officeDocument/2006/relationships" id="264" r:id="R4308ab25acaf4c81"/>
    <p:sldId xmlns:r="http://schemas.openxmlformats.org/officeDocument/2006/relationships" id="265" r:id="R7d63553b06b745d8"/>
    <p:sldId xmlns:r="http://schemas.openxmlformats.org/officeDocument/2006/relationships" id="266" r:id="Rab4d70c53e124fc9"/>
    <p:sldId xmlns:r="http://schemas.openxmlformats.org/officeDocument/2006/relationships" id="267" r:id="R52d93b34e7834e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70d8c97afc4308" /><Relationship Type="http://schemas.openxmlformats.org/officeDocument/2006/relationships/slideMaster" Target="/ppt/slideMasters/slideMaster1.xml" Id="Rf8c1ae1cd7f044df" /><Relationship Type="http://schemas.openxmlformats.org/officeDocument/2006/relationships/notesMaster" Target="/ppt/notesMasters/notesMaster1.xml" Id="R2537901fb475451b" /><Relationship Type="http://schemas.openxmlformats.org/officeDocument/2006/relationships/presProps" Target="/ppt/presProps.xml" Id="R705b5f1b1e554121" /><Relationship Type="http://schemas.openxmlformats.org/officeDocument/2006/relationships/tableStyles" Target="/ppt/tableStyles.xml" Id="R7716db72cd3844d3" /><Relationship Type="http://schemas.openxmlformats.org/officeDocument/2006/relationships/slide" Target="/ppt/slides/slide1.xml" Id="Rb7923ee16b9b4e8d" /><Relationship Type="http://schemas.openxmlformats.org/officeDocument/2006/relationships/slide" Target="/ppt/slides/slide2.xml" Id="R7b8c56ee35bc462d" /><Relationship Type="http://schemas.openxmlformats.org/officeDocument/2006/relationships/slide" Target="/ppt/slides/slide3.xml" Id="Re8d21a1cb5494c60" /><Relationship Type="http://schemas.openxmlformats.org/officeDocument/2006/relationships/slide" Target="/ppt/slides/slide4.xml" Id="R61c7f323799e49e4" /><Relationship Type="http://schemas.openxmlformats.org/officeDocument/2006/relationships/slide" Target="/ppt/slides/slide5.xml" Id="R59b29fab322e45c4" /><Relationship Type="http://schemas.openxmlformats.org/officeDocument/2006/relationships/slide" Target="/ppt/slides/slide6.xml" Id="Rc99d7feb84464809" /><Relationship Type="http://schemas.openxmlformats.org/officeDocument/2006/relationships/slide" Target="/ppt/slides/slide7.xml" Id="R127cf11023ff4a20" /><Relationship Type="http://schemas.openxmlformats.org/officeDocument/2006/relationships/slide" Target="/ppt/slides/slide8.xml" Id="R82b7ec3f0c764eca" /><Relationship Type="http://schemas.openxmlformats.org/officeDocument/2006/relationships/slide" Target="/ppt/slides/slide9.xml" Id="R4308ab25acaf4c81" /><Relationship Type="http://schemas.openxmlformats.org/officeDocument/2006/relationships/slide" Target="/ppt/slides/slide10.xml" Id="R7d63553b06b745d8" /><Relationship Type="http://schemas.openxmlformats.org/officeDocument/2006/relationships/slide" Target="/ppt/slides/slide11.xml" Id="Rab4d70c53e124fc9" /><Relationship Type="http://schemas.openxmlformats.org/officeDocument/2006/relationships/slide" Target="/ppt/slides/slide12.xml" Id="R52d93b34e7834e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66f2aba42048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05fabd1c9c4c26" /><Relationship Type="http://schemas.openxmlformats.org/officeDocument/2006/relationships/notesMaster" Target="/ppt/notesMasters/notesMaster1.xml" Id="R67633a84053449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8b10671ea148a1" /><Relationship Type="http://schemas.openxmlformats.org/officeDocument/2006/relationships/notesMaster" Target="/ppt/notesMasters/notesMaster1.xml" Id="Ref418d8daa2541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e58047311742ec" /><Relationship Type="http://schemas.openxmlformats.org/officeDocument/2006/relationships/notesMaster" Target="/ppt/notesMasters/notesMaster1.xml" Id="R72e7f0b6750947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a2c86dc38d43df" /><Relationship Type="http://schemas.openxmlformats.org/officeDocument/2006/relationships/notesMaster" Target="/ppt/notesMasters/notesMaster1.xml" Id="R96654559839943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1de6f5bf4c4199" /><Relationship Type="http://schemas.openxmlformats.org/officeDocument/2006/relationships/notesMaster" Target="/ppt/notesMasters/notesMaster1.xml" Id="R2ce62e2cdda54b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0dddf2ef0e4808" /><Relationship Type="http://schemas.openxmlformats.org/officeDocument/2006/relationships/notesMaster" Target="/ppt/notesMasters/notesMaster1.xml" Id="Rfae2cfed47dd40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e93e4884f74a59" /><Relationship Type="http://schemas.openxmlformats.org/officeDocument/2006/relationships/notesMaster" Target="/ppt/notesMasters/notesMaster1.xml" Id="R15456e4b1e7c43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6dd9333f194214" /><Relationship Type="http://schemas.openxmlformats.org/officeDocument/2006/relationships/notesMaster" Target="/ppt/notesMasters/notesMaster1.xml" Id="Rfc41f02659874d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3781e439e04331" /><Relationship Type="http://schemas.openxmlformats.org/officeDocument/2006/relationships/notesMaster" Target="/ppt/notesMasters/notesMaster1.xml" Id="Rcb81cb80d22540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71f18dbe0244f6" /><Relationship Type="http://schemas.openxmlformats.org/officeDocument/2006/relationships/notesMaster" Target="/ppt/notesMasters/notesMaster1.xml" Id="Ra0b990f77dee4f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67a71ff2b14159" /><Relationship Type="http://schemas.openxmlformats.org/officeDocument/2006/relationships/notesMaster" Target="/ppt/notesMasters/notesMaster1.xml" Id="Rc9cd443b91c44b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1de0b098f0446b" /><Relationship Type="http://schemas.openxmlformats.org/officeDocument/2006/relationships/notesMaster" Target="/ppt/notesMasters/notesMaster1.xml" Id="R929735c10e27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Ürün adının geçici olduğunu ve tüm demo verisinin sentetik olduğunu açıkça söyle. Isıtma kontrolü veya kanıtlanmış tasarruf iddiası yok.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problem henüz müşteri araştırmasıyla doğrulanmadı. Sahte müşteri sözü veya pazar büyüklüğü verme.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20–100 aralığı pazar verisi değil segment varsayımı. İlk pilot yalnızca 5–10 binayı kapsayacak. Roller gerçek ekip üyeleri değildir.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Ardışık akışı anlat. Yeni sensör veya otomatik ısıtma kontrolü zorunlu değil. Gerçek hava kaynağının pilotta doğrulanması gerekiyor.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çalışan yerel uygulamadan reports/screenshots/07-portfolio-pitch.png. Sayılar reports/demo-statistics.json ile aynı motorun çıktısı. Sentetik sonuçlar müşteri başarısı değildir.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çalışan uygulamadan 08-building-pitch.png. Yöntem docs/methodology.md. Sayaç değişimi, kullanım ve sıcak su karıştırıcıdır. İstatistiksel güven yüzdesi veya arıza olasılığı sunulmaz.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Resmi kaynaklar 15 Ekim 2026 okundu: kiona.com/products/energinet; egsoftware.com/global/energy-management-sustainability/eg-enerkey; danfoss.com Leanheat Building; gridx.ai/product. Ayrıntı docs/research/alternatives.md. Üstünlük veya bilinmeyen özellik yokluğu iddia etme.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Altı haftada yıllık tasarruf kanıtı vaat edilmez. Ölçümler: veri kullanılabilirliği, inceleme süresi, eyleme değer bulgu, yanlış alarm nedenleri, görev tamamlanması. Hedefler birlikte kararlaştırılacak.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Fiyat örnekleri docs/business/pricing.md içinde yalnızca görüşme hipotezi. Gerçekleşmiş gelir, müşteri veya ROI yok. Temizleme ve uzman emeği maliyeti kritik.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hazır olmak pilot veya üretim hazır demek değil. Docker Compose ve PostgreSQL yerelde çalıştırıldı; sağlık, migration/seed ve temel tarayıcı akışı geçti. Gerçek kimlik sağlayıcı staging testi bekliyor.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İsim, eğitim, şirket, ekip veya geçmiş başarı uydurma. Düzenlenebilir docs/meeting/founder-profile.json dosyasını kurucu görüşmeden önce doğrulanmış bilgilerle doldurmalı.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 Ekim 2026 tarihi verilen brief kaynaklı; saat ve erişim özel olarak doğrulanacak. Resmi portal başvuruları kapalı gösteriyordu: liaa.business.gov.lv/en/support-opportunities/business-incubation-aid, erişim15 Ekim2026. Yabancı kurucu uygunluğu ve sonraki çağrı sorulacak; hibe hakkı iddia edilmez.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8947b85f244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ed00ebd574b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1d6a4dd0549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23d2bd49f4c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94504168546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50bf72edf43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8D0C26-62E7-4D3A-8EAD-1B2BBDB7B5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2CA9E1-C58F-4FD3-BDEE-F24E3F91C0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CD4455-17D5-47FC-987F-138C0D58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7EFCE7-3AA9-412A-9718-ACEA93ADF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D26F29-24A6-4E95-A32C-E56A2E399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E2B9DA-27CC-479F-9446-0B1893AB61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0C35CC-A40F-44C1-8F60-AE3B75FFB9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0C4C68-A298-421B-A817-569BB8827A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4049B5-FC9F-4C5F-94FC-E207A731A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B8086C-D200-4AD6-80D9-B7052DCABA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82d0243c084eec" /><Relationship Type="http://schemas.openxmlformats.org/officeDocument/2006/relationships/slideLayout" Target="/ppt/slideLayouts/slideLayout1.xml" Id="R13672a4ecfaf49f9" /><Relationship Type="http://schemas.openxmlformats.org/officeDocument/2006/relationships/slideLayout" Target="/ppt/slideLayouts/slideLayout2.xml" Id="Rfe63ebad55c14358" /><Relationship Type="http://schemas.openxmlformats.org/officeDocument/2006/relationships/slideLayout" Target="/ppt/slideLayouts/slideLayout3.xml" Id="R432cdfbc517149bf" /><Relationship Type="http://schemas.openxmlformats.org/officeDocument/2006/relationships/slideLayout" Target="/ppt/slideLayouts/slideLayout4.xml" Id="R8f65e10984084479" /><Relationship Type="http://schemas.openxmlformats.org/officeDocument/2006/relationships/slideLayout" Target="/ppt/slideLayouts/slideLayout5.xml" Id="R5c6dc16f915e4066" /><Relationship Type="http://schemas.openxmlformats.org/officeDocument/2006/relationships/slideLayout" Target="/ppt/slideLayouts/slideLayout6.xml" Id="R4a14a20342f943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672a4ecfaf49f9"/>
    <p:sldLayoutId xmlns:r="http://schemas.openxmlformats.org/officeDocument/2006/relationships" id="2147483650" r:id="Rfe63ebad55c14358"/>
    <p:sldLayoutId xmlns:r="http://schemas.openxmlformats.org/officeDocument/2006/relationships" id="2147483651" r:id="R432cdfbc517149bf"/>
    <p:sldLayoutId xmlns:r="http://schemas.openxmlformats.org/officeDocument/2006/relationships" id="2147483652" r:id="R8f65e10984084479"/>
    <p:sldLayoutId xmlns:r="http://schemas.openxmlformats.org/officeDocument/2006/relationships" id="2147483653" r:id="R5c6dc16f915e4066"/>
    <p:sldLayoutId xmlns:r="http://schemas.openxmlformats.org/officeDocument/2006/relationships" id="2147483654" r:id="R4a14a20342f943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00df9af9e49cd" /><Relationship Type="http://schemas.openxmlformats.org/officeDocument/2006/relationships/notesSlide" Target="/ppt/notesSlides/notesSlide1.xml" Id="R78d5811405df43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44f11162c749ba" /><Relationship Type="http://schemas.openxmlformats.org/officeDocument/2006/relationships/notesSlide" Target="/ppt/notesSlides/notesSlide2.xml" Id="R9503ed4c086e43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d36553fcc40be" /><Relationship Type="http://schemas.openxmlformats.org/officeDocument/2006/relationships/notesSlide" Target="/ppt/notesSlides/notesSlide3.xml" Id="Rf7bb2d4354aa4a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35fdb01354cbd" /><Relationship Type="http://schemas.openxmlformats.org/officeDocument/2006/relationships/notesSlide" Target="/ppt/notesSlides/notesSlide4.xml" Id="Rc8d3520aac5c4d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783b1e35d41e2" /><Relationship Type="http://schemas.openxmlformats.org/officeDocument/2006/relationships/image" Target="/ppt/media/image.png" Id="Ra7f20bff45464682" /><Relationship Type="http://schemas.openxmlformats.org/officeDocument/2006/relationships/notesSlide" Target="/ppt/notesSlides/notesSlide5.xml" Id="R874f0a95f97442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d7cc0b2fa48e6" /><Relationship Type="http://schemas.openxmlformats.org/officeDocument/2006/relationships/image" Target="/ppt/media/image2.png" Id="Ra4dca730e7f24e2b" /><Relationship Type="http://schemas.openxmlformats.org/officeDocument/2006/relationships/notesSlide" Target="/ppt/notesSlides/notesSlide6.xml" Id="Rae9b8165593f47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03b567be2435f" /><Relationship Type="http://schemas.openxmlformats.org/officeDocument/2006/relationships/notesSlide" Target="/ppt/notesSlides/notesSlide7.xml" Id="Rb7c27adefa0d43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b346b880844e6" /><Relationship Type="http://schemas.openxmlformats.org/officeDocument/2006/relationships/notesSlide" Target="/ppt/notesSlides/notesSlide8.xml" Id="R9e83f6d7a61749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9343644f14dee" /><Relationship Type="http://schemas.openxmlformats.org/officeDocument/2006/relationships/notesSlide" Target="/ppt/notesSlides/notesSlide9.xml" Id="R7709cb6bb79849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4d679a0064441" /><Relationship Type="http://schemas.openxmlformats.org/officeDocument/2006/relationships/notesSlide" Target="/ppt/notesSlides/notesSlide10.xml" Id="R5fbcbc58eee64f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0a51bda8584dfe" /><Relationship Type="http://schemas.openxmlformats.org/officeDocument/2006/relationships/notesSlide" Target="/ppt/notesSlides/notesSlide11.xml" Id="R1c82f82225f24f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746e0704a4217" /><Relationship Type="http://schemas.openxmlformats.org/officeDocument/2006/relationships/notesSlide" Target="/ppt/notesSlides/notesSlide12.xml" Id="R8443d7771c124d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TING PORTFOLIO ANALYTICS">
            <a:extLst xmlns:a="http://schemas.openxmlformats.org/drawingml/2006/main">
              <a:ext uri="{FF2B5EF4-FFF2-40B4-BE49-F238E27FC236}">
                <a16:creationId xmlns:a16="http://schemas.microsoft.com/office/drawing/2014/main" id="{50D9501E-521D-4988-A137-F54A9399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CD5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CD5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CD5CA"/>
                </a:solidFill>
                <a:latin typeface="Arial"/>
                <a:ea typeface="Arial"/>
                <a:cs typeface="Arial"/>
              </a:rPr>
              <a:t>HEATING PORTFOLIO ANALYTICS</a:t>
            </a:r>
          </a:p>
        </p:txBody>
      </p:sp>
      <p:sp>
        <p:nvSpPr>
          <p:cNvPr id="2" name="Portotherm">
            <a:extLst xmlns:a="http://schemas.openxmlformats.org/drawingml/2006/main">
              <a:ext uri="{FF2B5EF4-FFF2-40B4-BE49-F238E27FC236}">
                <a16:creationId xmlns:a16="http://schemas.microsoft.com/office/drawing/2014/main" id="{5ED8849C-9DD1-4709-8899-CCBD053B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Portotherm</a:t>
            </a:r>
          </a:p>
        </p:txBody>
      </p:sp>
      <p:sp>
        <p:nvSpPr>
          <p:cNvPr id="3" name="Prioritize buildings for investigation using ">
            <a:extLst xmlns:a="http://schemas.openxmlformats.org/drawingml/2006/main">
              <a:ext uri="{FF2B5EF4-FFF2-40B4-BE49-F238E27FC236}">
                <a16:creationId xmlns:a16="http://schemas.microsoft.com/office/drawing/2014/main" id="{902F12A0-E745-493A-A98C-4FEEF581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914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Prioritize buildings for investigation using existing monthly heat data.</a:t>
            </a:r>
          </a:p>
        </p:txBody>
      </p:sp>
      <p:sp>
        <p:nvSpPr>
          <p:cNvPr id="4" name="Provisional brand. Local synthetic demonstrat">
            <a:extLst xmlns:a="http://schemas.openxmlformats.org/drawingml/2006/main">
              <a:ext uri="{FF2B5EF4-FFF2-40B4-BE49-F238E27FC236}">
                <a16:creationId xmlns:a16="http://schemas.microsoft.com/office/drawing/2014/main" id="{FC5F81DF-951F-475B-B87B-85607A6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Provisional brand. Local synthetic demonstration.</a:t>
            </a:r>
          </a:p>
        </p:txBody>
      </p:sp>
      <p:sp>
        <p:nvSpPr>
          <p:cNvPr id="5" name="Provisional brand. Discussion proposal.">
            <a:extLst xmlns:a="http://schemas.openxmlformats.org/drawingml/2006/main">
              <a:ext uri="{FF2B5EF4-FFF2-40B4-BE49-F238E27FC236}">
                <a16:creationId xmlns:a16="http://schemas.microsoft.com/office/drawing/2014/main" id="{1DA67D14-4721-404A-8A9D-AC2C7D44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Provisional brand. Discussion proposal.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68F40B67-D33B-4CE4-8350-F1A34DA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5209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OBLEM HYPOTHESIS">
            <a:extLst xmlns:a="http://schemas.openxmlformats.org/drawingml/2006/main">
              <a:ext uri="{FF2B5EF4-FFF2-40B4-BE49-F238E27FC236}">
                <a16:creationId xmlns:a16="http://schemas.microsoft.com/office/drawing/2014/main" id="{BD922DA6-D15A-432D-89AD-E08F8CAC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PROBLEM HYPOTHESIS</a:t>
            </a:r>
          </a:p>
        </p:txBody>
      </p:sp>
      <p:sp>
        <p:nvSpPr>
          <p:cNvPr id="2" name="The investigation decision">
            <a:extLst xmlns:a="http://schemas.openxmlformats.org/drawingml/2006/main">
              <a:ext uri="{FF2B5EF4-FFF2-40B4-BE49-F238E27FC236}">
                <a16:creationId xmlns:a16="http://schemas.microsoft.com/office/drawing/2014/main" id="{49F0554F-D65A-405F-9D64-1D1AB1B8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The investigation decision</a:t>
            </a:r>
          </a:p>
        </p:txBody>
      </p:sp>
      <p:sp>
        <p:nvSpPr>
          <p:cNvPr id="3" name="Which building should we review first?">
            <a:extLst xmlns:a="http://schemas.openxmlformats.org/drawingml/2006/main">
              <a:ext uri="{FF2B5EF4-FFF2-40B4-BE49-F238E27FC236}">
                <a16:creationId xmlns:a16="http://schemas.microsoft.com/office/drawing/2014/main" id="{3F6A23B0-BDC9-400D-B82B-C2F5FB45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09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Which building should we review first?</a:t>
            </a:r>
          </a:p>
        </p:txBody>
      </p:sp>
      <p:sp>
        <p:nvSpPr>
          <p:cNvPr id="4" name="Monthly records can sit across files, with un">
            <a:extLst xmlns:a="http://schemas.openxmlformats.org/drawingml/2006/main">
              <a:ext uri="{FF2B5EF4-FFF2-40B4-BE49-F238E27FC236}">
                <a16:creationId xmlns:a16="http://schemas.microsoft.com/office/drawing/2014/main" id="{3B2CF6E9-4A0C-4CEC-B226-7495164A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952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Monthly records can sit across files, with unclear units, missing periods and limited follow-up.</a:t>
            </a:r>
          </a:p>
        </p:txBody>
      </p:sp>
      <p:sp>
        <p:nvSpPr>
          <p:cNvPr id="5" name="We will test this workflow problem with Latvi">
            <a:extLst xmlns:a="http://schemas.openxmlformats.org/drawingml/2006/main">
              <a:ext uri="{FF2B5EF4-FFF2-40B4-BE49-F238E27FC236}">
                <a16:creationId xmlns:a16="http://schemas.microsoft.com/office/drawing/2014/main" id="{7AB82E6A-361F-4910-AB0C-D14F782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We will test this workflow problem with Latvian apartment managers.</a:t>
            </a:r>
          </a:p>
        </p:txBody>
      </p:sp>
      <p:sp>
        <p:nvSpPr>
          <p:cNvPr id="6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5DCB76C7-5E49-4F91-83C1-615CACB0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B958D5E3-63F6-41AB-B037-C1474372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8866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USTOMER DISCOVERY">
            <a:extLst xmlns:a="http://schemas.openxmlformats.org/drawingml/2006/main">
              <a:ext uri="{FF2B5EF4-FFF2-40B4-BE49-F238E27FC236}">
                <a16:creationId xmlns:a16="http://schemas.microsoft.com/office/drawing/2014/main" id="{9E2BE92C-0A7E-4529-A5BB-D66DEFFA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CUSTOMER DISCOVERY</a:t>
            </a:r>
          </a:p>
        </p:txBody>
      </p:sp>
      <p:sp>
        <p:nvSpPr>
          <p:cNvPr id="2" name="The first customer hypothesis">
            <a:extLst xmlns:a="http://schemas.openxmlformats.org/drawingml/2006/main">
              <a:ext uri="{FF2B5EF4-FFF2-40B4-BE49-F238E27FC236}">
                <a16:creationId xmlns:a16="http://schemas.microsoft.com/office/drawing/2014/main" id="{F0CA1D6E-0FFA-46EE-AF24-B020FE8A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The first customer hypothesis</a:t>
            </a:r>
          </a:p>
        </p:txBody>
      </p:sp>
      <p:sp>
        <p:nvSpPr>
          <p:cNvPr id="3" name="20–100 buildings in a professionally managed ">
            <a:extLst xmlns:a="http://schemas.openxmlformats.org/drawingml/2006/main">
              <a:ext uri="{FF2B5EF4-FFF2-40B4-BE49-F238E27FC236}">
                <a16:creationId xmlns:a16="http://schemas.microsoft.com/office/drawing/2014/main" id="{9433B1B7-344F-4734-A066-30BD9C13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19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20–100 buildings in a professionally managed apartment portfolio.</a:t>
            </a:r>
          </a:p>
        </p:txBody>
      </p:sp>
      <p:sp>
        <p:nvSpPr>
          <p:cNvPr id="4" name="Buyer: management company decision maker">
            <a:extLst xmlns:a="http://schemas.openxmlformats.org/drawingml/2006/main">
              <a:ext uri="{FF2B5EF4-FFF2-40B4-BE49-F238E27FC236}">
                <a16:creationId xmlns:a16="http://schemas.microsoft.com/office/drawing/2014/main" id="{171CB01D-392C-4DA1-A9CA-21B6B0E4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Buyer: management company decision maker</a:t>
            </a:r>
          </a:p>
        </p:txBody>
      </p:sp>
      <p:sp>
        <p:nvSpPr>
          <p:cNvPr id="5" name="Daily user: portfolio manager or analyst">
            <a:extLst xmlns:a="http://schemas.openxmlformats.org/drawingml/2006/main">
              <a:ext uri="{FF2B5EF4-FFF2-40B4-BE49-F238E27FC236}">
                <a16:creationId xmlns:a16="http://schemas.microsoft.com/office/drawing/2014/main" id="{8484F029-7920-42F9-8BAA-7F8B15D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Daily user: portfolio manager or analyst</a:t>
            </a:r>
          </a:p>
        </p:txBody>
      </p:sp>
      <p:sp>
        <p:nvSpPr>
          <p:cNvPr id="6" name="Technical reviewer: local energy specialist">
            <a:extLst xmlns:a="http://schemas.openxmlformats.org/drawingml/2006/main">
              <a:ext uri="{FF2B5EF4-FFF2-40B4-BE49-F238E27FC236}">
                <a16:creationId xmlns:a16="http://schemas.microsoft.com/office/drawing/2014/main" id="{629AAB61-19DF-4B54-97A7-20CD8A89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Technical reviewer: local energy specialist</a:t>
            </a:r>
          </a:p>
        </p:txBody>
      </p:sp>
      <p:sp>
        <p:nvSpPr>
          <p:cNvPr id="7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C0AFDFFA-2765-4872-8482-5F9D32C4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43F03E4E-C02B-4EA1-BAC2-56D8EBAE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7159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OW IT WORKS">
            <a:extLst xmlns:a="http://schemas.openxmlformats.org/drawingml/2006/main">
              <a:ext uri="{FF2B5EF4-FFF2-40B4-BE49-F238E27FC236}">
                <a16:creationId xmlns:a16="http://schemas.microsoft.com/office/drawing/2014/main" id="{35CDF5D5-9D45-46C6-B98A-36A2328D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A documented review workflow">
            <a:extLst xmlns:a="http://schemas.openxmlformats.org/drawingml/2006/main">
              <a:ext uri="{FF2B5EF4-FFF2-40B4-BE49-F238E27FC236}">
                <a16:creationId xmlns:a16="http://schemas.microsoft.com/office/drawing/2014/main" id="{F951CFA5-5AFD-4450-B3EF-70145166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 documented review workflow</a:t>
            </a:r>
          </a:p>
        </p:txBody>
      </p:sp>
      <p:sp>
        <p:nvSpPr>
          <p:cNvPr id="3" name="01  Import monthly CSV or XLSX records">
            <a:extLst xmlns:a="http://schemas.openxmlformats.org/drawingml/2006/main">
              <a:ext uri="{FF2B5EF4-FFF2-40B4-BE49-F238E27FC236}">
                <a16:creationId xmlns:a16="http://schemas.microsoft.com/office/drawing/2014/main" id="{6F1B3DA5-08E7-4C63-B674-2B4C21A7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01  Import monthly CSV or XLSX records</a:t>
            </a:r>
          </a:p>
        </p:txBody>
      </p:sp>
      <p:sp>
        <p:nvSpPr>
          <p:cNvPr id="4" name="02  Check quality and compare with own histor">
            <a:extLst xmlns:a="http://schemas.openxmlformats.org/drawingml/2006/main">
              <a:ext uri="{FF2B5EF4-FFF2-40B4-BE49-F238E27FC236}">
                <a16:creationId xmlns:a16="http://schemas.microsoft.com/office/drawing/2014/main" id="{55A3DDEF-C804-41AF-9620-00727964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02  Check quality and compare with own history</a:t>
            </a:r>
          </a:p>
        </p:txBody>
      </p:sp>
      <p:sp>
        <p:nvSpPr>
          <p:cNvPr id="5" name="03  Review the reason and assign a task">
            <a:extLst xmlns:a="http://schemas.openxmlformats.org/drawingml/2006/main">
              <a:ext uri="{FF2B5EF4-FFF2-40B4-BE49-F238E27FC236}">
                <a16:creationId xmlns:a16="http://schemas.microsoft.com/office/drawing/2014/main" id="{75AC4C93-6194-4991-8E46-8BFAB56E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03  Review the reason and assign a task</a:t>
            </a:r>
          </a:p>
        </p:txBody>
      </p:sp>
      <p:sp>
        <p:nvSpPr>
          <p:cNvPr id="6" name="04  Record interventions and export evidence">
            <a:extLst xmlns:a="http://schemas.openxmlformats.org/drawingml/2006/main">
              <a:ext uri="{FF2B5EF4-FFF2-40B4-BE49-F238E27FC236}">
                <a16:creationId xmlns:a16="http://schemas.microsoft.com/office/drawing/2014/main" id="{5B887F45-9A1A-4CFA-AF5C-52D386BF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04  Record interventions and export evidence</a:t>
            </a:r>
          </a:p>
        </p:txBody>
      </p:sp>
      <p:sp>
        <p:nvSpPr>
          <p:cNvPr id="7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702CE791-3102-479F-8903-AB8359E1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8" name="04">
            <a:extLst xmlns:a="http://schemas.openxmlformats.org/drawingml/2006/main">
              <a:ext uri="{FF2B5EF4-FFF2-40B4-BE49-F238E27FC236}">
                <a16:creationId xmlns:a16="http://schemas.microsoft.com/office/drawing/2014/main" id="{420C3178-6A93-41FD-8D91-204CBA31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5290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OCAL PRODUCT DEMONSTRATION">
            <a:extLst xmlns:a="http://schemas.openxmlformats.org/drawingml/2006/main">
              <a:ext uri="{FF2B5EF4-FFF2-40B4-BE49-F238E27FC236}">
                <a16:creationId xmlns:a16="http://schemas.microsoft.com/office/drawing/2014/main" id="{AC947824-4A26-4F2C-B479-A5C5B97A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LOCAL PRODUCT DEMONSTRATION</a:t>
            </a:r>
          </a:p>
        </p:txBody>
      </p:sp>
      <p:sp>
        <p:nvSpPr>
          <p:cNvPr id="2" name="A working synthetic portfolio">
            <a:extLst xmlns:a="http://schemas.openxmlformats.org/drawingml/2006/main">
              <a:ext uri="{FF2B5EF4-FFF2-40B4-BE49-F238E27FC236}">
                <a16:creationId xmlns:a16="http://schemas.microsoft.com/office/drawing/2014/main" id="{E2B64FAA-FB0C-453E-ACA3-1D5F9137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 working synthetic portfolio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62C84-1301-42FC-8714-DC4995F8DF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20bff45464682"/>
          <a:stretch xmlns:a="http://schemas.openxmlformats.org/drawingml/2006/main"/>
        </p:blipFill>
        <p:spPr>
          <a:xfrm xmlns:a="http://schemas.openxmlformats.org/drawingml/2006/main">
            <a:off x="628650" y="1809750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C9BC2E8E-AAC8-432C-A595-93820A83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synthetic buildings">
            <a:extLst xmlns:a="http://schemas.openxmlformats.org/drawingml/2006/main">
              <a:ext uri="{FF2B5EF4-FFF2-40B4-BE49-F238E27FC236}">
                <a16:creationId xmlns:a16="http://schemas.microsoft.com/office/drawing/2014/main" id="{3F68ABC6-86F3-4E49-A160-EF923EED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908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buildings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7409C800-511A-4431-881A-29EAF17B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usable references">
            <a:extLst xmlns:a="http://schemas.openxmlformats.org/drawingml/2006/main">
              <a:ext uri="{FF2B5EF4-FFF2-40B4-BE49-F238E27FC236}">
                <a16:creationId xmlns:a16="http://schemas.microsoft.com/office/drawing/2014/main" id="{4CDAF388-559B-4D23-8F83-0F4F15F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290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usable references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7972C80B-F3D8-435E-815A-B8688DFD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investigation priority">
            <a:extLst xmlns:a="http://schemas.openxmlformats.org/drawingml/2006/main">
              <a:ext uri="{FF2B5EF4-FFF2-40B4-BE49-F238E27FC236}">
                <a16:creationId xmlns:a16="http://schemas.microsoft.com/office/drawing/2014/main" id="{9597B5DB-EB0B-4D63-BF78-E4C19C9C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673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investigation priority</a:t>
            </a:r>
          </a:p>
        </p:txBody>
      </p:sp>
      <p:sp>
        <p:nvSpPr>
          <p:cNvPr id="10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357FBE34-DCED-492F-96B6-D3335C60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945FA376-D8DB-4B11-8BAC-4EEE4052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8499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XPLAINABLE MONTHLY REFERENCE">
            <a:extLst xmlns:a="http://schemas.openxmlformats.org/drawingml/2006/main">
              <a:ext uri="{FF2B5EF4-FFF2-40B4-BE49-F238E27FC236}">
                <a16:creationId xmlns:a16="http://schemas.microsoft.com/office/drawing/2014/main" id="{3D1A0B55-132B-4721-8558-B31CF8F2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EXPLAINABLE MONTHLY REFERENCE</a:t>
            </a:r>
          </a:p>
        </p:txBody>
      </p:sp>
      <p:sp>
        <p:nvSpPr>
          <p:cNvPr id="2" name="The reason stays visible">
            <a:extLst xmlns:a="http://schemas.openxmlformats.org/drawingml/2006/main">
              <a:ext uri="{FF2B5EF4-FFF2-40B4-BE49-F238E27FC236}">
                <a16:creationId xmlns:a16="http://schemas.microsoft.com/office/drawing/2014/main" id="{19CD42E0-E95B-44D2-BC98-7C288C05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The reason stays visible</a:t>
            </a:r>
          </a:p>
        </p:txBody>
      </p:sp>
      <p:sp>
        <p:nvSpPr>
          <p:cNvPr id="3" name="Own history + days + heating degree days">
            <a:extLst xmlns:a="http://schemas.openxmlformats.org/drawingml/2006/main">
              <a:ext uri="{FF2B5EF4-FFF2-40B4-BE49-F238E27FC236}">
                <a16:creationId xmlns:a16="http://schemas.microsoft.com/office/drawing/2014/main" id="{0DA6CF16-A016-4741-A3DC-0A4D0CD6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Own history + days + heating degree days</a:t>
            </a:r>
          </a:p>
        </p:txBody>
      </p:sp>
      <p:sp>
        <p:nvSpPr>
          <p:cNvPr id="4" name="Training ends before evaluation begins.">
            <a:extLst xmlns:a="http://schemas.openxmlformats.org/drawingml/2006/main">
              <a:ext uri="{FF2B5EF4-FFF2-40B4-BE49-F238E27FC236}">
                <a16:creationId xmlns:a16="http://schemas.microsoft.com/office/drawing/2014/main" id="{7D432700-FBDC-4901-9933-5448062A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Training ends before evaluation begins.</a:t>
            </a:r>
          </a:p>
        </p:txBody>
      </p:sp>
      <p:sp>
        <p:nvSpPr>
          <p:cNvPr id="5" name="Threshold, persistence, quality and alternati">
            <a:extLst xmlns:a="http://schemas.openxmlformats.org/drawingml/2006/main">
              <a:ext uri="{FF2B5EF4-FFF2-40B4-BE49-F238E27FC236}">
                <a16:creationId xmlns:a16="http://schemas.microsoft.com/office/drawing/2014/main" id="{EEFC564B-FC08-47A0-B4B9-CF2CBE43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Threshold, persistence, quality and alternative explanations stay visible.</a:t>
            </a:r>
          </a:p>
        </p:txBody>
      </p:sp>
      <p:sp>
        <p:nvSpPr>
          <p:cNvPr id="6" name="A human decides what to investigate.">
            <a:extLst xmlns:a="http://schemas.openxmlformats.org/drawingml/2006/main">
              <a:ext uri="{FF2B5EF4-FFF2-40B4-BE49-F238E27FC236}">
                <a16:creationId xmlns:a16="http://schemas.microsoft.com/office/drawing/2014/main" id="{E8798611-51A0-43E4-8E27-5E009052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A human decides what to investigate.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41803-95C3-4DDD-A344-2DECBB76ED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ca730e7f24e2b"/>
          <a:stretch xmlns:a="http://schemas.openxmlformats.org/drawingml/2006/main"/>
        </p:blipFill>
        <p:spPr>
          <a:xfrm xmlns:a="http://schemas.openxmlformats.org/drawingml/2006/main">
            <a:off x="4857750" y="200025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0DFE3377-A94F-48B6-8C22-173EE0AB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9" name="06">
            <a:extLst xmlns:a="http://schemas.openxmlformats.org/drawingml/2006/main">
              <a:ext uri="{FF2B5EF4-FFF2-40B4-BE49-F238E27FC236}">
                <a16:creationId xmlns:a16="http://schemas.microsoft.com/office/drawing/2014/main" id="{110E658F-AE43-4895-AED2-A240383F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7404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IFFERENTIATION TO TEST">
            <a:extLst xmlns:a="http://schemas.openxmlformats.org/drawingml/2006/main">
              <a:ext uri="{FF2B5EF4-FFF2-40B4-BE49-F238E27FC236}">
                <a16:creationId xmlns:a16="http://schemas.microsoft.com/office/drawing/2014/main" id="{5B198448-BE49-4065-B8C7-BB910D35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DIFFERENTIATION TO TEST</a:t>
            </a:r>
          </a:p>
        </p:txBody>
      </p:sp>
      <p:sp>
        <p:nvSpPr>
          <p:cNvPr id="2" name="Alternatives already exist">
            <a:extLst xmlns:a="http://schemas.openxmlformats.org/drawingml/2006/main">
              <a:ext uri="{FF2B5EF4-FFF2-40B4-BE49-F238E27FC236}">
                <a16:creationId xmlns:a16="http://schemas.microsoft.com/office/drawing/2014/main" id="{248C3CB5-5047-47EC-BC3F-69BF3CF4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Alternatives already exist</a:t>
            </a:r>
          </a:p>
        </p:txBody>
      </p:sp>
      <p:sp>
        <p:nvSpPr>
          <p:cNvPr id="3" name="Spreadsheets and specialist review">
            <a:extLst xmlns:a="http://schemas.openxmlformats.org/drawingml/2006/main">
              <a:ext uri="{FF2B5EF4-FFF2-40B4-BE49-F238E27FC236}">
                <a16:creationId xmlns:a16="http://schemas.microsoft.com/office/drawing/2014/main" id="{7FC68D7E-778A-446A-89CB-F34137B2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Spreadsheets and specialist review</a:t>
            </a:r>
          </a:p>
        </p:txBody>
      </p:sp>
      <p:sp>
        <p:nvSpPr>
          <p:cNvPr id="4" name="Energy management: Kiona Energinet, EG EnerKe">
            <a:extLst xmlns:a="http://schemas.openxmlformats.org/drawingml/2006/main">
              <a:ext uri="{FF2B5EF4-FFF2-40B4-BE49-F238E27FC236}">
                <a16:creationId xmlns:a16="http://schemas.microsoft.com/office/drawing/2014/main" id="{2B97E3DC-F044-44D8-9146-8CB02817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Energy management: Kiona Energinet, EG EnerKey</a:t>
            </a:r>
          </a:p>
        </p:txBody>
      </p:sp>
      <p:sp>
        <p:nvSpPr>
          <p:cNvPr id="5" name="Operational optimization: Danfoss Leanheat, g">
            <a:extLst xmlns:a="http://schemas.openxmlformats.org/drawingml/2006/main">
              <a:ext uri="{FF2B5EF4-FFF2-40B4-BE49-F238E27FC236}">
                <a16:creationId xmlns:a16="http://schemas.microsoft.com/office/drawing/2014/main" id="{086CE0E3-53D8-4937-8428-6E82B12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Operational optimization: Danfoss Leanheat, gridX</a:t>
            </a:r>
          </a:p>
        </p:txBody>
      </p:sp>
      <p:sp>
        <p:nvSpPr>
          <p:cNvPr id="6" name="Our hypothesis: a narrow monthly import-to-re">
            <a:extLst xmlns:a="http://schemas.openxmlformats.org/drawingml/2006/main">
              <a:ext uri="{FF2B5EF4-FFF2-40B4-BE49-F238E27FC236}">
                <a16:creationId xmlns:a16="http://schemas.microsoft.com/office/drawing/2014/main" id="{708C4EA2-4973-440E-AA3B-F54644AB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Our hypothesis: a narrow monthly import-to-review workflow can be useful without a control project.</a:t>
            </a:r>
          </a:p>
        </p:txBody>
      </p:sp>
      <p:sp>
        <p:nvSpPr>
          <p:cNvPr id="7" name="Official vendor pages, accessed 15 Oct 2026. ">
            <a:extLst xmlns:a="http://schemas.openxmlformats.org/drawingml/2006/main">
              <a:ext uri="{FF2B5EF4-FFF2-40B4-BE49-F238E27FC236}">
                <a16:creationId xmlns:a16="http://schemas.microsoft.com/office/drawing/2014/main" id="{B685E19C-CCF2-48C9-8979-294852B8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Official vendor pages, accessed 15 Oct 2026. Full links: docs/research/alternatives.md</a:t>
            </a:r>
          </a:p>
        </p:txBody>
      </p:sp>
      <p:sp>
        <p:nvSpPr>
          <p:cNvPr id="8" name="07">
            <a:extLst xmlns:a="http://schemas.openxmlformats.org/drawingml/2006/main">
              <a:ext uri="{FF2B5EF4-FFF2-40B4-BE49-F238E27FC236}">
                <a16:creationId xmlns:a16="http://schemas.microsoft.com/office/drawing/2014/main" id="{8DE66297-B377-43EB-A491-19DA10F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4495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OPOSED SCOPE: 5–10 BUILDINGS">
            <a:extLst xmlns:a="http://schemas.openxmlformats.org/drawingml/2006/main">
              <a:ext uri="{FF2B5EF4-FFF2-40B4-BE49-F238E27FC236}">
                <a16:creationId xmlns:a16="http://schemas.microsoft.com/office/drawing/2014/main" id="{CDF0EEBE-D223-46AD-B30C-F748F682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PROPOSED SCOPE: 5–10 BUILDINGS</a:t>
            </a:r>
          </a:p>
        </p:txBody>
      </p:sp>
      <p:sp>
        <p:nvSpPr>
          <p:cNvPr id="2" name="A six-week retrospective pilot">
            <a:extLst xmlns:a="http://schemas.openxmlformats.org/drawingml/2006/main">
              <a:ext uri="{FF2B5EF4-FFF2-40B4-BE49-F238E27FC236}">
                <a16:creationId xmlns:a16="http://schemas.microsoft.com/office/drawing/2014/main" id="{64A14D5E-230F-4E12-8DDB-F40CF136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 six-week retrospective pilot</a:t>
            </a:r>
          </a:p>
        </p:txBody>
      </p:sp>
      <p:sp>
        <p:nvSpPr>
          <p:cNvPr id="3" name="Week 1  Scope, permissions and data inventory">
            <a:extLst xmlns:a="http://schemas.openxmlformats.org/drawingml/2006/main">
              <a:ext uri="{FF2B5EF4-FFF2-40B4-BE49-F238E27FC236}">
                <a16:creationId xmlns:a16="http://schemas.microsoft.com/office/drawing/2014/main" id="{996B4CF6-0602-45AC-82CF-4003E0B4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Week 1  Scope, permissions and data inventory</a:t>
            </a:r>
          </a:p>
        </p:txBody>
      </p:sp>
      <p:sp>
        <p:nvSpPr>
          <p:cNvPr id="4" name="Week 2  Import and quality review">
            <a:extLst xmlns:a="http://schemas.openxmlformats.org/drawingml/2006/main">
              <a:ext uri="{FF2B5EF4-FFF2-40B4-BE49-F238E27FC236}">
                <a16:creationId xmlns:a16="http://schemas.microsoft.com/office/drawing/2014/main" id="{B09277B3-B981-4ADE-832B-F3866C75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Week 2  Import and quality review</a:t>
            </a:r>
          </a:p>
        </p:txBody>
      </p:sp>
      <p:sp>
        <p:nvSpPr>
          <p:cNvPr id="5" name="Week 3  Historical reference and initial find">
            <a:extLst xmlns:a="http://schemas.openxmlformats.org/drawingml/2006/main">
              <a:ext uri="{FF2B5EF4-FFF2-40B4-BE49-F238E27FC236}">
                <a16:creationId xmlns:a16="http://schemas.microsoft.com/office/drawing/2014/main" id="{7EC2B9BE-F19E-4C8D-9C0A-EB1BE94C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Week 3  Historical reference and initial findings</a:t>
            </a:r>
          </a:p>
        </p:txBody>
      </p:sp>
      <p:sp>
        <p:nvSpPr>
          <p:cNvPr id="6" name="Week 4  Manager and expert feedback">
            <a:extLst xmlns:a="http://schemas.openxmlformats.org/drawingml/2006/main">
              <a:ext uri="{FF2B5EF4-FFF2-40B4-BE49-F238E27FC236}">
                <a16:creationId xmlns:a16="http://schemas.microsoft.com/office/drawing/2014/main" id="{78C1F5FE-1340-4B6E-9172-33102E5F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Week 4  Manager and expert feedback</a:t>
            </a:r>
          </a:p>
        </p:txBody>
      </p:sp>
      <p:sp>
        <p:nvSpPr>
          <p:cNvPr id="7" name="Week 5  Review tasks and intervention records">
            <a:extLst xmlns:a="http://schemas.openxmlformats.org/drawingml/2006/main">
              <a:ext uri="{FF2B5EF4-FFF2-40B4-BE49-F238E27FC236}">
                <a16:creationId xmlns:a16="http://schemas.microsoft.com/office/drawing/2014/main" id="{1B938B43-26C5-474F-8DE6-27F852F0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Week 5  Review tasks and intervention records</a:t>
            </a:r>
          </a:p>
        </p:txBody>
      </p:sp>
      <p:sp>
        <p:nvSpPr>
          <p:cNvPr id="8" name="Week 6  Learnings and continuation decision">
            <a:extLst xmlns:a="http://schemas.openxmlformats.org/drawingml/2006/main">
              <a:ext uri="{FF2B5EF4-FFF2-40B4-BE49-F238E27FC236}">
                <a16:creationId xmlns:a16="http://schemas.microsoft.com/office/drawing/2014/main" id="{C84A8565-8343-4901-9395-46A93465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Week 6  Learnings and continuation decision</a:t>
            </a:r>
          </a:p>
        </p:txBody>
      </p:sp>
      <p:sp>
        <p:nvSpPr>
          <p:cNvPr id="9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D30A638A-308E-4FD1-96F4-E626644E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D52A15C0-8E40-457A-8804-BE525132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7342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MMERCIAL HYPOTHESES">
            <a:extLst xmlns:a="http://schemas.openxmlformats.org/drawingml/2006/main">
              <a:ext uri="{FF2B5EF4-FFF2-40B4-BE49-F238E27FC236}">
                <a16:creationId xmlns:a16="http://schemas.microsoft.com/office/drawing/2014/main" id="{C5E11B11-43D9-4F7D-BEA5-0E1A837F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COMMERCIAL HYPOTHESES</a:t>
            </a:r>
          </a:p>
        </p:txBody>
      </p:sp>
      <p:sp>
        <p:nvSpPr>
          <p:cNvPr id="2" name="A business model to validate">
            <a:extLst xmlns:a="http://schemas.openxmlformats.org/drawingml/2006/main">
              <a:ext uri="{FF2B5EF4-FFF2-40B4-BE49-F238E27FC236}">
                <a16:creationId xmlns:a16="http://schemas.microsoft.com/office/drawing/2014/main" id="{52244C08-9C6A-46C7-A8CE-10354754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 business model to validate</a:t>
            </a:r>
          </a:p>
        </p:txBody>
      </p:sp>
      <p:sp>
        <p:nvSpPr>
          <p:cNvPr id="3" name="Per-building subscription">
            <a:extLst xmlns:a="http://schemas.openxmlformats.org/drawingml/2006/main">
              <a:ext uri="{FF2B5EF4-FFF2-40B4-BE49-F238E27FC236}">
                <a16:creationId xmlns:a16="http://schemas.microsoft.com/office/drawing/2014/main" id="{DD3B4384-FACD-4386-A75A-91DDC83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Per-building subscription</a:t>
            </a:r>
          </a:p>
        </p:txBody>
      </p:sp>
      <p:sp>
        <p:nvSpPr>
          <p:cNvPr id="4" name="Portfolio package">
            <a:extLst xmlns:a="http://schemas.openxmlformats.org/drawingml/2006/main">
              <a:ext uri="{FF2B5EF4-FFF2-40B4-BE49-F238E27FC236}">
                <a16:creationId xmlns:a16="http://schemas.microsoft.com/office/drawing/2014/main" id="{B37A6B26-1D6B-4869-B1A7-5961EA87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Portfolio package</a:t>
            </a:r>
          </a:p>
        </p:txBody>
      </p:sp>
      <p:sp>
        <p:nvSpPr>
          <p:cNvPr id="5" name="Setup or pilot fee + subscription">
            <a:extLst xmlns:a="http://schemas.openxmlformats.org/drawingml/2006/main">
              <a:ext uri="{FF2B5EF4-FFF2-40B4-BE49-F238E27FC236}">
                <a16:creationId xmlns:a16="http://schemas.microsoft.com/office/drawing/2014/main" id="{8545D5A3-8EC2-4DA6-832C-35020972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Setup or pilot fee + subscription</a:t>
            </a:r>
          </a:p>
        </p:txBody>
      </p:sp>
      <p:sp>
        <p:nvSpPr>
          <p:cNvPr id="6" name="Discovery starts with manager interviews and ">
            <a:extLst xmlns:a="http://schemas.openxmlformats.org/drawingml/2006/main">
              <a:ext uri="{FF2B5EF4-FFF2-40B4-BE49-F238E27FC236}">
                <a16:creationId xmlns:a16="http://schemas.microsoft.com/office/drawing/2014/main" id="{1540FA09-4135-4A50-A050-52A6F716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Discovery starts with manager interviews and a small authorized pilot.</a:t>
            </a:r>
          </a:p>
        </p:txBody>
      </p:sp>
      <p:sp>
        <p:nvSpPr>
          <p:cNvPr id="7" name="Price and support costs remain unvalidated.">
            <a:extLst xmlns:a="http://schemas.openxmlformats.org/drawingml/2006/main">
              <a:ext uri="{FF2B5EF4-FFF2-40B4-BE49-F238E27FC236}">
                <a16:creationId xmlns:a16="http://schemas.microsoft.com/office/drawing/2014/main" id="{1DB325B9-C543-465F-82B9-311C40DE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Price and support costs remain unvalidated.</a:t>
            </a:r>
          </a:p>
        </p:txBody>
      </p:sp>
      <p:sp>
        <p:nvSpPr>
          <p:cNvPr id="8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2C626509-65BB-4293-A70F-57647BE1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9" name="09">
            <a:extLst xmlns:a="http://schemas.openxmlformats.org/drawingml/2006/main">
              <a:ext uri="{FF2B5EF4-FFF2-40B4-BE49-F238E27FC236}">
                <a16:creationId xmlns:a16="http://schemas.microsoft.com/office/drawing/2014/main" id="{8FFFE417-B5FF-4719-ADE7-7E2B5080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4580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ADINESS">
            <a:extLst xmlns:a="http://schemas.openxmlformats.org/drawingml/2006/main">
              <a:ext uri="{FF2B5EF4-FFF2-40B4-BE49-F238E27FC236}">
                <a16:creationId xmlns:a16="http://schemas.microsoft.com/office/drawing/2014/main" id="{EDEFD268-9836-4FA6-A416-2007A21E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2" name="Demonstrated and still pending">
            <a:extLst xmlns:a="http://schemas.openxmlformats.org/drawingml/2006/main">
              <a:ext uri="{FF2B5EF4-FFF2-40B4-BE49-F238E27FC236}">
                <a16:creationId xmlns:a16="http://schemas.microsoft.com/office/drawing/2014/main" id="{D144A8E9-5FD9-4BD4-B2E4-BFA5389E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Demonstrated and still pending</a:t>
            </a:r>
          </a:p>
        </p:txBody>
      </p:sp>
      <p:sp>
        <p:nvSpPr>
          <p:cNvPr id="3" name="Demonstrated locally">
            <a:extLst xmlns:a="http://schemas.openxmlformats.org/drawingml/2006/main">
              <a:ext uri="{FF2B5EF4-FFF2-40B4-BE49-F238E27FC236}">
                <a16:creationId xmlns:a16="http://schemas.microsoft.com/office/drawing/2014/main" id="{4E16DEA2-5F43-4F0A-AAAC-75C2082E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Demonstrated locally</a:t>
            </a:r>
          </a:p>
        </p:txBody>
      </p:sp>
      <p:sp>
        <p:nvSpPr>
          <p:cNvPr id="4" name="Synthetic import, quality checks, weather ref">
            <a:extLst xmlns:a="http://schemas.openxmlformats.org/drawingml/2006/main">
              <a:ext uri="{FF2B5EF4-FFF2-40B4-BE49-F238E27FC236}">
                <a16:creationId xmlns:a16="http://schemas.microsoft.com/office/drawing/2014/main" id="{590CDC6B-9789-46F1-878E-566A4BEE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Synthetic import, quality checks, weather reference, review tasks, interventions and evidence reports.</a:t>
            </a:r>
          </a:p>
        </p:txBody>
      </p:sp>
      <p:sp>
        <p:nvSpPr>
          <p:cNvPr id="5" name="Pending before a real pilot">
            <a:extLst xmlns:a="http://schemas.openxmlformats.org/drawingml/2006/main">
              <a:ext uri="{FF2B5EF4-FFF2-40B4-BE49-F238E27FC236}">
                <a16:creationId xmlns:a16="http://schemas.microsoft.com/office/drawing/2014/main" id="{226170EA-25ED-45D6-9122-544F9A7A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Pending before a real pilot</a:t>
            </a:r>
          </a:p>
        </p:txBody>
      </p:sp>
      <p:sp>
        <p:nvSpPr>
          <p:cNvPr id="6" name="Verified weather input, deployed identity flo">
            <a:extLst xmlns:a="http://schemas.openxmlformats.org/drawingml/2006/main">
              <a:ext uri="{FF2B5EF4-FFF2-40B4-BE49-F238E27FC236}">
                <a16:creationId xmlns:a16="http://schemas.microsoft.com/office/drawing/2014/main" id="{4EF9C284-A65C-4762-BD6B-A1E1A3A4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Verified weather input, deployed identity flow, agreements, hosting and independent expert review.</a:t>
            </a:r>
          </a:p>
        </p:txBody>
      </p:sp>
      <p:sp>
        <p:nvSpPr>
          <p:cNvPr id="7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3C5F8244-4D24-4499-AB9F-E32F85B0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8" name="10">
            <a:extLst xmlns:a="http://schemas.openxmlformats.org/drawingml/2006/main">
              <a:ext uri="{FF2B5EF4-FFF2-40B4-BE49-F238E27FC236}">
                <a16:creationId xmlns:a16="http://schemas.microsoft.com/office/drawing/2014/main" id="{B54867B4-D792-4ADC-A7A4-60329521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2541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ACITY TO CONFIRM">
            <a:extLst xmlns:a="http://schemas.openxmlformats.org/drawingml/2006/main">
              <a:ext uri="{FF2B5EF4-FFF2-40B4-BE49-F238E27FC236}">
                <a16:creationId xmlns:a16="http://schemas.microsoft.com/office/drawing/2014/main" id="{6CF5CDB4-B3C1-4BB7-BE25-FBF66FBB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CAPACITY TO CONFIRM</a:t>
            </a:r>
          </a:p>
        </p:txBody>
      </p:sp>
      <p:sp>
        <p:nvSpPr>
          <p:cNvPr id="2" name="Founder details and open roles">
            <a:extLst xmlns:a="http://schemas.openxmlformats.org/drawingml/2006/main">
              <a:ext uri="{FF2B5EF4-FFF2-40B4-BE49-F238E27FC236}">
                <a16:creationId xmlns:a16="http://schemas.microsoft.com/office/drawing/2014/main" id="{633686CF-3155-4625-A1ED-260B7B48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Founder details and open roles</a:t>
            </a:r>
          </a:p>
        </p:txBody>
      </p:sp>
      <p:sp>
        <p:nvSpPr>
          <p:cNvPr id="3" name="Founder biography and confirmed team informat">
            <a:extLst xmlns:a="http://schemas.openxmlformats.org/drawingml/2006/main">
              <a:ext uri="{FF2B5EF4-FFF2-40B4-BE49-F238E27FC236}">
                <a16:creationId xmlns:a16="http://schemas.microsoft.com/office/drawing/2014/main" id="{09151887-EC0B-44B4-B32D-E3488BBD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Founder biography and confirmed team information have not been supplied.</a:t>
            </a:r>
          </a:p>
        </p:txBody>
      </p:sp>
      <p:sp>
        <p:nvSpPr>
          <p:cNvPr id="4" name="Needed for a credible pilot:">
            <a:extLst xmlns:a="http://schemas.openxmlformats.org/drawingml/2006/main">
              <a:ext uri="{FF2B5EF4-FFF2-40B4-BE49-F238E27FC236}">
                <a16:creationId xmlns:a16="http://schemas.microsoft.com/office/drawing/2014/main" id="{79825ABE-5DE0-4827-9D3E-56A8ED0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Needed for a credible pilot:</a:t>
            </a:r>
          </a:p>
        </p:txBody>
      </p:sp>
      <p:sp>
        <p:nvSpPr>
          <p:cNvPr id="5" name="Local energy specialist">
            <a:extLst xmlns:a="http://schemas.openxmlformats.org/drawingml/2006/main">
              <a:ext uri="{FF2B5EF4-FFF2-40B4-BE49-F238E27FC236}">
                <a16:creationId xmlns:a16="http://schemas.microsoft.com/office/drawing/2014/main" id="{48155256-F4DF-4BAE-B46F-95D1454A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Local energy specialist</a:t>
            </a:r>
          </a:p>
        </p:txBody>
      </p:sp>
      <p:sp>
        <p:nvSpPr>
          <p:cNvPr id="6" name="Building manager with authorized data access">
            <a:extLst xmlns:a="http://schemas.openxmlformats.org/drawingml/2006/main">
              <a:ext uri="{FF2B5EF4-FFF2-40B4-BE49-F238E27FC236}">
                <a16:creationId xmlns:a16="http://schemas.microsoft.com/office/drawing/2014/main" id="{4E128A20-A140-4E57-A928-BDF70629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Building manager with authorized data access</a:t>
            </a:r>
          </a:p>
        </p:txBody>
      </p:sp>
      <p:sp>
        <p:nvSpPr>
          <p:cNvPr id="7" name="Privacy and legal review capacity">
            <a:extLst xmlns:a="http://schemas.openxmlformats.org/drawingml/2006/main">
              <a:ext uri="{FF2B5EF4-FFF2-40B4-BE49-F238E27FC236}">
                <a16:creationId xmlns:a16="http://schemas.microsoft.com/office/drawing/2014/main" id="{FE1D65FD-F135-45EB-BEB5-C4AF1D1A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Privacy and legal review capacity</a:t>
            </a:r>
          </a:p>
        </p:txBody>
      </p:sp>
      <p:sp>
        <p:nvSpPr>
          <p:cNvPr id="8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27FC0D26-CDF7-4982-A8A2-289FD8B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9" name="11">
            <a:extLst xmlns:a="http://schemas.openxmlformats.org/drawingml/2006/main">
              <a:ext uri="{FF2B5EF4-FFF2-40B4-BE49-F238E27FC236}">
                <a16:creationId xmlns:a16="http://schemas.microsoft.com/office/drawing/2014/main" id="{4A628F44-970A-4B05-8F4E-480A4EC6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76419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SULTATION REQUEST">
            <a:extLst xmlns:a="http://schemas.openxmlformats.org/drawingml/2006/main">
              <a:ext uri="{FF2B5EF4-FFF2-40B4-BE49-F238E27FC236}">
                <a16:creationId xmlns:a16="http://schemas.microsoft.com/office/drawing/2014/main" id="{0D19574E-9317-4F31-83F3-A7102806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CD5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CD5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CD5CA"/>
                </a:solidFill>
                <a:latin typeface="Arial"/>
                <a:ea typeface="Arial"/>
                <a:cs typeface="Arial"/>
              </a:rPr>
              <a:t>CONSULTATION REQUEST</a:t>
            </a:r>
          </a:p>
        </p:txBody>
      </p:sp>
      <p:sp>
        <p:nvSpPr>
          <p:cNvPr id="2" name="The next step with LIAA">
            <a:extLst xmlns:a="http://schemas.openxmlformats.org/drawingml/2006/main">
              <a:ext uri="{FF2B5EF4-FFF2-40B4-BE49-F238E27FC236}">
                <a16:creationId xmlns:a16="http://schemas.microsoft.com/office/drawing/2014/main" id="{8B8D4E00-98B0-4E6D-8172-908390D5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next step with LIAA</a:t>
            </a:r>
          </a:p>
        </p:txBody>
      </p:sp>
      <p:sp>
        <p:nvSpPr>
          <p:cNvPr id="3" name="Introductions to relevant apartment managers">
            <a:extLst xmlns:a="http://schemas.openxmlformats.org/drawingml/2006/main">
              <a:ext uri="{FF2B5EF4-FFF2-40B4-BE49-F238E27FC236}">
                <a16:creationId xmlns:a16="http://schemas.microsoft.com/office/drawing/2014/main" id="{21F05962-4AD3-4426-8038-1A75B1F5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Introductions to relevant apartment managers</a:t>
            </a:r>
          </a:p>
        </p:txBody>
      </p:sp>
      <p:sp>
        <p:nvSpPr>
          <p:cNvPr id="4" name="A local reviewer for technical validation">
            <a:extLst xmlns:a="http://schemas.openxmlformats.org/drawingml/2006/main">
              <a:ext uri="{FF2B5EF4-FFF2-40B4-BE49-F238E27FC236}">
                <a16:creationId xmlns:a16="http://schemas.microsoft.com/office/drawing/2014/main" id="{3344646F-5A8B-420E-94D9-08B8A96E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reviewer for technical validation</a:t>
            </a:r>
          </a:p>
        </p:txBody>
      </p:sp>
      <p:sp>
        <p:nvSpPr>
          <p:cNvPr id="5" name="Guidance on the suitable support route and ne">
            <a:extLst xmlns:a="http://schemas.openxmlformats.org/drawingml/2006/main">
              <a:ext uri="{FF2B5EF4-FFF2-40B4-BE49-F238E27FC236}">
                <a16:creationId xmlns:a16="http://schemas.microsoft.com/office/drawing/2014/main" id="{54035944-369E-453F-B0F8-6E00DCE7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Guidance on the suitable support route and next action</a:t>
            </a:r>
          </a:p>
        </p:txBody>
      </p:sp>
      <p:sp>
        <p:nvSpPr>
          <p:cNvPr id="6" name="The consultation is not program acceptance or">
            <a:extLst xmlns:a="http://schemas.openxmlformats.org/drawingml/2006/main">
              <a:ext uri="{FF2B5EF4-FFF2-40B4-BE49-F238E27FC236}">
                <a16:creationId xmlns:a16="http://schemas.microsoft.com/office/drawing/2014/main" id="{326186C7-F9AC-424C-B6D1-B247F81A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The consultation is not program acceptance or funding approval.</a:t>
            </a:r>
          </a:p>
        </p:txBody>
      </p:sp>
      <p:sp>
        <p:nvSpPr>
          <p:cNvPr id="7" name="Provisional brand. Discussion proposal.">
            <a:extLst xmlns:a="http://schemas.openxmlformats.org/drawingml/2006/main">
              <a:ext uri="{FF2B5EF4-FFF2-40B4-BE49-F238E27FC236}">
                <a16:creationId xmlns:a16="http://schemas.microsoft.com/office/drawing/2014/main" id="{61EC28D1-22B0-4B7A-8849-41954A20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Provisional brand. Discussion proposal.</a:t>
            </a:r>
          </a:p>
        </p:txBody>
      </p:sp>
      <p:sp>
        <p:nvSpPr>
          <p:cNvPr id="8" name="12">
            <a:extLst xmlns:a="http://schemas.openxmlformats.org/drawingml/2006/main">
              <a:ext uri="{FF2B5EF4-FFF2-40B4-BE49-F238E27FC236}">
                <a16:creationId xmlns:a16="http://schemas.microsoft.com/office/drawing/2014/main" id="{D31B592A-02C7-49C5-8AF1-A4DF715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53266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2026-10-15T11:12:59.7440000Z</dcterms:created>
  <dcterms:modified xsi:type="dcterms:W3CDTF">2026-10-15T11:12:59.7440000Z</dcterms:modified>
</coreProperties>
</file>